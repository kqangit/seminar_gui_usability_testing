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56.xml" ContentType="application/vnd.openxmlformats-officedocument.presentationml.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3"/>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2" roundtripDataSignature="AMtx7mgwwsQ1M/bbGsBrlT4fAf1CHckm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41EB096-C0D3-46DF-A04B-B11FC471E439}">
  <a:tblStyle styleId="{A41EB096-C0D3-46DF-A04B-B11FC471E43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slide" Target="slides/slide55.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  <Relationship Id="rId63" Type="http://schemas.openxmlformats.org/officeDocument/2006/relationships/slide" Target="slides/slide5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 chào thầy và các bạn. Nhóm 09 gồm Quang, Phúc và em là Quân. Đề tài của nhóm là T1: kiểm thử giao diện và tính khả dụng, làm trên luồng mua hàng của EShop.</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Thời gian: 2 phút cho cả phần 01 (Quân). Mục tiêu: cho lớp thấy phần mềm chạy đúng vẫn có thể thất bại, rồi giới thiệu SUT dùng xuyên suốt buổi.</a:t>
            </a:r>
            <a:endParaRPr/>
          </a:p>
        </p:txBody>
      </p:sp>
      <p:sp>
        <p:nvSpPr>
          <p:cNvPr id="101" name="Google Shape;10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Cả 3 ví dụ đều là lỗi có thật trong mã nguồn EShop, xem slide sau. Nhấn mạnh: luồng chính vẫn chạy được, các test chức năng của luồng này đều pass. Lỗi tính toán như mã SAVE10 thuộc kiểm thử chức năng (đề T2), không xét trong đề này.</a:t>
            </a:r>
            <a:endParaRPr/>
          </a:p>
        </p:txBody>
      </p:sp>
      <p:sp>
        <p:nvSpPr>
          <p:cNvPr id="118" name="Google Shape;11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Hai nửa của đề tài bổ sung cho nhau: giao diện đúng đặc tả chưa chắc đã dễ dùng, và ngược lại.</a:t>
            </a:r>
            <a:endParaRPr/>
          </a:p>
        </p:txBody>
      </p:sp>
      <p:sp>
        <p:nvSpPr>
          <p:cNvPr id="137" name="Google Shape;137;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FR-21 đến FR-24 nằm ở mục 8 của README EShop. Đây là tiêu chí đúng/sai cho GUI testing; usability thì không có đặc tả, phải đo trên người dùng. Không đọc bảng, chỉ nói "giao diện có đặc tả sẵn, nên đúng/sai đo được".</a:t>
            </a:r>
            <a:endParaRPr/>
          </a:p>
        </p:txBody>
      </p:sp>
      <p:sp>
        <p:nvSpPr>
          <p:cNvPr id="150" name="Google Shape;150;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Đi từ lý thuyết → checklist thủ công → công cụ tự động → AI → cho lớp thực hành. Nói nhanh, khoảng 15 giây.</a:t>
            </a:r>
            <a:endParaRPr/>
          </a:p>
        </p:txBody>
      </p:sp>
      <p:sp>
        <p:nvSpPr>
          <p:cNvPr id="172" name="Google Shape;172;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định hướng cho thầy: 9 clip, 3 công cụ × 3 mức độ, cột cuối là trường hợp công cụ không xử lý được. Tóm tắt chi tiết từng clip nằm ở slide cuối mỗi phần 06, 07, 08.</a:t>
            </a:r>
            <a:endParaRPr/>
          </a:p>
        </p:txBody>
      </p:sp>
      <p:sp>
        <p:nvSpPr>
          <p:cNvPr id="186" name="Google Shape;18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Thời gian: 2 phút cho cả phần 02 (Quang). Phần này trả lời câu hỏi "giao diện có đúng đặc tả không".</a:t>
            </a:r>
            <a:endParaRPr/>
          </a:p>
        </p:txBody>
      </p:sp>
      <p:sp>
        <p:nvSpPr>
          <p:cNvPr id="199" name="Google Shape;19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Định nghĩa theo tài liệu môn (GUI, Usability &amp; Compatibility Testing, Part 1). Visuals là "trông có đúng không", controls là "bấm/nhập vào có phản hồi đúng không". Chi tiết từng loại control: Phụ lục.</a:t>
            </a:r>
            <a:endParaRPr/>
          </a:p>
        </p:txBody>
      </p:sp>
      <p:sp>
        <p:nvSpPr>
          <p:cNvPr id="216" name="Google Shape;21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Cả 5 dòng là lỗi đã xác nhận trong ground-truth/bugs.md (G10, G02, G11, G06, G07, G04, G05). Lý do GUI testing khó (event-driven, phụ thuộc ẩn, đa nền tảng): Phụ lục.</a:t>
            </a:r>
            <a:endParaRPr/>
          </a:p>
        </p:txBody>
      </p:sp>
      <p:sp>
        <p:nvSpPr>
          <p:cNvPr id="229" name="Google Shape;229;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Phần 3 sẽ phân loại từng câu checklist thành tự động / bán tự động / thủ công theo đúng tiêu chí này.</a:t>
            </a:r>
            <a:endParaRPr/>
          </a:p>
        </p:txBody>
      </p:sp>
      <p:sp>
        <p:nvSpPr>
          <p:cNvPr id="241" name="Google Shape;241;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Mỗi kỹ thuật chỉ nói một câu, chi tiết (POM, visual regression, WCAG POUR, compatibility 4 bậc) nằm ở Phụ lục. Chuyển ý: "trước khi tự động, nhóm làm bằng tay với checklist".</a:t>
            </a:r>
            <a:endParaRPr/>
          </a:p>
        </p:txBody>
      </p:sp>
      <p:sp>
        <p:nvSpPr>
          <p:cNvPr id="258" name="Google Shape;258;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Thời gian: 2 phút (Quang). Đây là cách kiểm thử GUI truyền thống, làm thủ công, theo tài liệu môn (guichecklist).</a:t>
            </a:r>
            <a:endParaRPr/>
          </a:p>
        </p:txBody>
      </p:sp>
      <p:sp>
        <p:nvSpPr>
          <p:cNvPr id="267" name="Google Shape;267;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Câu 9: mật khẩu hiện rõ. Câu 17: bấm là xóa luôn, vi phạm H3, H5. Câu 22: ô tổng tiền sửa được, vừa lỗi giao diện vừa rủi ro nghiệp vụ. Nếu bị hỏi: có câu chung (type=password) và câu theo đặc tả riêng EShop (nhãn "Tổng cộng", FR-07).</a:t>
            </a:r>
            <a:endParaRPr/>
          </a:p>
        </p:txBody>
      </p:sp>
      <p:sp>
        <p:nvSpPr>
          <p:cNvPr id="284" name="Google Shape;284;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Câu 22 · FR-08 · H5 Error prevention · ground truth G06 · severity 3. Chỉ vào ô tổng tiền trên ảnh. Một câu: "người dùng sửa được số tiền mình phải trả".</a:t>
            </a:r>
            <a:endParaRPr/>
          </a:p>
        </p:txBody>
      </p:sp>
      <p:sp>
        <p:nvSpPr>
          <p:cNvPr id="294" name="Google Shape;29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Số liệu lấy từ checklist/checklist-50.md (đã chấm đủ 50 câu). Thời gian: 2 phút (Quang). Nếu bị hỏi: 3 câu "Chưa xếp mức" là control không có trên luồng (#36–38); câu #39 là N/A trên EShop nhưng vẫn xếp Bán tự động, nên N/A = 4 mà chưa xếp mức = 3.</a:t>
            </a:r>
            <a:endParaRPr/>
          </a:p>
        </p:txBody>
      </p:sp>
      <p:sp>
        <p:nvSpPr>
          <p:cNvPr id="315" name="Google Shape;315;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Thời gian: 2,5 phút (Phúc). Phần này trả lời câu hỏi "người dùng có dùng được không".</a:t>
            </a:r>
            <a:endParaRPr/>
          </a:p>
        </p:txBody>
      </p:sp>
      <p:sp>
        <p:nvSpPr>
          <p:cNvPr id="336" name="Google Shape;33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 thành phần này là gốc của mọi chỉ số ở cuối phần.</a:t>
            </a:r>
            <a:endParaRPr/>
          </a:p>
        </p:txBody>
      </p:sp>
      <p:sp>
        <p:nvSpPr>
          <p:cNvPr id="355" name="Google Shape;355;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Nielsen 1994, NN/g vẫn dùng. Không đọc hết 10 dòng, chỉ chỉ vào 4 dòng in đậm kèm ví dụ EShop. Bảng có ví dụ từng heuristic và các bộ nguyên lý khác (Shneiderman, Norman): Phụ lục.</a:t>
            </a:r>
            <a:endParaRPr/>
          </a:p>
        </p:txBody>
      </p:sp>
      <p:sp>
        <p:nvSpPr>
          <p:cNvPr id="365" name="Google Shape;365;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Cả nhóm và AI đều chỉ dùng thang này, để so sánh được với nhau.</a:t>
            </a:r>
            <a:endParaRPr/>
          </a:p>
        </p:txBody>
      </p:sp>
      <p:sp>
        <p:nvSpPr>
          <p:cNvPr id="379" name="Google Shape;379;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3" name="Google Shape;41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Phần 8 dùng AI làm "người đánh giá heuristic" và so với người đánh giá thật.</a:t>
            </a:r>
            <a:endParaRPr/>
          </a:p>
        </p:txBody>
      </p:sp>
      <p:sp>
        <p:nvSpPr>
          <p:cNvPr id="414" name="Google Shape;41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 nhóm chỉ số ứng với ba thành phần ISO 9241-11. UXtweak + Clarity ở phần 07 đo đúng các chỉ số này.</a:t>
            </a:r>
            <a:endParaRPr/>
          </a:p>
        </p:txBody>
      </p:sp>
      <p:sp>
        <p:nvSpPr>
          <p:cNvPr id="426" name="Google Shape;42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Thời gian: 1,5 phút. Bảng đầy đủ 11 công cụ × 8 tiêu chí ở mục 3 của Proposal và Phụ lục.</a:t>
            </a:r>
            <a:endParaRPr/>
          </a:p>
        </p:txBody>
      </p:sp>
      <p:sp>
        <p:nvSpPr>
          <p:cNvPr id="439" name="Google Shape;439;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Proposal ban đầu chọn Maze và đặt UXtweak làm dự phòng; khi triển khai thực tế, Maze loại khối Website Test khỏi bản Free/Trial (~$99/tháng) nên nhóm chuyển sang UXtweak (đo Task, SEQ, SUS, Session Replay) kết hợp Microsoft Clarity (lấy Click Heatmap &amp; Rage Click). Nhóm đã deploy EShop lên Vercel + Render. Chuyển ý sang Quang, phần 06.</a:t>
            </a:r>
            <a:endParaRPr/>
          </a:p>
        </p:txBody>
      </p:sp>
      <p:sp>
        <p:nvSpPr>
          <p:cNvPr id="454" name="Google Shape;45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Thời gian: 6 phút (Quang). Demo trên lớp bằng đoạn trích clip 30–60 giây, không chạy live toàn bộ.</a:t>
            </a:r>
            <a:endParaRPr/>
          </a:p>
        </p:txBody>
      </p:sp>
      <p:sp>
        <p:nvSpPr>
          <p:cNvPr id="478" name="Google Shape;478;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Nguyên lý: Playwright điều khiển trình duyệt qua giao thức riêng của từng engine, test viết bằng JS/TS.</a:t>
            </a:r>
            <a:endParaRPr/>
          </a:p>
        </p:txBody>
      </p:sp>
      <p:sp>
        <p:nvSpPr>
          <p:cNvPr id="497" name="Google Shape;497;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Nhấn mạnh ranh giới T1/T2 vì thầy hay hỏi.</a:t>
            </a:r>
            <a:endParaRPr/>
          </a:p>
        </p:txBody>
      </p:sp>
      <p:sp>
        <p:nvSpPr>
          <p:cNvPr id="529" name="Google Shape;529;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0" name="Google Shape;540;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Trên lớp chỉ chiếu khoảng 20 giây cuối clip: báo cáo HTML màu xanh.</a:t>
            </a:r>
            <a:endParaRPr/>
          </a:p>
        </p:txBody>
      </p:sp>
      <p:sp>
        <p:nvSpPr>
          <p:cNvPr id="541" name="Google Shape;541;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Quang kiểm lại dòng code cho khớp file thật trước khi chiếu. Test fail ở đây là kết quả mong muốn: tool bắt được lỗi.</a:t>
            </a:r>
            <a:endParaRPr/>
          </a:p>
        </p:txBody>
      </p:sp>
      <p:sp>
        <p:nvSpPr>
          <p:cNvPr id="562" name="Google Shape;56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 name="Google Shape;586;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Điểm nhấn của clip: báo cáo có nhiều fail, mỗi fail ứng với một lỗi trong ground truth. Bẫy EShop: giỏ chỉ lưu trong state nên phải thêm hàng trong cùng phiên, và "Thêm vào giỏ" có thể phải bấm 2 lần (G10).</a:t>
            </a:r>
            <a:endParaRPr/>
          </a:p>
        </p:txBody>
      </p:sp>
      <p:sp>
        <p:nvSpPr>
          <p:cNvPr id="587" name="Google Shape;587;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tóm tắt video theo yêu cầu GVTH: thầy đọc slide trước, nên mỗi clip có link, nội dung và loại demo.</a:t>
            </a:r>
            <a:endParaRPr/>
          </a:p>
        </p:txBody>
      </p:sp>
      <p:sp>
        <p:nvSpPr>
          <p:cNvPr id="599" name="Google Shape;599;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9" name="Google Shape;63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Chuyển ý sang Phúc, phần 07.</a:t>
            </a:r>
            <a:endParaRPr/>
          </a:p>
        </p:txBody>
      </p:sp>
      <p:sp>
        <p:nvSpPr>
          <p:cNvPr id="640" name="Google Shape;64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1" name="Google Shape;651;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Thời gian: 4 phút (Phúc). Lưu ý: Proposal ban đầu chọn Maze và đặt UXtweak làm dự phòng; khi triển khai thực tế, Maze loại khối Live Website Testing khỏi bản Free/Trial (yêu cầu gói trả phí ~$99/tháng) nên nhóm kích hoạt phương án dự phòng UXtweak kết hợp Microsoft Clarity.</a:t>
            </a:r>
            <a:endParaRPr/>
          </a:p>
        </p:txBody>
      </p:sp>
      <p:sp>
        <p:nvSpPr>
          <p:cNvPr id="652" name="Google Shape;652;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0" name="Google Shape;67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Giải thích rõ: Gói Free của UXtweak chỉ cho 1 active study tại một thời điểm, nên nhóm nhúng song song cả UXtweak Snippet và Microsoft Clarity vào thẻ `&lt;head&gt;` của `index.html`. Người tham gia chỉ cần làm bài 1 lần là thu được đồng thời Task/SEQ/SUS/Replay trên UXtweak và Click Heatmap/Rage Click trên Clarity.</a:t>
            </a:r>
            <a:endParaRPr/>
          </a:p>
        </p:txBody>
      </p:sp>
      <p:sp>
        <p:nvSpPr>
          <p:cNvPr id="671" name="Google Shape;671;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2" name="Google Shape;702;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EShop đã đổi 13 chỗ gọi cứng `localhost:3000` sang `VITE_API_URL`, seed 6 tài khoản `p1..p6` và deploy public (Vercel + Render), nhúng sẵn UXtweak Snippet và Microsoft Clarity.</a:t>
            </a:r>
            <a:endParaRPr/>
          </a:p>
        </p:txBody>
      </p:sp>
      <p:sp>
        <p:nvSpPr>
          <p:cNvPr id="703" name="Google Shape;703;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1" name="Google Shape;721;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Link YouTube 3 clip lấy từ videos/README.md (UX-1 2:30, UX-2 3:00, UX-3 4:15).</a:t>
            </a:r>
            <a:endParaRPr/>
          </a:p>
        </p:txBody>
      </p:sp>
      <p:sp>
        <p:nvSpPr>
          <p:cNvPr id="722" name="Google Shape;722;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Nối kết quả với ground truth: người tham gia kẹt ở nút "Thêm vào giỏ" (`G10` kết hợp `G08` không có badge giỏ hàng) thể hiện qua Lostness tăng trên UXtweak, cảnh báo Rage Click và vùng đỏ rực trên Clarity Heatmap; khựng lại ở ô "Tổng tiền thanh toán" sửa được (`G06`) tại `/checkout`.</a:t>
            </a:r>
            <a:endParaRPr/>
          </a:p>
        </p:txBody>
      </p:sp>
      <p:sp>
        <p:nvSpPr>
          <p:cNvPr id="758" name="Google Shape;758;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0" name="Google Shape;770;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Chuyển ý sang Quân, phần 08: "heuristic evaluation cần chuyên gia, vậy AI có làm thay được không?".</a:t>
            </a:r>
            <a:endParaRPr/>
          </a:p>
        </p:txBody>
      </p:sp>
      <p:sp>
        <p:nvSpPr>
          <p:cNvPr id="771" name="Google Shape;771;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Thời gian: 6 phút (Quân). Câu mở: "Heuristic evaluation cần 3–5 chuyên gia. AI có làm thay được không?".</a:t>
            </a:r>
            <a:endParaRPr/>
          </a:p>
        </p:txBody>
      </p:sp>
      <p:sp>
        <p:nvSpPr>
          <p:cNvPr id="783" name="Google Shape;783;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1" name="Google Shape;80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Nguồn: Duan, Warner, Li, Hartmann, CHI 2024, DOI 10.1145/3613904.3642782. Số liệu nhóm đặt cạnh số liệu này ở slide kết quả.</a:t>
            </a:r>
            <a:endParaRPr/>
          </a:p>
        </p:txBody>
      </p:sp>
      <p:sp>
        <p:nvSpPr>
          <p:cNvPr id="802" name="Google Shape;80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3" name="Google Shape;823;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Danh sách 6 skill cộng đồng (webapp-testing ~180k star, ui-ux-pro-max ~137k star, web-design-guidelines ~32.6k star…) nằm ở Phụ lục.</a:t>
            </a:r>
            <a:endParaRPr/>
          </a:p>
        </p:txBody>
      </p:sp>
      <p:sp>
        <p:nvSpPr>
          <p:cNvPr id="824" name="Google Shape;824;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1" name="Google Shape;841;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Không gọi API LLM riêng, không cần API key: model chính là model của agent (Claude Code). Subagent chấm ảnh được tách riêng để không đọc được ground truth trong repo; mỗi lần chạy là một subagent mới. Đổi config.json là chạy website khác.</a:t>
            </a:r>
            <a:endParaRPr/>
          </a:p>
        </p:txBody>
      </p:sp>
      <p:sp>
        <p:nvSpPr>
          <p:cNvPr id="842" name="Google Shape;842;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1" name="Google Shape;861;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Các luật này rút từ điểm yếu mà bài CHI 2024 ghi nhận: AI lặp gợi ý và áp nguyên tắc quá mức. Rubric để tiếng Anh cho agent đọc ít token; nội dung lỗi AI viết bằng tiếng Việt.</a:t>
            </a:r>
            <a:endParaRPr/>
          </a:p>
        </p:txBody>
      </p:sp>
      <p:sp>
        <p:nvSpPr>
          <p:cNvPr id="862" name="Google Shape;862;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8" name="Google Shape;888;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Không cần API key: model là model của agent.</a:t>
            </a:r>
            <a:endParaRPr/>
          </a:p>
        </p:txBody>
      </p:sp>
      <p:sp>
        <p:nvSpPr>
          <p:cNvPr id="889" name="Google Shape;889;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2" name="Google Shape;912;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Cột "Dự đoán" là giả thuyết trước khi chạy; cột cuối điền từ report.md của lần chạy thật. Kết quả lấy từ evidence/ai/labels.csv (3 runs, nhãn AI nháp, chưa người duyệt).</a:t>
            </a:r>
            <a:endParaRPr/>
          </a:p>
        </p:txBody>
      </p:sp>
      <p:sp>
        <p:nvSpPr>
          <p:cNvPr id="913" name="Google Shape;913;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4" name="Google Shape;924;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AI gán nhãn nháp để luồng tự động không bị ngắt; người duyệt lại toàn bộ sau. Bản tóm tắt ghi rõ đã duyệt bao nhiêu dòng.</a:t>
            </a:r>
            <a:endParaRPr/>
          </a:p>
        </p:txBody>
      </p:sp>
      <p:sp>
        <p:nvSpPr>
          <p:cNvPr id="925" name="Google Shape;925;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6" name="Google Shape;946;p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Mốc thời gian theo kịch bản quay (videos/clip-scripts-ai-reviewer.md); Quân đối chiếu lại với video thật trước khi nộp.</a:t>
            </a:r>
            <a:endParaRPr/>
          </a:p>
        </p:txBody>
      </p:sp>
      <p:sp>
        <p:nvSpPr>
          <p:cNvPr id="947" name="Google Shape;947;p4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7" name="Google Shape;1007;p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Số liệu từ evidence/ai/comparison-summary.md (bản đã commit). Nhãn hiện là nhãn AI nháp, chưa người duyệt — nói rõ điều này. Điền từ evidence/ai/comparison-summary.md sau khi chạy npm run compare và người đã duyệt hết labels.csv.</a:t>
            </a:r>
            <a:endParaRPr/>
          </a:p>
        </p:txBody>
      </p:sp>
      <p:sp>
        <p:nvSpPr>
          <p:cNvPr id="1008" name="Google Shape;1008;p4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9" name="Google Shape;1019;p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Khớp kết luận tài liệu T01 của môn: human-in-the-loop. Sau khi chạy, sửa tiêu đề thành "đã kiểm chứng" và thay cột phải bằng kết quả thật.</a:t>
            </a:r>
            <a:endParaRPr/>
          </a:p>
        </p:txBody>
      </p:sp>
      <p:sp>
        <p:nvSpPr>
          <p:cNvPr id="1020" name="Google Shape;1020;p4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1" name="Google Shape;1031;p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Thời gian: 2 phút (Quân). Bản Showdown đầy đủ 20–25 phút trong proposal được chuyển thành bài về nhà vì buổi chỉ có 30 phút.</a:t>
            </a:r>
            <a:endParaRPr/>
          </a:p>
        </p:txBody>
      </p:sp>
      <p:sp>
        <p:nvSpPr>
          <p:cNvPr id="1032" name="Google Shape;1032;p5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6" name="Google Shape;1046;p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Hỏi nhanh 2–3 bạn, mỗi bạn 1 lỗi, rồi chiếu slide kết quả AI. Đáp án trong ground truth: G01 nhãn "Tổng tạm tính", G02 xóa không xác nhận, G03 không có nút +/-, G04 nút xanh lá.</a:t>
            </a:r>
            <a:endParaRPr/>
          </a:p>
        </p:txBody>
      </p:sp>
      <p:sp>
        <p:nvSpPr>
          <p:cNvPr id="1047" name="Google Shape;1047;p5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1" name="Google Shape;1061;p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Đưa link repo ở slide cuối để lớp tải đề.</a:t>
            </a:r>
            <a:endParaRPr/>
          </a:p>
        </p:txBody>
      </p:sp>
      <p:sp>
        <p:nvSpPr>
          <p:cNvPr id="1062" name="Google Shape;1062;p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0" name="Google Shape;1070;p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Thời gian: 2 phút (Quân), dành phần còn lại cho câu hỏi.</a:t>
            </a:r>
            <a:endParaRPr/>
          </a:p>
        </p:txBody>
      </p:sp>
      <p:sp>
        <p:nvSpPr>
          <p:cNvPr id="1071" name="Google Shape;1071;p5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5" name="Google Shape;1085;p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Điền 1 con số thật của mỗi cách khi có kết quả (số câu Fail, số test fail, SUS, precision AI).</a:t>
            </a:r>
            <a:endParaRPr/>
          </a:p>
        </p:txBody>
      </p:sp>
      <p:sp>
        <p:nvSpPr>
          <p:cNvPr id="1086" name="Google Shape;1086;p5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7" name="Google Shape;1097;p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Để slide này trong lúc hỏi đáp. Câu hỏi khó về lý thuyết chi tiết: mở Phụ lục.</a:t>
            </a:r>
            <a:endParaRPr/>
          </a:p>
        </p:txBody>
      </p:sp>
      <p:sp>
        <p:nvSpPr>
          <p:cNvPr id="1098" name="Google Shape;1098;p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6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5"/>
          <p:cNvSpPr/>
          <p:nvPr>
            <p:ph idx="2" type="pic"/>
          </p:nvPr>
        </p:nvSpPr>
        <p:spPr>
          <a:xfrm>
            <a:off x="1792288" y="612775"/>
            <a:ext cx="5486400" cy="4114800"/>
          </a:xfrm>
          <a:prstGeom prst="rect">
            <a:avLst/>
          </a:prstGeom>
          <a:noFill/>
          <a:ln>
            <a:noFill/>
          </a:ln>
        </p:spPr>
      </p:sp>
      <p:sp>
        <p:nvSpPr>
          <p:cNvPr id="64" name="Google Shape;64;p6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youtu.be/mx3exWqNlw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youtu.be/YKiv_qQGFvk"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youtu.be/E4NwNmcJ3EI"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youtu.be/mx3exWqNlwg" TargetMode="External"/><Relationship Id="rId4" Type="http://schemas.openxmlformats.org/officeDocument/2006/relationships/hyperlink" Target="https://youtu.be/YKiv_qQGFvk" TargetMode="External"/><Relationship Id="rId5" Type="http://schemas.openxmlformats.org/officeDocument/2006/relationships/hyperlink" Target="https://youtu.be/E4NwNmcJ3EI"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10" Type="http://schemas.openxmlformats.org/officeDocument/2006/relationships/hyperlink" Target="https://youtu.be/OuBjSEdTORQ" TargetMode="External"/><Relationship Id="rId11" Type="http://schemas.openxmlformats.org/officeDocument/2006/relationships/hyperlink" Target="https://youtu.be/Nq31Rxb6lIk" TargetMode="External"/><Relationship Id="rId12" Type="http://schemas.openxmlformats.org/officeDocument/2006/relationships/hyperlink" Target="https://youtu.be/7HmEv2DnVJw"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hyperlink" Target="https://youtu.be/d2Rigi9dbl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hyperlink" Target="https://youtu.be/wXIQ4o7bVi8"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hyperlink" Target="https://youtu.be/8I4n31fuWNc"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hyperlink" Target="https://youtu.be/d2Rigi9dbls" TargetMode="External"/><Relationship Id="rId4" Type="http://schemas.openxmlformats.org/officeDocument/2006/relationships/hyperlink" Target="https://youtu.be/wXIQ4o7bVi8" TargetMode="External"/><Relationship Id="rId5" Type="http://schemas.openxmlformats.org/officeDocument/2006/relationships/hyperlink" Target="https://youtu.be/8I4n31fuWNc"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cxnSp>
        <p:nvCxnSpPr>
          <p:cNvPr id="85" name="Google Shape;85;p1"/>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86" name="Google Shape;86;p1"/>
          <p:cNvCxnSpPr/>
          <p:nvPr/>
        </p:nvCxnSpPr>
        <p:spPr>
          <a:xfrm>
            <a:off x="68580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87" name="Google Shape;87;p1"/>
          <p:cNvCxnSpPr/>
          <p:nvPr/>
        </p:nvCxnSpPr>
        <p:spPr>
          <a:xfrm>
            <a:off x="115214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88" name="Google Shape;88;p1"/>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89" name="Google Shape;89;p1"/>
          <p:cNvCxnSpPr/>
          <p:nvPr/>
        </p:nvCxnSpPr>
        <p:spPr>
          <a:xfrm>
            <a:off x="0" y="3182112"/>
            <a:ext cx="1219169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90" name="Google Shape;90;p1"/>
          <p:cNvCxnSpPr/>
          <p:nvPr/>
        </p:nvCxnSpPr>
        <p:spPr>
          <a:xfrm>
            <a:off x="0" y="5669280"/>
            <a:ext cx="1219169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91" name="Google Shape;91;p1"/>
          <p:cNvCxnSpPr/>
          <p:nvPr/>
        </p:nvCxnSpPr>
        <p:spPr>
          <a:xfrm>
            <a:off x="0" y="6263640"/>
            <a:ext cx="1219169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92" name="Google Shape;92;p1"/>
          <p:cNvSpPr txBox="1"/>
          <p:nvPr/>
        </p:nvSpPr>
        <p:spPr>
          <a:xfrm>
            <a:off x="822900" y="502920"/>
            <a:ext cx="10058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5F6368"/>
                </a:solidFill>
                <a:latin typeface="Arial"/>
                <a:ea typeface="Arial"/>
                <a:cs typeface="Arial"/>
                <a:sym typeface="Arial"/>
              </a:rPr>
              <a:t>SOFTWARE TESTING · FIT@HCMUS · SEMINAR NHÓM 09</a:t>
            </a:r>
            <a:endParaRPr/>
          </a:p>
        </p:txBody>
      </p:sp>
      <p:sp>
        <p:nvSpPr>
          <p:cNvPr id="93" name="Google Shape;93;p1"/>
          <p:cNvSpPr txBox="1"/>
          <p:nvPr/>
        </p:nvSpPr>
        <p:spPr>
          <a:xfrm>
            <a:off x="868525" y="1442300"/>
            <a:ext cx="10607100" cy="985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000" u="none" cap="none" strike="noStrike">
                <a:solidFill>
                  <a:srgbClr val="111111"/>
                </a:solidFill>
                <a:latin typeface="Arial"/>
                <a:ea typeface="Arial"/>
                <a:cs typeface="Arial"/>
                <a:sym typeface="Arial"/>
              </a:rPr>
              <a:t>GUI &amp; Usability Testing</a:t>
            </a:r>
            <a:endParaRPr/>
          </a:p>
          <a:p>
            <a:pPr indent="0" lvl="0" marL="0" marR="0" rtl="0" algn="l">
              <a:spcBef>
                <a:spcPts val="0"/>
              </a:spcBef>
              <a:spcAft>
                <a:spcPts val="0"/>
              </a:spcAft>
              <a:buNone/>
            </a:pPr>
            <a:r>
              <a:t/>
            </a:r>
            <a:endParaRPr/>
          </a:p>
        </p:txBody>
      </p:sp>
      <p:sp>
        <p:nvSpPr>
          <p:cNvPr id="94" name="Google Shape;94;p1"/>
          <p:cNvSpPr txBox="1"/>
          <p:nvPr/>
        </p:nvSpPr>
        <p:spPr>
          <a:xfrm>
            <a:off x="822900" y="3643130"/>
            <a:ext cx="10424100" cy="615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888888"/>
                </a:solidFill>
              </a:rPr>
              <a:t>Kiểm thử giao diện và tính khả dụng với Playwright + axe-core, UXtweak + Microsoft Clarity và AI Heuristic Reviewer — so sánh Máy, Người và AI trên cùng một SUT</a:t>
            </a:r>
            <a:endParaRPr b="1" sz="1200">
              <a:solidFill>
                <a:srgbClr val="888888"/>
              </a:solidFill>
            </a:endParaRPr>
          </a:p>
        </p:txBody>
      </p:sp>
      <p:sp>
        <p:nvSpPr>
          <p:cNvPr id="95" name="Google Shape;95;p1"/>
          <p:cNvSpPr txBox="1"/>
          <p:nvPr/>
        </p:nvSpPr>
        <p:spPr>
          <a:xfrm>
            <a:off x="822900" y="4719785"/>
            <a:ext cx="3474600" cy="469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Nguyễn Đức Quang</a:t>
            </a:r>
            <a:endParaRPr/>
          </a:p>
          <a:p>
            <a:pPr indent="0" lvl="0" marL="0" marR="0" rtl="0" algn="l">
              <a:spcBef>
                <a:spcPts val="300"/>
              </a:spcBef>
              <a:spcAft>
                <a:spcPts val="0"/>
              </a:spcAft>
              <a:buNone/>
            </a:pPr>
            <a:r>
              <a:rPr b="0" i="0" lang="en-US" sz="1300" u="none" cap="none" strike="noStrike">
                <a:solidFill>
                  <a:srgbClr val="222222"/>
                </a:solidFill>
                <a:latin typeface="Consolas"/>
                <a:ea typeface="Consolas"/>
                <a:cs typeface="Consolas"/>
                <a:sym typeface="Consolas"/>
              </a:rPr>
              <a:t>20120359</a:t>
            </a:r>
            <a:r>
              <a:rPr b="0" i="0" lang="en-US" sz="1400" u="none" cap="none" strike="noStrike">
                <a:solidFill>
                  <a:srgbClr val="222222"/>
                </a:solidFill>
                <a:latin typeface="Arial"/>
                <a:ea typeface="Arial"/>
                <a:cs typeface="Arial"/>
                <a:sym typeface="Arial"/>
              </a:rPr>
              <a:t>   </a:t>
            </a:r>
            <a:endParaRPr/>
          </a:p>
        </p:txBody>
      </p:sp>
      <p:sp>
        <p:nvSpPr>
          <p:cNvPr id="96" name="Google Shape;96;p1"/>
          <p:cNvSpPr txBox="1"/>
          <p:nvPr/>
        </p:nvSpPr>
        <p:spPr>
          <a:xfrm>
            <a:off x="4434780" y="4719785"/>
            <a:ext cx="3474600" cy="469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Bửu Huỳnh Vĩnh Phúc</a:t>
            </a:r>
            <a:endParaRPr/>
          </a:p>
          <a:p>
            <a:pPr indent="0" lvl="0" marL="0" marR="0" rtl="0" algn="l">
              <a:spcBef>
                <a:spcPts val="300"/>
              </a:spcBef>
              <a:spcAft>
                <a:spcPts val="0"/>
              </a:spcAft>
              <a:buNone/>
            </a:pPr>
            <a:r>
              <a:rPr b="0" i="0" lang="en-US" sz="1300" u="none" cap="none" strike="noStrike">
                <a:solidFill>
                  <a:srgbClr val="222222"/>
                </a:solidFill>
                <a:latin typeface="Consolas"/>
                <a:ea typeface="Consolas"/>
                <a:cs typeface="Consolas"/>
                <a:sym typeface="Consolas"/>
              </a:rPr>
              <a:t>23120328</a:t>
            </a:r>
            <a:r>
              <a:rPr b="0" i="0" lang="en-US" sz="1400" u="none" cap="none" strike="noStrike">
                <a:solidFill>
                  <a:srgbClr val="222222"/>
                </a:solidFill>
                <a:latin typeface="Arial"/>
                <a:ea typeface="Arial"/>
                <a:cs typeface="Arial"/>
                <a:sym typeface="Arial"/>
              </a:rPr>
              <a:t>   </a:t>
            </a:r>
            <a:endParaRPr/>
          </a:p>
        </p:txBody>
      </p:sp>
      <p:sp>
        <p:nvSpPr>
          <p:cNvPr id="97" name="Google Shape;97;p1"/>
          <p:cNvSpPr txBox="1"/>
          <p:nvPr/>
        </p:nvSpPr>
        <p:spPr>
          <a:xfrm>
            <a:off x="8046660" y="4719785"/>
            <a:ext cx="3474600" cy="469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Bùi Minh Quân</a:t>
            </a:r>
            <a:endParaRPr/>
          </a:p>
          <a:p>
            <a:pPr indent="0" lvl="0" marL="0" marR="0" rtl="0" algn="l">
              <a:spcBef>
                <a:spcPts val="300"/>
              </a:spcBef>
              <a:spcAft>
                <a:spcPts val="0"/>
              </a:spcAft>
              <a:buNone/>
            </a:pPr>
            <a:r>
              <a:rPr b="0" i="0" lang="en-US" sz="1300" u="none" cap="none" strike="noStrike">
                <a:solidFill>
                  <a:srgbClr val="222222"/>
                </a:solidFill>
                <a:latin typeface="Consolas"/>
                <a:ea typeface="Consolas"/>
                <a:cs typeface="Consolas"/>
                <a:sym typeface="Consolas"/>
              </a:rPr>
              <a:t>23120337</a:t>
            </a:r>
            <a:r>
              <a:rPr b="0" i="0" lang="en-US" sz="1400" u="none" cap="none" strike="noStrike">
                <a:solidFill>
                  <a:srgbClr val="222222"/>
                </a:solidFill>
                <a:latin typeface="Arial"/>
                <a:ea typeface="Arial"/>
                <a:cs typeface="Arial"/>
                <a:sym typeface="Arial"/>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cxnSp>
        <p:nvCxnSpPr>
          <p:cNvPr id="103" name="Google Shape;103;p2"/>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104" name="Google Shape;104;p2"/>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105" name="Google Shape;105;p2"/>
          <p:cNvSpPr txBox="1"/>
          <p:nvPr/>
        </p:nvSpPr>
        <p:spPr>
          <a:xfrm>
            <a:off x="548640" y="640080"/>
            <a:ext cx="36576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600" u="none" cap="none" strike="noStrike">
                <a:solidFill>
                  <a:srgbClr val="C8CBD0"/>
                </a:solidFill>
                <a:latin typeface="Arial"/>
                <a:ea typeface="Arial"/>
                <a:cs typeface="Arial"/>
                <a:sym typeface="Arial"/>
              </a:rPr>
              <a:t>01</a:t>
            </a:r>
            <a:endParaRPr/>
          </a:p>
        </p:txBody>
      </p:sp>
      <p:sp>
        <p:nvSpPr>
          <p:cNvPr id="106" name="Google Shape;106;p2"/>
          <p:cNvSpPr txBox="1"/>
          <p:nvPr/>
        </p:nvSpPr>
        <p:spPr>
          <a:xfrm>
            <a:off x="548640" y="2148840"/>
            <a:ext cx="1078992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111111"/>
                </a:solidFill>
                <a:latin typeface="Arial"/>
                <a:ea typeface="Arial"/>
                <a:cs typeface="Arial"/>
                <a:sym typeface="Arial"/>
              </a:rPr>
              <a:t>Mở đầu</a:t>
            </a:r>
            <a:endParaRPr/>
          </a:p>
        </p:txBody>
      </p:sp>
      <p:cxnSp>
        <p:nvCxnSpPr>
          <p:cNvPr id="107" name="Google Shape;107;p2"/>
          <p:cNvCxnSpPr/>
          <p:nvPr/>
        </p:nvCxnSpPr>
        <p:spPr>
          <a:xfrm>
            <a:off x="548640" y="306324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108" name="Google Shape;108;p2"/>
          <p:cNvSpPr txBox="1"/>
          <p:nvPr/>
        </p:nvSpPr>
        <p:spPr>
          <a:xfrm>
            <a:off x="548640" y="333756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01</a:t>
            </a:r>
            <a:endParaRPr/>
          </a:p>
        </p:txBody>
      </p:sp>
      <p:sp>
        <p:nvSpPr>
          <p:cNvPr id="109" name="Google Shape;109;p2"/>
          <p:cNvSpPr txBox="1"/>
          <p:nvPr/>
        </p:nvSpPr>
        <p:spPr>
          <a:xfrm>
            <a:off x="1188720" y="333756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Vì sao cần kiểm thử giao diện và tính khả dụng?</a:t>
            </a:r>
            <a:endParaRPr/>
          </a:p>
        </p:txBody>
      </p:sp>
      <p:sp>
        <p:nvSpPr>
          <p:cNvPr id="110" name="Google Shape;110;p2"/>
          <p:cNvSpPr txBox="1"/>
          <p:nvPr/>
        </p:nvSpPr>
        <p:spPr>
          <a:xfrm>
            <a:off x="548640" y="384048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02</a:t>
            </a:r>
            <a:endParaRPr/>
          </a:p>
        </p:txBody>
      </p:sp>
      <p:sp>
        <p:nvSpPr>
          <p:cNvPr id="111" name="Google Shape;111;p2"/>
          <p:cNvSpPr txBox="1"/>
          <p:nvPr/>
        </p:nvSpPr>
        <p:spPr>
          <a:xfrm>
            <a:off x="1188720" y="384048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SUT: luồng mua hàng của EShop</a:t>
            </a:r>
            <a:endParaRPr/>
          </a:p>
        </p:txBody>
      </p:sp>
      <p:sp>
        <p:nvSpPr>
          <p:cNvPr id="112" name="Google Shape;112;p2"/>
          <p:cNvSpPr txBox="1"/>
          <p:nvPr/>
        </p:nvSpPr>
        <p:spPr>
          <a:xfrm>
            <a:off x="548640" y="434340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03</a:t>
            </a:r>
            <a:endParaRPr/>
          </a:p>
        </p:txBody>
      </p:sp>
      <p:sp>
        <p:nvSpPr>
          <p:cNvPr id="113" name="Google Shape;113;p2"/>
          <p:cNvSpPr txBox="1"/>
          <p:nvPr/>
        </p:nvSpPr>
        <p:spPr>
          <a:xfrm>
            <a:off x="1188720" y="434340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Lộ trình 30 phút và bản đồ 9 video demo</a:t>
            </a:r>
            <a:endParaRPr/>
          </a:p>
        </p:txBody>
      </p:sp>
      <p:sp>
        <p:nvSpPr>
          <p:cNvPr id="114" name="Google Shape;114;p2"/>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Chạy đúng ≠ dùng được</a:t>
            </a:r>
            <a:endParaRPr/>
          </a:p>
        </p:txBody>
      </p:sp>
      <p:sp>
        <p:nvSpPr>
          <p:cNvPr id="121" name="Google Shape;121;p3"/>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Phần mềm đúng đặc tả kỹ thuật vẫn có thể thất bại nếu giao diện chống lại người dùng.</a:t>
            </a:r>
            <a:endParaRPr/>
          </a:p>
        </p:txBody>
      </p:sp>
      <p:sp>
        <p:nvSpPr>
          <p:cNvPr id="122" name="Google Shape;122;p3"/>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01</a:t>
            </a:r>
            <a:endParaRPr/>
          </a:p>
        </p:txBody>
      </p:sp>
      <p:sp>
        <p:nvSpPr>
          <p:cNvPr id="123" name="Google Shape;123;p3"/>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03</a:t>
            </a:r>
            <a:endParaRPr/>
          </a:p>
        </p:txBody>
      </p:sp>
      <p:cxnSp>
        <p:nvCxnSpPr>
          <p:cNvPr id="124" name="Google Shape;124;p3"/>
          <p:cNvCxnSpPr/>
          <p:nvPr/>
        </p:nvCxnSpPr>
        <p:spPr>
          <a:xfrm>
            <a:off x="6095848" y="1874520"/>
            <a:ext cx="0" cy="365760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125" name="Google Shape;125;p3"/>
          <p:cNvSpPr txBox="1"/>
          <p:nvPr/>
        </p:nvSpPr>
        <p:spPr>
          <a:xfrm>
            <a:off x="548640" y="1874520"/>
            <a:ext cx="5272888"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5F6368"/>
                </a:solidFill>
                <a:latin typeface="Arial"/>
                <a:ea typeface="Arial"/>
                <a:cs typeface="Arial"/>
                <a:sym typeface="Arial"/>
              </a:rPr>
              <a:t>Góc nhìn chức năng</a:t>
            </a:r>
            <a:endParaRPr/>
          </a:p>
        </p:txBody>
      </p:sp>
      <p:sp>
        <p:nvSpPr>
          <p:cNvPr id="126" name="Google Shape;126;p3"/>
          <p:cNvSpPr txBox="1"/>
          <p:nvPr/>
        </p:nvSpPr>
        <p:spPr>
          <a:xfrm>
            <a:off x="548640" y="2313432"/>
            <a:ext cx="5272888"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5F6368"/>
                </a:solidFill>
                <a:latin typeface="Arial"/>
                <a:ea typeface="Arial"/>
                <a:cs typeface="Arial"/>
                <a:sym typeface="Arial"/>
              </a:rPr>
              <a:t>Kiểm thử chức năng: PASS</a:t>
            </a:r>
            <a:endParaRPr/>
          </a:p>
        </p:txBody>
      </p:sp>
      <p:sp>
        <p:nvSpPr>
          <p:cNvPr id="127" name="Google Shape;127;p3"/>
          <p:cNvSpPr txBox="1"/>
          <p:nvPr/>
        </p:nvSpPr>
        <p:spPr>
          <a:xfrm>
            <a:off x="548640" y="2834640"/>
            <a:ext cx="5272888" cy="2651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F6368"/>
                </a:solidFill>
                <a:latin typeface="Arial"/>
                <a:ea typeface="Arial"/>
                <a:cs typeface="Arial"/>
                <a:sym typeface="Arial"/>
              </a:rPr>
              <a:t>Người dùng </a:t>
            </a:r>
            <a:r>
              <a:rPr b="1" i="0" lang="en-US" sz="1500" u="none" cap="none" strike="noStrike">
                <a:solidFill>
                  <a:srgbClr val="5F6368"/>
                </a:solidFill>
                <a:latin typeface="Arial"/>
                <a:ea typeface="Arial"/>
                <a:cs typeface="Arial"/>
                <a:sym typeface="Arial"/>
              </a:rPr>
              <a:t>vẫn đặt được hàng</a:t>
            </a:r>
            <a:r>
              <a:rPr b="0" i="0" lang="en-US" sz="1500" u="none" cap="none" strike="noStrike">
                <a:solidFill>
                  <a:srgbClr val="5F6368"/>
                </a:solidFill>
                <a:latin typeface="Arial"/>
                <a:ea typeface="Arial"/>
                <a:cs typeface="Arial"/>
                <a:sym typeface="Arial"/>
              </a:rPr>
              <a:t> trên EShop (mã VIP100).</a:t>
            </a:r>
            <a:endParaRPr/>
          </a:p>
          <a:p>
            <a:pPr indent="0" lvl="0" marL="0" marR="0" rtl="0" algn="l">
              <a:spcBef>
                <a:spcPts val="900"/>
              </a:spcBef>
              <a:spcAft>
                <a:spcPts val="0"/>
              </a:spcAft>
              <a:buNone/>
            </a:pPr>
            <a:r>
              <a:rPr b="0" i="0" lang="en-US" sz="1500" u="none" cap="none" strike="noStrike">
                <a:solidFill>
                  <a:srgbClr val="5F6368"/>
                </a:solidFill>
                <a:latin typeface="Arial"/>
                <a:ea typeface="Arial"/>
                <a:cs typeface="Arial"/>
                <a:sym typeface="Arial"/>
              </a:rPr>
              <a:t>API, cơ sở dữ liệu, luồng đặt hàng chính chạy được.</a:t>
            </a:r>
            <a:endParaRPr/>
          </a:p>
          <a:p>
            <a:pPr indent="0" lvl="0" marL="0" marR="0" rtl="0" algn="l">
              <a:spcBef>
                <a:spcPts val="900"/>
              </a:spcBef>
              <a:spcAft>
                <a:spcPts val="0"/>
              </a:spcAft>
              <a:buNone/>
            </a:pPr>
            <a:r>
              <a:rPr b="0" i="0" lang="en-US" sz="1500" u="none" cap="none" strike="noStrike">
                <a:solidFill>
                  <a:srgbClr val="5F6368"/>
                </a:solidFill>
                <a:latin typeface="Arial"/>
                <a:ea typeface="Arial"/>
                <a:cs typeface="Arial"/>
                <a:sym typeface="Arial"/>
              </a:rPr>
              <a:t>Bộ test chức năng của luồng chính đều pass.</a:t>
            </a:r>
            <a:endParaRPr/>
          </a:p>
        </p:txBody>
      </p:sp>
      <p:sp>
        <p:nvSpPr>
          <p:cNvPr id="128" name="Google Shape;128;p3"/>
          <p:cNvSpPr txBox="1"/>
          <p:nvPr/>
        </p:nvSpPr>
        <p:spPr>
          <a:xfrm>
            <a:off x="6370168" y="1874520"/>
            <a:ext cx="5272888"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Arial"/>
                <a:ea typeface="Arial"/>
                <a:cs typeface="Arial"/>
                <a:sym typeface="Arial"/>
              </a:rPr>
              <a:t>Góc nhìn người dùng</a:t>
            </a:r>
            <a:endParaRPr/>
          </a:p>
        </p:txBody>
      </p:sp>
      <p:sp>
        <p:nvSpPr>
          <p:cNvPr id="129" name="Google Shape;129;p3"/>
          <p:cNvSpPr txBox="1"/>
          <p:nvPr/>
        </p:nvSpPr>
        <p:spPr>
          <a:xfrm>
            <a:off x="6370168" y="2313432"/>
            <a:ext cx="5272888"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0B3A6E"/>
                </a:solidFill>
                <a:latin typeface="Arial"/>
                <a:ea typeface="Arial"/>
                <a:cs typeface="Arial"/>
                <a:sym typeface="Arial"/>
              </a:rPr>
              <a:t>Nhưng người dùng bối rối, thao tác nhầm, bỏ đi</a:t>
            </a:r>
            <a:endParaRPr/>
          </a:p>
        </p:txBody>
      </p:sp>
      <p:sp>
        <p:nvSpPr>
          <p:cNvPr id="130" name="Google Shape;130;p3"/>
          <p:cNvSpPr txBox="1"/>
          <p:nvPr/>
        </p:nvSpPr>
        <p:spPr>
          <a:xfrm>
            <a:off x="6370168" y="2834640"/>
            <a:ext cx="5272888" cy="2651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C62828"/>
                </a:solidFill>
                <a:latin typeface="Arial"/>
                <a:ea typeface="Arial"/>
                <a:cs typeface="Arial"/>
                <a:sym typeface="Arial"/>
              </a:rPr>
              <a:t>G02</a:t>
            </a:r>
            <a:r>
              <a:rPr b="0" i="0" lang="en-US" sz="1500" u="none" cap="none" strike="noStrike">
                <a:solidFill>
                  <a:srgbClr val="222222"/>
                </a:solidFill>
                <a:latin typeface="Arial"/>
                <a:ea typeface="Arial"/>
                <a:cs typeface="Arial"/>
                <a:sym typeface="Arial"/>
              </a:rPr>
              <a:t>  Bấm "Xóa" là mất sản phẩm ngay, không hỏi lại</a:t>
            </a:r>
            <a:endParaRPr/>
          </a:p>
          <a:p>
            <a:pPr indent="0" lvl="0" marL="0" marR="0" rtl="0" algn="l">
              <a:spcBef>
                <a:spcPts val="900"/>
              </a:spcBef>
              <a:spcAft>
                <a:spcPts val="0"/>
              </a:spcAft>
              <a:buNone/>
            </a:pPr>
            <a:r>
              <a:rPr b="1" i="0" lang="en-US" sz="1500" u="none" cap="none" strike="noStrike">
                <a:solidFill>
                  <a:srgbClr val="C62828"/>
                </a:solidFill>
                <a:latin typeface="Arial"/>
                <a:ea typeface="Arial"/>
                <a:cs typeface="Arial"/>
                <a:sym typeface="Arial"/>
              </a:rPr>
              <a:t>G06</a:t>
            </a:r>
            <a:r>
              <a:rPr b="0" i="0" lang="en-US" sz="1500" u="none" cap="none" strike="noStrike">
                <a:solidFill>
                  <a:srgbClr val="222222"/>
                </a:solidFill>
                <a:latin typeface="Arial"/>
                <a:ea typeface="Arial"/>
                <a:cs typeface="Arial"/>
                <a:sym typeface="Arial"/>
              </a:rPr>
              <a:t>  Ô "Tổng tiền thanh toán" </a:t>
            </a:r>
            <a:r>
              <a:rPr b="1" i="0" lang="en-US" sz="1500" u="none" cap="none" strike="noStrike">
                <a:solidFill>
                  <a:srgbClr val="222222"/>
                </a:solidFill>
                <a:latin typeface="Arial"/>
                <a:ea typeface="Arial"/>
                <a:cs typeface="Arial"/>
                <a:sym typeface="Arial"/>
              </a:rPr>
              <a:t>sửa được</a:t>
            </a:r>
            <a:r>
              <a:rPr b="0" i="0" lang="en-US" sz="1500" u="none" cap="none" strike="noStrike">
                <a:solidFill>
                  <a:srgbClr val="222222"/>
                </a:solidFill>
                <a:latin typeface="Arial"/>
                <a:ea typeface="Arial"/>
                <a:cs typeface="Arial"/>
                <a:sym typeface="Arial"/>
              </a:rPr>
              <a:t> bằng tay</a:t>
            </a:r>
            <a:endParaRPr/>
          </a:p>
          <a:p>
            <a:pPr indent="0" lvl="0" marL="0" marR="0" rtl="0" algn="l">
              <a:spcBef>
                <a:spcPts val="900"/>
              </a:spcBef>
              <a:spcAft>
                <a:spcPts val="0"/>
              </a:spcAft>
              <a:buNone/>
            </a:pPr>
            <a:r>
              <a:rPr b="1" i="0" lang="en-US" sz="1500" u="none" cap="none" strike="noStrike">
                <a:solidFill>
                  <a:srgbClr val="C62828"/>
                </a:solidFill>
                <a:latin typeface="Arial"/>
                <a:ea typeface="Arial"/>
                <a:cs typeface="Arial"/>
                <a:sym typeface="Arial"/>
              </a:rPr>
              <a:t>G10</a:t>
            </a:r>
            <a:r>
              <a:rPr b="0" i="0" lang="en-US" sz="1500" u="none" cap="none" strike="noStrike">
                <a:solidFill>
                  <a:srgbClr val="222222"/>
                </a:solidFill>
                <a:latin typeface="Arial"/>
                <a:ea typeface="Arial"/>
                <a:cs typeface="Arial"/>
                <a:sym typeface="Arial"/>
              </a:rPr>
              <a:t>  Bấm "Thêm vào giỏ" lần đầu không thấy phản hồi gì</a:t>
            </a:r>
            <a:endParaRPr/>
          </a:p>
        </p:txBody>
      </p:sp>
      <p:sp>
        <p:nvSpPr>
          <p:cNvPr id="131" name="Google Shape;131;p3"/>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3"/>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3"/>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111111"/>
                </a:solidFill>
                <a:latin typeface="Arial"/>
                <a:ea typeface="Arial"/>
                <a:cs typeface="Arial"/>
                <a:sym typeface="Arial"/>
              </a:rPr>
              <a:t>Điểm chốt:</a:t>
            </a:r>
            <a:r>
              <a:rPr b="0" i="0" lang="en-US" sz="1400" u="none" cap="none" strike="noStrike">
                <a:solidFill>
                  <a:srgbClr val="111111"/>
                </a:solidFill>
                <a:latin typeface="Arial"/>
                <a:ea typeface="Arial"/>
                <a:cs typeface="Arial"/>
                <a:sym typeface="Arial"/>
              </a:rPr>
              <a:t> một hệ thống đúng về kỹ thuật vẫn thất bại nếu người dùng không dùng được nó.</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Hai câu hỏi của đề tài T1</a:t>
            </a:r>
            <a:endParaRPr/>
          </a:p>
        </p:txBody>
      </p:sp>
      <p:sp>
        <p:nvSpPr>
          <p:cNvPr id="140" name="Google Shape;140;p4"/>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Hai nửa bổ sung cho nhau: đúng đặc tả chưa chắc đã dễ dùng, và ngược lại.</a:t>
            </a:r>
            <a:endParaRPr/>
          </a:p>
        </p:txBody>
      </p:sp>
      <p:sp>
        <p:nvSpPr>
          <p:cNvPr id="141" name="Google Shape;141;p4"/>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01</a:t>
            </a:r>
            <a:endParaRPr/>
          </a:p>
        </p:txBody>
      </p:sp>
      <p:sp>
        <p:nvSpPr>
          <p:cNvPr id="142" name="Google Shape;142;p4"/>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04</a:t>
            </a:r>
            <a:endParaRPr/>
          </a:p>
        </p:txBody>
      </p:sp>
      <p:graphicFrame>
        <p:nvGraphicFramePr>
          <p:cNvPr id="143" name="Google Shape;143;p4"/>
          <p:cNvGraphicFramePr/>
          <p:nvPr/>
        </p:nvGraphicFramePr>
        <p:xfrm>
          <a:off x="548640" y="1874520"/>
          <a:ext cx="3000000" cy="3000000"/>
        </p:xfrm>
        <a:graphic>
          <a:graphicData uri="http://schemas.openxmlformats.org/drawingml/2006/table">
            <a:tbl>
              <a:tblPr>
                <a:noFill/>
                <a:tableStyleId>{A41EB096-C0D3-46DF-A04B-B11FC471E439}</a:tableStyleId>
              </a:tblPr>
              <a:tblGrid>
                <a:gridCol w="2033975"/>
                <a:gridCol w="4530225"/>
                <a:gridCol w="4530225"/>
              </a:tblGrid>
              <a:tr h="566925">
                <a:tc>
                  <a:txBody>
                    <a:bodyPr/>
                    <a:lstStyle/>
                    <a:p>
                      <a:pPr indent="0" lvl="0" marL="0" marR="0" rtl="0" algn="l">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GUI Testing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Usability Testing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6692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Câu hỏi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Giao diện có </a:t>
                      </a:r>
                      <a:r>
                        <a:rPr b="1" i="0" lang="en-US" sz="1400" u="none" cap="none" strike="noStrike">
                          <a:solidFill>
                            <a:srgbClr val="222222"/>
                          </a:solidFill>
                          <a:latin typeface="Arial"/>
                          <a:ea typeface="Arial"/>
                          <a:cs typeface="Arial"/>
                          <a:sym typeface="Arial"/>
                        </a:rPr>
                        <a:t>đúng đặc tả</a:t>
                      </a:r>
                      <a:r>
                        <a:rPr b="0" i="0" lang="en-US" sz="1400" u="none" cap="none" strike="noStrike">
                          <a:solidFill>
                            <a:srgbClr val="222222"/>
                          </a:solidFill>
                          <a:latin typeface="Arial"/>
                          <a:ea typeface="Arial"/>
                          <a:cs typeface="Arial"/>
                          <a:sym typeface="Arial"/>
                        </a:rPr>
                        <a:t> không?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Người dùng có </a:t>
                      </a:r>
                      <a:r>
                        <a:rPr b="1" i="0" lang="en-US" sz="1400" u="none" cap="none" strike="noStrike">
                          <a:solidFill>
                            <a:srgbClr val="222222"/>
                          </a:solidFill>
                          <a:latin typeface="Arial"/>
                          <a:ea typeface="Arial"/>
                          <a:cs typeface="Arial"/>
                          <a:sym typeface="Arial"/>
                        </a:rPr>
                        <a:t>dùng được</a:t>
                      </a:r>
                      <a:r>
                        <a:rPr b="0" i="0" lang="en-US" sz="1400" u="none" cap="none" strike="noStrike">
                          <a:solidFill>
                            <a:srgbClr val="222222"/>
                          </a:solidFill>
                          <a:latin typeface="Arial"/>
                          <a:ea typeface="Arial"/>
                          <a:cs typeface="Arial"/>
                          <a:sym typeface="Arial"/>
                        </a:rPr>
                        <a:t> không?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6692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Đối chiếu với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Đặc tả GUI (FR-21 → FR-24), checklist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Mục tiêu và cảm nhận của người dùng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6692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Ai đánh giá</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Tester, script tự động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Người dùng thật, chuyên gia UX</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6692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Ví dụ lỗi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Nút "Thanh toán" xanh lá thay vì xanh dương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Không ai tìm thấy ô nhập mã giảm giá</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6692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Công cụ nhóm demo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Playwright + axe-core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UXtweak + Microsoft Clarity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144" name="Google Shape;144;p4"/>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4"/>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4"/>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111111"/>
                </a:solidFill>
                <a:latin typeface="Arial"/>
                <a:ea typeface="Arial"/>
                <a:cs typeface="Arial"/>
                <a:sym typeface="Arial"/>
              </a:rPr>
              <a:t>AI Heuristic Reviewer</a:t>
            </a:r>
            <a:r>
              <a:rPr b="0" i="0" lang="en-US" sz="1400" u="none" cap="none" strike="noStrike">
                <a:solidFill>
                  <a:srgbClr val="111111"/>
                </a:solidFill>
                <a:latin typeface="Arial"/>
                <a:ea typeface="Arial"/>
                <a:cs typeface="Arial"/>
                <a:sym typeface="Arial"/>
              </a:rPr>
              <a:t> (Phần 08) thử trả lời cả hai câu hỏi và được so sánh với kết quả của con người.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5"/>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SUT: EShop — luồng mua hàng</a:t>
            </a:r>
            <a:endParaRPr/>
          </a:p>
        </p:txBody>
      </p:sp>
      <p:sp>
        <p:nvSpPr>
          <p:cNvPr id="153" name="Google Shape;153;p5"/>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Website bán hàng mẫu của môn học: React + Vite, backend Node.js + SQLite.</a:t>
            </a:r>
            <a:endParaRPr/>
          </a:p>
        </p:txBody>
      </p:sp>
      <p:sp>
        <p:nvSpPr>
          <p:cNvPr id="154" name="Google Shape;154;p5"/>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01</a:t>
            </a:r>
            <a:endParaRPr/>
          </a:p>
        </p:txBody>
      </p:sp>
      <p:sp>
        <p:nvSpPr>
          <p:cNvPr id="155" name="Google Shape;155;p5"/>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05</a:t>
            </a:r>
            <a:endParaRPr/>
          </a:p>
        </p:txBody>
      </p:sp>
      <p:sp>
        <p:nvSpPr>
          <p:cNvPr id="156" name="Google Shape;156;p5"/>
          <p:cNvSpPr/>
          <p:nvPr/>
        </p:nvSpPr>
        <p:spPr>
          <a:xfrm>
            <a:off x="548640" y="1828800"/>
            <a:ext cx="1962851"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u="none" cap="none" strike="noStrike">
                <a:solidFill>
                  <a:srgbClr val="111111"/>
                </a:solidFill>
                <a:latin typeface="Arial"/>
                <a:ea typeface="Arial"/>
                <a:cs typeface="Arial"/>
                <a:sym typeface="Arial"/>
              </a:rPr>
              <a:t>Đăng nhập</a:t>
            </a:r>
            <a:endParaRPr/>
          </a:p>
        </p:txBody>
      </p:sp>
      <p:sp>
        <p:nvSpPr>
          <p:cNvPr id="157" name="Google Shape;157;p5"/>
          <p:cNvSpPr txBox="1"/>
          <p:nvPr/>
        </p:nvSpPr>
        <p:spPr>
          <a:xfrm>
            <a:off x="2511491" y="1828800"/>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B3A6E"/>
                </a:solidFill>
                <a:latin typeface="Arial"/>
                <a:ea typeface="Arial"/>
                <a:cs typeface="Arial"/>
                <a:sym typeface="Arial"/>
              </a:rPr>
              <a:t>→</a:t>
            </a:r>
            <a:endParaRPr/>
          </a:p>
        </p:txBody>
      </p:sp>
      <p:sp>
        <p:nvSpPr>
          <p:cNvPr id="158" name="Google Shape;158;p5"/>
          <p:cNvSpPr/>
          <p:nvPr/>
        </p:nvSpPr>
        <p:spPr>
          <a:xfrm>
            <a:off x="2831531" y="1828800"/>
            <a:ext cx="1962851"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u="none" cap="none" strike="noStrike">
                <a:solidFill>
                  <a:srgbClr val="111111"/>
                </a:solidFill>
                <a:latin typeface="Arial"/>
                <a:ea typeface="Arial"/>
                <a:cs typeface="Arial"/>
                <a:sym typeface="Arial"/>
              </a:rPr>
              <a:t>Trang chủ</a:t>
            </a:r>
            <a:endParaRPr/>
          </a:p>
        </p:txBody>
      </p:sp>
      <p:sp>
        <p:nvSpPr>
          <p:cNvPr id="159" name="Google Shape;159;p5"/>
          <p:cNvSpPr txBox="1"/>
          <p:nvPr/>
        </p:nvSpPr>
        <p:spPr>
          <a:xfrm>
            <a:off x="4794382" y="1828800"/>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B3A6E"/>
                </a:solidFill>
                <a:latin typeface="Arial"/>
                <a:ea typeface="Arial"/>
                <a:cs typeface="Arial"/>
                <a:sym typeface="Arial"/>
              </a:rPr>
              <a:t>→</a:t>
            </a:r>
            <a:endParaRPr/>
          </a:p>
        </p:txBody>
      </p:sp>
      <p:sp>
        <p:nvSpPr>
          <p:cNvPr id="160" name="Google Shape;160;p5"/>
          <p:cNvSpPr/>
          <p:nvPr/>
        </p:nvSpPr>
        <p:spPr>
          <a:xfrm>
            <a:off x="5114422" y="1828800"/>
            <a:ext cx="1962851"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u="none" cap="none" strike="noStrike">
                <a:solidFill>
                  <a:srgbClr val="111111"/>
                </a:solidFill>
                <a:latin typeface="Arial"/>
                <a:ea typeface="Arial"/>
                <a:cs typeface="Arial"/>
                <a:sym typeface="Arial"/>
              </a:rPr>
              <a:t>Chi tiết sản phẩm</a:t>
            </a:r>
            <a:endParaRPr/>
          </a:p>
        </p:txBody>
      </p:sp>
      <p:sp>
        <p:nvSpPr>
          <p:cNvPr id="161" name="Google Shape;161;p5"/>
          <p:cNvSpPr txBox="1"/>
          <p:nvPr/>
        </p:nvSpPr>
        <p:spPr>
          <a:xfrm>
            <a:off x="7077273" y="1828800"/>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B3A6E"/>
                </a:solidFill>
                <a:latin typeface="Arial"/>
                <a:ea typeface="Arial"/>
                <a:cs typeface="Arial"/>
                <a:sym typeface="Arial"/>
              </a:rPr>
              <a:t>→</a:t>
            </a:r>
            <a:endParaRPr/>
          </a:p>
        </p:txBody>
      </p:sp>
      <p:sp>
        <p:nvSpPr>
          <p:cNvPr id="162" name="Google Shape;162;p5"/>
          <p:cNvSpPr/>
          <p:nvPr/>
        </p:nvSpPr>
        <p:spPr>
          <a:xfrm>
            <a:off x="7397313" y="1828800"/>
            <a:ext cx="1962851"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u="none" cap="none" strike="noStrike">
                <a:solidFill>
                  <a:srgbClr val="111111"/>
                </a:solidFill>
                <a:latin typeface="Arial"/>
                <a:ea typeface="Arial"/>
                <a:cs typeface="Arial"/>
                <a:sym typeface="Arial"/>
              </a:rPr>
              <a:t>Giỏ hàng</a:t>
            </a:r>
            <a:endParaRPr/>
          </a:p>
        </p:txBody>
      </p:sp>
      <p:sp>
        <p:nvSpPr>
          <p:cNvPr id="163" name="Google Shape;163;p5"/>
          <p:cNvSpPr txBox="1"/>
          <p:nvPr/>
        </p:nvSpPr>
        <p:spPr>
          <a:xfrm>
            <a:off x="9360164" y="1828800"/>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B3A6E"/>
                </a:solidFill>
                <a:latin typeface="Arial"/>
                <a:ea typeface="Arial"/>
                <a:cs typeface="Arial"/>
                <a:sym typeface="Arial"/>
              </a:rPr>
              <a:t>→</a:t>
            </a:r>
            <a:endParaRPr/>
          </a:p>
        </p:txBody>
      </p:sp>
      <p:sp>
        <p:nvSpPr>
          <p:cNvPr id="164" name="Google Shape;164;p5"/>
          <p:cNvSpPr/>
          <p:nvPr/>
        </p:nvSpPr>
        <p:spPr>
          <a:xfrm>
            <a:off x="9680204" y="1828800"/>
            <a:ext cx="1962851"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u="none" cap="none" strike="noStrike">
                <a:solidFill>
                  <a:srgbClr val="111111"/>
                </a:solidFill>
                <a:latin typeface="Arial"/>
                <a:ea typeface="Arial"/>
                <a:cs typeface="Arial"/>
                <a:sym typeface="Arial"/>
              </a:rPr>
              <a:t>Thanh toán + mã giảm giá</a:t>
            </a:r>
            <a:endParaRPr/>
          </a:p>
        </p:txBody>
      </p:sp>
      <p:graphicFrame>
        <p:nvGraphicFramePr>
          <p:cNvPr id="165" name="Google Shape;165;p5"/>
          <p:cNvGraphicFramePr/>
          <p:nvPr/>
        </p:nvGraphicFramePr>
        <p:xfrm>
          <a:off x="548640" y="2651760"/>
          <a:ext cx="3000000" cy="3000000"/>
        </p:xfrm>
        <a:graphic>
          <a:graphicData uri="http://schemas.openxmlformats.org/drawingml/2006/table">
            <a:tbl>
              <a:tblPr>
                <a:noFill/>
                <a:tableStyleId>{A41EB096-C0D3-46DF-A04B-B11FC471E439}</a:tableStyleId>
              </a:tblPr>
              <a:tblGrid>
                <a:gridCol w="2958500"/>
                <a:gridCol w="8135900"/>
              </a:tblGrid>
              <a:tr h="502925">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Đặc tả GUI có sẵn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Ví dụ yêu cầu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0292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FR-21 Chung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Đúng 1 </a:t>
                      </a:r>
                      <a:r>
                        <a:rPr b="0" i="0" lang="en-US" sz="1300" u="none" cap="none" strike="noStrike">
                          <a:solidFill>
                            <a:srgbClr val="222222"/>
                          </a:solidFill>
                          <a:latin typeface="Consolas"/>
                          <a:ea typeface="Consolas"/>
                          <a:cs typeface="Consolas"/>
                          <a:sym typeface="Consolas"/>
                        </a:rPr>
                        <a:t>&lt;h1&gt;</a:t>
                      </a:r>
                      <a:r>
                        <a:rPr b="0" i="0" lang="en-US" sz="1400" u="none" cap="none" strike="noStrike">
                          <a:solidFill>
                            <a:srgbClr val="222222"/>
                          </a:solidFill>
                          <a:latin typeface="Arial"/>
                          <a:ea typeface="Arial"/>
                          <a:cs typeface="Arial"/>
                          <a:sym typeface="Arial"/>
                        </a:rPr>
                        <a:t>, giá dạng </a:t>
                      </a:r>
                      <a:r>
                        <a:rPr b="0" i="0" lang="en-US" sz="1300" u="none" cap="none" strike="noStrike">
                          <a:solidFill>
                            <a:srgbClr val="222222"/>
                          </a:solidFill>
                          <a:latin typeface="Consolas"/>
                          <a:ea typeface="Consolas"/>
                          <a:cs typeface="Consolas"/>
                          <a:sym typeface="Consolas"/>
                        </a:rPr>
                        <a:t>₫</a:t>
                      </a:r>
                      <a:r>
                        <a:rPr b="0" i="0" lang="en-US" sz="1400" u="none" cap="none" strike="noStrike">
                          <a:solidFill>
                            <a:srgbClr val="222222"/>
                          </a:solidFill>
                          <a:latin typeface="Arial"/>
                          <a:ea typeface="Arial"/>
                          <a:cs typeface="Arial"/>
                          <a:sym typeface="Arial"/>
                        </a:rPr>
                        <a:t>, nút tích cực màu xanh dương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0292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FR-22 Form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Trường bắt buộc có </a:t>
                      </a:r>
                      <a:r>
                        <a:rPr b="0" i="0" lang="en-US" sz="1300" u="none" cap="none" strike="noStrike">
                          <a:solidFill>
                            <a:srgbClr val="222222"/>
                          </a:solidFill>
                          <a:latin typeface="Consolas"/>
                          <a:ea typeface="Consolas"/>
                          <a:cs typeface="Consolas"/>
                          <a:sym typeface="Consolas"/>
                        </a:rPr>
                        <a:t>*</a:t>
                      </a:r>
                      <a:r>
                        <a:rPr b="0" i="0" lang="en-US" sz="1400" u="none" cap="none" strike="noStrike">
                          <a:solidFill>
                            <a:srgbClr val="222222"/>
                          </a:solidFill>
                          <a:latin typeface="Arial"/>
                          <a:ea typeface="Arial"/>
                          <a:cs typeface="Arial"/>
                          <a:sym typeface="Arial"/>
                        </a:rPr>
                        <a:t>, lỗi hiện trên nút submit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0292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FR-23 Điều hướng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Highlight trang hiện tại, badge số lượng giỏ hàng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0292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FR-24 Phản hồi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Toast khi thêm vào giỏ, dialog xác nhận khi xóa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166" name="Google Shape;166;p5"/>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5"/>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5"/>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Checklist, Playwright, UXtweak và AI đều chạy trên </a:t>
            </a:r>
            <a:r>
              <a:rPr b="1" i="0" lang="en-US" sz="1400" u="none" cap="none" strike="noStrike">
                <a:solidFill>
                  <a:srgbClr val="111111"/>
                </a:solidFill>
                <a:latin typeface="Arial"/>
                <a:ea typeface="Arial"/>
                <a:cs typeface="Arial"/>
                <a:sym typeface="Arial"/>
              </a:rPr>
              <a:t>cùng một luồng</a:t>
            </a:r>
            <a:r>
              <a:rPr b="0" i="0" lang="en-US" sz="1400" u="none" cap="none" strike="noStrike">
                <a:solidFill>
                  <a:srgbClr val="111111"/>
                </a:solidFill>
                <a:latin typeface="Arial"/>
                <a:ea typeface="Arial"/>
                <a:cs typeface="Arial"/>
                <a:sym typeface="Arial"/>
              </a:rPr>
              <a:t> này — 11 lỗi ground truth </a:t>
            </a:r>
            <a:r>
              <a:rPr b="0" i="0" lang="en-US" sz="1300" u="none" cap="none" strike="noStrike">
                <a:solidFill>
                  <a:srgbClr val="111111"/>
                </a:solidFill>
                <a:latin typeface="Consolas"/>
                <a:ea typeface="Consolas"/>
                <a:cs typeface="Consolas"/>
                <a:sym typeface="Consolas"/>
              </a:rPr>
              <a:t>G01</a:t>
            </a:r>
            <a:r>
              <a:rPr b="0" i="0" lang="en-US" sz="1400" u="none" cap="none" strike="noStrike">
                <a:solidFill>
                  <a:srgbClr val="111111"/>
                </a:solidFill>
                <a:latin typeface="Arial"/>
                <a:ea typeface="Arial"/>
                <a:cs typeface="Arial"/>
                <a:sym typeface="Arial"/>
              </a:rPr>
              <a:t>–</a:t>
            </a:r>
            <a:r>
              <a:rPr b="0" i="0" lang="en-US" sz="1300" u="none" cap="none" strike="noStrike">
                <a:solidFill>
                  <a:srgbClr val="111111"/>
                </a:solidFill>
                <a:latin typeface="Consolas"/>
                <a:ea typeface="Consolas"/>
                <a:cs typeface="Consolas"/>
                <a:sym typeface="Consolas"/>
              </a:rPr>
              <a:t>G11</a:t>
            </a:r>
            <a:r>
              <a:rPr b="0" i="0" lang="en-US" sz="1400" u="none" cap="none" strike="noStrike">
                <a:solidFill>
                  <a:srgbClr val="111111"/>
                </a:solidFill>
                <a:latin typeface="Arial"/>
                <a:ea typeface="Arial"/>
                <a:cs typeface="Arial"/>
                <a:sym typeface="Arial"/>
              </a:rPr>
              <a:t> làm thước đo chung (danh sách đủ ở Phụ lục, slide 56).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6"/>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Lộ trình 30 phút</a:t>
            </a:r>
            <a:endParaRPr/>
          </a:p>
        </p:txBody>
      </p:sp>
      <p:sp>
        <p:nvSpPr>
          <p:cNvPr id="175" name="Google Shape;175;p6"/>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Đi từ lý thuyết → kiểm thử thủ công → công cụ tự động → AI → lớp thực hành.</a:t>
            </a:r>
            <a:endParaRPr/>
          </a:p>
        </p:txBody>
      </p:sp>
      <p:sp>
        <p:nvSpPr>
          <p:cNvPr id="176" name="Google Shape;176;p6"/>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01</a:t>
            </a:r>
            <a:endParaRPr/>
          </a:p>
        </p:txBody>
      </p:sp>
      <p:sp>
        <p:nvSpPr>
          <p:cNvPr id="177" name="Google Shape;177;p6"/>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06</a:t>
            </a:r>
            <a:endParaRPr/>
          </a:p>
        </p:txBody>
      </p:sp>
      <p:graphicFrame>
        <p:nvGraphicFramePr>
          <p:cNvPr id="178" name="Google Shape;178;p6"/>
          <p:cNvGraphicFramePr/>
          <p:nvPr/>
        </p:nvGraphicFramePr>
        <p:xfrm>
          <a:off x="548640" y="1874520"/>
          <a:ext cx="3000000" cy="3000000"/>
        </p:xfrm>
        <a:graphic>
          <a:graphicData uri="http://schemas.openxmlformats.org/drawingml/2006/table">
            <a:tbl>
              <a:tblPr>
                <a:noFill/>
                <a:tableStyleId>{A41EB096-C0D3-46DF-A04B-B11FC471E439}</a:tableStyleId>
              </a:tblPr>
              <a:tblGrid>
                <a:gridCol w="3117800"/>
                <a:gridCol w="917000"/>
                <a:gridCol w="1283800"/>
              </a:tblGrid>
              <a:tr h="5486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Phần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Phút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Người nói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01  Mở đầu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Quân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02  Lý thuyết GUI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Quang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03  Checklist 50 câu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Quang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04  Lý thuyết Usability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2,5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Phúc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05  Chọn công cụ</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1,5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Phúc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graphicFrame>
        <p:nvGraphicFramePr>
          <p:cNvPr id="179" name="Google Shape;179;p6"/>
          <p:cNvGraphicFramePr/>
          <p:nvPr/>
        </p:nvGraphicFramePr>
        <p:xfrm>
          <a:off x="6324448" y="1874520"/>
          <a:ext cx="3000000" cy="3000000"/>
        </p:xfrm>
        <a:graphic>
          <a:graphicData uri="http://schemas.openxmlformats.org/drawingml/2006/table">
            <a:tbl>
              <a:tblPr>
                <a:noFill/>
                <a:tableStyleId>{A41EB096-C0D3-46DF-A04B-B11FC471E439}</a:tableStyleId>
              </a:tblPr>
              <a:tblGrid>
                <a:gridCol w="3117800"/>
                <a:gridCol w="917000"/>
                <a:gridCol w="1283800"/>
              </a:tblGrid>
              <a:tr h="5486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Phần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Phút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Người nói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06  Playwright + axe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Quang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07  UXtweak + Clarity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Phúc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08  AI Heuristic Reviewer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Quân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09  Bài tập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Quân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10  Tổng kết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Quân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180" name="Google Shape;180;p6"/>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6"/>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6"/>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Mỗi công cụ có </a:t>
            </a:r>
            <a:r>
              <a:rPr b="1" i="0" lang="en-US" sz="1400" u="none" cap="none" strike="noStrike">
                <a:solidFill>
                  <a:srgbClr val="111111"/>
                </a:solidFill>
                <a:latin typeface="Arial"/>
                <a:ea typeface="Arial"/>
                <a:cs typeface="Arial"/>
                <a:sym typeface="Arial"/>
              </a:rPr>
              <a:t>3 video demo</a:t>
            </a:r>
            <a:r>
              <a:rPr b="0" i="0" lang="en-US" sz="1400" u="none" cap="none" strike="noStrike">
                <a:solidFill>
                  <a:srgbClr val="111111"/>
                </a:solidFill>
                <a:latin typeface="Arial"/>
                <a:ea typeface="Arial"/>
                <a:cs typeface="Arial"/>
                <a:sym typeface="Arial"/>
              </a:rPr>
              <a:t> trên YouTube; slide tiếp theo là bản đồ, mỗi phần có slide </a:t>
            </a:r>
            <a:r>
              <a:rPr b="1" i="0" lang="en-US" sz="1400" u="none" cap="none" strike="noStrike">
                <a:solidFill>
                  <a:srgbClr val="111111"/>
                </a:solidFill>
                <a:latin typeface="Arial"/>
                <a:ea typeface="Arial"/>
                <a:cs typeface="Arial"/>
                <a:sym typeface="Arial"/>
              </a:rPr>
              <a:t>tóm tắt nội dung từng video</a:t>
            </a:r>
            <a:r>
              <a:rPr b="0" i="0" lang="en-US" sz="1400" u="none" cap="none" strike="noStrike">
                <a:solidFill>
                  <a:srgbClr val="111111"/>
                </a:solidFill>
                <a:latin typeface="Arial"/>
                <a:ea typeface="Arial"/>
                <a:cs typeface="Arial"/>
                <a:sym typeface="Arial"/>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7"/>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Bản đồ 9 video demo</a:t>
            </a:r>
            <a:endParaRPr/>
          </a:p>
        </p:txBody>
      </p:sp>
      <p:sp>
        <p:nvSpPr>
          <p:cNvPr id="189" name="Google Shape;189;p7"/>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Theo yêu cầu GVTH: mỗi công cụ có setup, cơ bản, phức tạp có data-driven và ca công cụ không xử lý được.</a:t>
            </a:r>
            <a:endParaRPr/>
          </a:p>
        </p:txBody>
      </p:sp>
      <p:sp>
        <p:nvSpPr>
          <p:cNvPr id="190" name="Google Shape;190;p7"/>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01</a:t>
            </a:r>
            <a:endParaRPr/>
          </a:p>
        </p:txBody>
      </p:sp>
      <p:sp>
        <p:nvSpPr>
          <p:cNvPr id="191" name="Google Shape;191;p7"/>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07</a:t>
            </a:r>
            <a:endParaRPr/>
          </a:p>
        </p:txBody>
      </p:sp>
      <p:graphicFrame>
        <p:nvGraphicFramePr>
          <p:cNvPr id="192" name="Google Shape;192;p7"/>
          <p:cNvGraphicFramePr/>
          <p:nvPr/>
        </p:nvGraphicFramePr>
        <p:xfrm>
          <a:off x="548640" y="1874520"/>
          <a:ext cx="3000000" cy="3000000"/>
        </p:xfrm>
        <a:graphic>
          <a:graphicData uri="http://schemas.openxmlformats.org/drawingml/2006/table">
            <a:tbl>
              <a:tblPr>
                <a:noFill/>
                <a:tableStyleId>{A41EB096-C0D3-46DF-A04B-B11FC471E439}</a:tableStyleId>
              </a:tblPr>
              <a:tblGrid>
                <a:gridCol w="1978075"/>
                <a:gridCol w="2236075"/>
                <a:gridCol w="2236075"/>
                <a:gridCol w="2408100"/>
                <a:gridCol w="2236075"/>
              </a:tblGrid>
              <a:tr h="960125">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Công cụ</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1 · Cài đặt (setup)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2 · Khái niệm cơ bản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3 · Luồng phức tạp + Data-driven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Ca tool không xử lý được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960125">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Playwright + axe-core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B3A6E"/>
                          </a:solidFill>
                          <a:latin typeface="Arial"/>
                          <a:ea typeface="Arial"/>
                          <a:cs typeface="Arial"/>
                          <a:sym typeface="Arial"/>
                        </a:rPr>
                        <a:t>PW-1</a:t>
                      </a:r>
                      <a:r>
                        <a:rPr b="0" i="0" lang="en-US" sz="1200" u="none" cap="none" strike="noStrike">
                          <a:solidFill>
                            <a:srgbClr val="222222"/>
                          </a:solidFill>
                          <a:latin typeface="Arial"/>
                          <a:ea typeface="Arial"/>
                          <a:cs typeface="Arial"/>
                          <a:sym typeface="Arial"/>
                        </a:rPr>
                        <a:t>  init project, test mẫu, report · 4:51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B3A6E"/>
                          </a:solidFill>
                          <a:latin typeface="Arial"/>
                          <a:ea typeface="Arial"/>
                          <a:cs typeface="Arial"/>
                          <a:sym typeface="Arial"/>
                        </a:rPr>
                        <a:t>PW-2</a:t>
                      </a:r>
                      <a:r>
                        <a:rPr b="0" i="0" lang="en-US" sz="1200" u="none" cap="none" strike="noStrike">
                          <a:solidFill>
                            <a:srgbClr val="222222"/>
                          </a:solidFill>
                          <a:latin typeface="Arial"/>
                          <a:ea typeface="Arial"/>
                          <a:cs typeface="Arial"/>
                          <a:sym typeface="Arial"/>
                        </a:rPr>
                        <a:t>  codegen R&amp;P + checkpoint "Tổng cộng" · 2:56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B3A6E"/>
                          </a:solidFill>
                          <a:latin typeface="Arial"/>
                          <a:ea typeface="Arial"/>
                          <a:cs typeface="Arial"/>
                          <a:sym typeface="Arial"/>
                        </a:rPr>
                        <a:t>PW-3</a:t>
                      </a:r>
                      <a:r>
                        <a:rPr b="0" i="0" lang="en-US" sz="1200" u="none" cap="none" strike="noStrike">
                          <a:solidFill>
                            <a:srgbClr val="222222"/>
                          </a:solidFill>
                          <a:latin typeface="Arial"/>
                          <a:ea typeface="Arial"/>
                          <a:cs typeface="Arial"/>
                          <a:sym typeface="Arial"/>
                        </a:rPr>
                        <a:t>  5 trang × 3 viewport, visual + axe · 4:06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PW-3: không đo được "dễ dùng"; screenshot lệch font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960125">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UXtweak + Clarity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B3A6E"/>
                          </a:solidFill>
                          <a:latin typeface="Arial"/>
                          <a:ea typeface="Arial"/>
                          <a:cs typeface="Arial"/>
                          <a:sym typeface="Arial"/>
                        </a:rPr>
                        <a:t>UX-1</a:t>
                      </a:r>
                      <a:r>
                        <a:rPr b="0" i="0" lang="en-US" sz="1200" u="none" cap="none" strike="noStrike">
                          <a:solidFill>
                            <a:srgbClr val="222222"/>
                          </a:solidFill>
                          <a:latin typeface="Arial"/>
                          <a:ea typeface="Arial"/>
                          <a:cs typeface="Arial"/>
                          <a:sym typeface="Arial"/>
                        </a:rPr>
                        <a:t>  gắn 2 snippet trên Vercel · 2:30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B3A6E"/>
                          </a:solidFill>
                          <a:latin typeface="Arial"/>
                          <a:ea typeface="Arial"/>
                          <a:cs typeface="Arial"/>
                          <a:sym typeface="Arial"/>
                        </a:rPr>
                        <a:t>UX-2</a:t>
                      </a:r>
                      <a:r>
                        <a:rPr b="0" i="0" lang="en-US" sz="1200" u="none" cap="none" strike="noStrike">
                          <a:solidFill>
                            <a:srgbClr val="222222"/>
                          </a:solidFill>
                          <a:latin typeface="Arial"/>
                          <a:ea typeface="Arial"/>
                          <a:cs typeface="Arial"/>
                          <a:sym typeface="Arial"/>
                        </a:rPr>
                        <a:t>  Task + Success URL + SEQ, Replay · 3:00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B3A6E"/>
                          </a:solidFill>
                          <a:latin typeface="Arial"/>
                          <a:ea typeface="Arial"/>
                          <a:cs typeface="Arial"/>
                          <a:sym typeface="Arial"/>
                        </a:rPr>
                        <a:t>UX-3</a:t>
                      </a:r>
                      <a:r>
                        <a:rPr b="0" i="0" lang="en-US" sz="1200" u="none" cap="none" strike="noStrike">
                          <a:solidFill>
                            <a:srgbClr val="222222"/>
                          </a:solidFill>
                          <a:latin typeface="Arial"/>
                          <a:ea typeface="Arial"/>
                          <a:cs typeface="Arial"/>
                          <a:sym typeface="Arial"/>
                        </a:rPr>
                        <a:t>  study ~5 người </a:t>
                      </a:r>
                      <a:r>
                        <a:rPr b="0" i="0" lang="en-US" sz="1100" u="none" cap="none" strike="noStrike">
                          <a:solidFill>
                            <a:srgbClr val="222222"/>
                          </a:solidFill>
                          <a:latin typeface="Consolas"/>
                          <a:ea typeface="Consolas"/>
                          <a:cs typeface="Consolas"/>
                          <a:sym typeface="Consolas"/>
                        </a:rPr>
                        <a:t>p1..p5</a:t>
                      </a:r>
                      <a:r>
                        <a:rPr b="0" i="0" lang="en-US" sz="1200" u="none" cap="none" strike="noStrike">
                          <a:solidFill>
                            <a:srgbClr val="222222"/>
                          </a:solidFill>
                          <a:latin typeface="Arial"/>
                          <a:ea typeface="Arial"/>
                          <a:cs typeface="Arial"/>
                          <a:sym typeface="Arial"/>
                        </a:rPr>
                        <a:t> + SUS + Heatmap · 4:15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UX-3: biết người dùng kẹt ở đâu, không biết vì sao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960125">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AI Heuristic Reviewer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B3A6E"/>
                          </a:solidFill>
                          <a:latin typeface="Arial"/>
                          <a:ea typeface="Arial"/>
                          <a:cs typeface="Arial"/>
                          <a:sym typeface="Arial"/>
                        </a:rPr>
                        <a:t>AI-1</a:t>
                      </a:r>
                      <a:r>
                        <a:rPr b="0" i="0" lang="en-US" sz="1200" u="none" cap="none" strike="noStrike">
                          <a:solidFill>
                            <a:srgbClr val="222222"/>
                          </a:solidFill>
                          <a:latin typeface="Arial"/>
                          <a:ea typeface="Arial"/>
                          <a:cs typeface="Arial"/>
                          <a:sym typeface="Arial"/>
                        </a:rPr>
                        <a:t>  nạp skill, smoke test · ~3'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B3A6E"/>
                          </a:solidFill>
                          <a:latin typeface="Arial"/>
                          <a:ea typeface="Arial"/>
                          <a:cs typeface="Arial"/>
                          <a:sym typeface="Arial"/>
                        </a:rPr>
                        <a:t>AI-2</a:t>
                      </a:r>
                      <a:r>
                        <a:rPr b="0" i="0" lang="en-US" sz="1200" u="none" cap="none" strike="noStrike">
                          <a:solidFill>
                            <a:srgbClr val="222222"/>
                          </a:solidFill>
                          <a:latin typeface="Arial"/>
                          <a:ea typeface="Arial"/>
                          <a:cs typeface="Arial"/>
                          <a:sym typeface="Arial"/>
                        </a:rPr>
                        <a:t>  rà Giỏ hàng, đọc báo cáo · ~4'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B3A6E"/>
                          </a:solidFill>
                          <a:latin typeface="Arial"/>
                          <a:ea typeface="Arial"/>
                          <a:cs typeface="Arial"/>
                          <a:sym typeface="Arial"/>
                        </a:rPr>
                        <a:t>AI-3</a:t>
                      </a:r>
                      <a:r>
                        <a:rPr b="0" i="0" lang="en-US" sz="1200" u="none" cap="none" strike="noStrike">
                          <a:solidFill>
                            <a:srgbClr val="222222"/>
                          </a:solidFill>
                          <a:latin typeface="Arial"/>
                          <a:ea typeface="Arial"/>
                          <a:cs typeface="Arial"/>
                          <a:sym typeface="Arial"/>
                        </a:rPr>
                        <a:t>  3 runs × 10 ảnh, đổi sang TodoMVC · ~6'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AI-2: chất vấn vì sao bỏ sót G04, G05, G10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193" name="Google Shape;193;p7"/>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7"/>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7"/>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Tóm tắt chi tiết từng video (nội dung, mốc thời gian, link) nằm trong </a:t>
            </a:r>
            <a:r>
              <a:rPr b="1" i="0" lang="en-US" sz="1400" u="none" cap="none" strike="noStrike">
                <a:solidFill>
                  <a:srgbClr val="111111"/>
                </a:solidFill>
                <a:latin typeface="Arial"/>
                <a:ea typeface="Arial"/>
                <a:cs typeface="Arial"/>
                <a:sym typeface="Arial"/>
              </a:rPr>
              <a:t>Phần 06, 07, 08</a:t>
            </a:r>
            <a:r>
              <a:rPr b="0" i="0" lang="en-US" sz="1400" u="none" cap="none" strike="noStrike">
                <a:solidFill>
                  <a:srgbClr val="111111"/>
                </a:solidFill>
                <a:latin typeface="Arial"/>
                <a:ea typeface="Arial"/>
                <a:cs typeface="Arial"/>
                <a:sym typeface="Arial"/>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cxnSp>
        <p:nvCxnSpPr>
          <p:cNvPr id="201" name="Google Shape;201;p8"/>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202" name="Google Shape;202;p8"/>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203" name="Google Shape;203;p8"/>
          <p:cNvSpPr txBox="1"/>
          <p:nvPr/>
        </p:nvSpPr>
        <p:spPr>
          <a:xfrm>
            <a:off x="548640" y="640080"/>
            <a:ext cx="36576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600" u="none" cap="none" strike="noStrike">
                <a:solidFill>
                  <a:srgbClr val="C8CBD0"/>
                </a:solidFill>
                <a:latin typeface="Arial"/>
                <a:ea typeface="Arial"/>
                <a:cs typeface="Arial"/>
                <a:sym typeface="Arial"/>
              </a:rPr>
              <a:t>02</a:t>
            </a:r>
            <a:endParaRPr/>
          </a:p>
        </p:txBody>
      </p:sp>
      <p:sp>
        <p:nvSpPr>
          <p:cNvPr id="204" name="Google Shape;204;p8"/>
          <p:cNvSpPr txBox="1"/>
          <p:nvPr/>
        </p:nvSpPr>
        <p:spPr>
          <a:xfrm>
            <a:off x="548640" y="2148840"/>
            <a:ext cx="1078992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111111"/>
                </a:solidFill>
                <a:latin typeface="Arial"/>
                <a:ea typeface="Arial"/>
                <a:cs typeface="Arial"/>
                <a:sym typeface="Arial"/>
              </a:rPr>
              <a:t>Lý thuyết GUI Testing</a:t>
            </a:r>
            <a:endParaRPr/>
          </a:p>
        </p:txBody>
      </p:sp>
      <p:cxnSp>
        <p:nvCxnSpPr>
          <p:cNvPr id="205" name="Google Shape;205;p8"/>
          <p:cNvCxnSpPr/>
          <p:nvPr/>
        </p:nvCxnSpPr>
        <p:spPr>
          <a:xfrm>
            <a:off x="548640" y="306324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206" name="Google Shape;206;p8"/>
          <p:cNvSpPr txBox="1"/>
          <p:nvPr/>
        </p:nvSpPr>
        <p:spPr>
          <a:xfrm>
            <a:off x="548640" y="333756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01</a:t>
            </a:r>
            <a:endParaRPr/>
          </a:p>
        </p:txBody>
      </p:sp>
      <p:sp>
        <p:nvSpPr>
          <p:cNvPr id="207" name="Google Shape;207;p8"/>
          <p:cNvSpPr txBox="1"/>
          <p:nvPr/>
        </p:nvSpPr>
        <p:spPr>
          <a:xfrm>
            <a:off x="1188720" y="333756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GUI Testing là gì, kiểm tra những gì</a:t>
            </a:r>
            <a:endParaRPr/>
          </a:p>
        </p:txBody>
      </p:sp>
      <p:sp>
        <p:nvSpPr>
          <p:cNvPr id="208" name="Google Shape;208;p8"/>
          <p:cNvSpPr txBox="1"/>
          <p:nvPr/>
        </p:nvSpPr>
        <p:spPr>
          <a:xfrm>
            <a:off x="548640" y="384048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02</a:t>
            </a:r>
            <a:endParaRPr/>
          </a:p>
        </p:txBody>
      </p:sp>
      <p:sp>
        <p:nvSpPr>
          <p:cNvPr id="209" name="Google Shape;209;p8"/>
          <p:cNvSpPr txBox="1"/>
          <p:nvPr/>
        </p:nvSpPr>
        <p:spPr>
          <a:xfrm>
            <a:off x="1188720" y="384048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Lỗi giao diện hay nằm ở đâu</a:t>
            </a:r>
            <a:endParaRPr/>
          </a:p>
        </p:txBody>
      </p:sp>
      <p:sp>
        <p:nvSpPr>
          <p:cNvPr id="210" name="Google Shape;210;p8"/>
          <p:cNvSpPr txBox="1"/>
          <p:nvPr/>
        </p:nvSpPr>
        <p:spPr>
          <a:xfrm>
            <a:off x="548640" y="434340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03</a:t>
            </a:r>
            <a:endParaRPr/>
          </a:p>
        </p:txBody>
      </p:sp>
      <p:sp>
        <p:nvSpPr>
          <p:cNvPr id="211" name="Google Shape;211;p8"/>
          <p:cNvSpPr txBox="1"/>
          <p:nvPr/>
        </p:nvSpPr>
        <p:spPr>
          <a:xfrm>
            <a:off x="1188720" y="434340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Tự động hóa cái gì, bằng kỹ thuật nào</a:t>
            </a:r>
            <a:endParaRPr/>
          </a:p>
        </p:txBody>
      </p:sp>
      <p:sp>
        <p:nvSpPr>
          <p:cNvPr id="212" name="Google Shape;212;p8"/>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9"/>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GUI Testing là gì?</a:t>
            </a:r>
            <a:endParaRPr/>
          </a:p>
        </p:txBody>
      </p:sp>
      <p:sp>
        <p:nvSpPr>
          <p:cNvPr id="219" name="Google Shape;219;p9"/>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Kiểm tra giao diện </a:t>
            </a:r>
            <a:r>
              <a:rPr b="1" i="0" lang="en-US" sz="1600" u="none" cap="none" strike="noStrike">
                <a:solidFill>
                  <a:srgbClr val="5F6368"/>
                </a:solidFill>
                <a:latin typeface="Arial"/>
                <a:ea typeface="Arial"/>
                <a:cs typeface="Arial"/>
                <a:sym typeface="Arial"/>
              </a:rPr>
              <a:t>hiển thị</a:t>
            </a:r>
            <a:r>
              <a:rPr b="0" i="0" lang="en-US" sz="1600" u="none" cap="none" strike="noStrike">
                <a:solidFill>
                  <a:srgbClr val="5F6368"/>
                </a:solidFill>
                <a:latin typeface="Arial"/>
                <a:ea typeface="Arial"/>
                <a:cs typeface="Arial"/>
                <a:sym typeface="Arial"/>
              </a:rPr>
              <a:t> và </a:t>
            </a:r>
            <a:r>
              <a:rPr b="1" i="0" lang="en-US" sz="1600" u="none" cap="none" strike="noStrike">
                <a:solidFill>
                  <a:srgbClr val="5F6368"/>
                </a:solidFill>
                <a:latin typeface="Arial"/>
                <a:ea typeface="Arial"/>
                <a:cs typeface="Arial"/>
                <a:sym typeface="Arial"/>
              </a:rPr>
              <a:t>phản hồi</a:t>
            </a:r>
            <a:r>
              <a:rPr b="0" i="0" lang="en-US" sz="1600" u="none" cap="none" strike="noStrike">
                <a:solidFill>
                  <a:srgbClr val="5F6368"/>
                </a:solidFill>
                <a:latin typeface="Arial"/>
                <a:ea typeface="Arial"/>
                <a:cs typeface="Arial"/>
                <a:sym typeface="Arial"/>
              </a:rPr>
              <a:t> đúng đặc tả trên mọi thành phần nhìn thấy được — đối chiếu đặc tả, style guide, checklist.</a:t>
            </a:r>
            <a:endParaRPr/>
          </a:p>
        </p:txBody>
      </p:sp>
      <p:sp>
        <p:nvSpPr>
          <p:cNvPr id="220" name="Google Shape;220;p9"/>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02</a:t>
            </a:r>
            <a:endParaRPr/>
          </a:p>
        </p:txBody>
      </p:sp>
      <p:sp>
        <p:nvSpPr>
          <p:cNvPr id="221" name="Google Shape;221;p9"/>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09</a:t>
            </a:r>
            <a:endParaRPr/>
          </a:p>
        </p:txBody>
      </p:sp>
      <p:graphicFrame>
        <p:nvGraphicFramePr>
          <p:cNvPr id="222" name="Google Shape;222;p9"/>
          <p:cNvGraphicFramePr/>
          <p:nvPr/>
        </p:nvGraphicFramePr>
        <p:xfrm>
          <a:off x="548640" y="1874520"/>
          <a:ext cx="3000000" cy="3000000"/>
        </p:xfrm>
        <a:graphic>
          <a:graphicData uri="http://schemas.openxmlformats.org/drawingml/2006/table">
            <a:tbl>
              <a:tblPr>
                <a:noFill/>
                <a:tableStyleId>{A41EB096-C0D3-46DF-A04B-B11FC471E439}</a:tableStyleId>
              </a:tblPr>
              <a:tblGrid>
                <a:gridCol w="5547200"/>
                <a:gridCol w="5547200"/>
              </a:tblGrid>
              <a:tr h="594350">
                <a:tc>
                  <a:txBody>
                    <a:bodyPr/>
                    <a:lstStyle/>
                    <a:p>
                      <a:pPr indent="0" lvl="0" marL="0" marR="0" rtl="0" algn="ctr">
                        <a:spcBef>
                          <a:spcPts val="0"/>
                        </a:spcBef>
                        <a:spcAft>
                          <a:spcPts val="0"/>
                        </a:spcAft>
                        <a:buNone/>
                      </a:pPr>
                      <a:r>
                        <a:rPr b="1" i="0" lang="en-US" sz="1350" u="none" cap="none" strike="noStrike">
                          <a:solidFill>
                            <a:srgbClr val="111111"/>
                          </a:solidFill>
                          <a:latin typeface="Arial"/>
                          <a:ea typeface="Arial"/>
                          <a:cs typeface="Arial"/>
                          <a:sym typeface="Arial"/>
                        </a:rPr>
                        <a:t>Visuals (hiển thị)</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350" u="none" cap="none" strike="noStrike">
                          <a:solidFill>
                            <a:srgbClr val="111111"/>
                          </a:solidFill>
                          <a:latin typeface="Arial"/>
                          <a:ea typeface="Arial"/>
                          <a:cs typeface="Arial"/>
                          <a:sym typeface="Arial"/>
                        </a:rPr>
                        <a:t>Controls (điều khiển)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i="0" lang="en-US" sz="1500" u="none" cap="none" strike="noStrike">
                          <a:solidFill>
                            <a:srgbClr val="222222"/>
                          </a:solidFill>
                          <a:latin typeface="Arial"/>
                          <a:ea typeface="Arial"/>
                          <a:cs typeface="Arial"/>
                          <a:sym typeface="Arial"/>
                        </a:rPr>
                        <a:t>Màu, font, cỡ chữ, bố cục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500" u="none" cap="none" strike="noStrike">
                          <a:solidFill>
                            <a:srgbClr val="222222"/>
                          </a:solidFill>
                          <a:latin typeface="Arial"/>
                          <a:ea typeface="Arial"/>
                          <a:cs typeface="Arial"/>
                          <a:sym typeface="Arial"/>
                        </a:rPr>
                        <a:t>Ô nhập liệu, nút bấm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i="0" lang="en-US" sz="1500" u="none" cap="none" strike="noStrike">
                          <a:solidFill>
                            <a:srgbClr val="222222"/>
                          </a:solidFill>
                          <a:latin typeface="Arial"/>
                          <a:ea typeface="Arial"/>
                          <a:cs typeface="Arial"/>
                          <a:sym typeface="Arial"/>
                        </a:rPr>
                        <a:t>Chính tả, nhãn, thuật ngữ thống nhất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500" u="none" cap="none" strike="noStrike">
                          <a:solidFill>
                            <a:srgbClr val="222222"/>
                          </a:solidFill>
                          <a:latin typeface="Arial"/>
                          <a:ea typeface="Arial"/>
                          <a:cs typeface="Arial"/>
                          <a:sym typeface="Arial"/>
                        </a:rPr>
                        <a:t>Dropdown, checkbox, link, menu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i="0" lang="en-US" sz="1500" u="none" cap="none" strike="noStrike">
                          <a:solidFill>
                            <a:srgbClr val="222222"/>
                          </a:solidFill>
                          <a:latin typeface="Arial"/>
                          <a:ea typeface="Arial"/>
                          <a:cs typeface="Arial"/>
                          <a:sym typeface="Arial"/>
                        </a:rPr>
                        <a:t>Định dạng số và tiền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500" u="none" cap="none" strike="noStrike">
                          <a:solidFill>
                            <a:srgbClr val="222222"/>
                          </a:solidFill>
                          <a:latin typeface="Arial"/>
                          <a:ea typeface="Arial"/>
                          <a:cs typeface="Arial"/>
                          <a:sym typeface="Arial"/>
                        </a:rPr>
                        <a:t>Thông báo lỗi, dialog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223" name="Google Shape;223;p9"/>
          <p:cNvSpPr/>
          <p:nvPr/>
        </p:nvSpPr>
        <p:spPr>
          <a:xfrm>
            <a:off x="548640" y="5687568"/>
            <a:ext cx="11094300" cy="567000"/>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9"/>
          <p:cNvSpPr/>
          <p:nvPr/>
        </p:nvSpPr>
        <p:spPr>
          <a:xfrm>
            <a:off x="548640" y="5687568"/>
            <a:ext cx="63900" cy="567000"/>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9"/>
          <p:cNvSpPr txBox="1"/>
          <p:nvPr/>
        </p:nvSpPr>
        <p:spPr>
          <a:xfrm>
            <a:off x="804672" y="5687568"/>
            <a:ext cx="10728600" cy="567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Visuals = "trông có đúng không"  ·  Controls = "bấm / nhập vào có phản hồi đúng không".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0"/>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Lỗi giao diện hay nằm ở đâu?</a:t>
            </a:r>
            <a:endParaRPr/>
          </a:p>
        </p:txBody>
      </p:sp>
      <p:sp>
        <p:nvSpPr>
          <p:cNvPr id="232" name="Google Shape;232;p10"/>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02</a:t>
            </a:r>
            <a:endParaRPr/>
          </a:p>
        </p:txBody>
      </p:sp>
      <p:sp>
        <p:nvSpPr>
          <p:cNvPr id="233" name="Google Shape;233;p10"/>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10</a:t>
            </a:r>
            <a:endParaRPr/>
          </a:p>
        </p:txBody>
      </p:sp>
      <p:graphicFrame>
        <p:nvGraphicFramePr>
          <p:cNvPr id="234" name="Google Shape;234;p10"/>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2773600"/>
                <a:gridCol w="6286825"/>
                <a:gridCol w="2033975"/>
              </a:tblGrid>
              <a:tr h="5303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Chỗ hay có lỗi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Ví dụ thật trên EShop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Ground truth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Phản hồi sau thao tác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"Thêm vào giỏ" không có toast, phải bấm 2 lần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G10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Hành động nguy hiểm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Bấm "Xóa" là mất luôn, không hỏi lại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G02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Ô nhập liệu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Mật khẩu hiện rõ; ô tổng tiền sửa được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G11 · G06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Tính nhất quán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"Thoát" thay vì "Đăng xuất"; nút thanh toán xanh lá</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G07 · G04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Cấu trúc không nhìn thấy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Trang không có thẻ </a:t>
                      </a:r>
                      <a:r>
                        <a:rPr b="0" i="0" lang="en-US" sz="1300" u="none" cap="none" strike="noStrike">
                          <a:solidFill>
                            <a:srgbClr val="222222"/>
                          </a:solidFill>
                          <a:latin typeface="Consolas"/>
                          <a:ea typeface="Consolas"/>
                          <a:cs typeface="Consolas"/>
                          <a:sym typeface="Consolas"/>
                        </a:rPr>
                        <a:t>&lt;h1&gt;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G05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235" name="Google Shape;235;p10"/>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10"/>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10"/>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GUI testing khó vì người dùng bấm bất kỳ đâu, theo bất kỳ thứ tự nào, và giao diện đổi liên tục.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1"/>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Chiến lược tự động hóa: tự động cái gì?</a:t>
            </a:r>
            <a:endParaRPr/>
          </a:p>
        </p:txBody>
      </p:sp>
      <p:sp>
        <p:nvSpPr>
          <p:cNvPr id="244" name="Google Shape;244;p11"/>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5F6368"/>
                </a:solidFill>
                <a:latin typeface="Arial"/>
                <a:ea typeface="Arial"/>
                <a:cs typeface="Arial"/>
                <a:sym typeface="Arial"/>
              </a:rPr>
              <a:t>Nguyên lý Pareto:</a:t>
            </a:r>
            <a:r>
              <a:rPr b="0" i="0" lang="en-US" sz="1600" u="none" cap="none" strike="noStrike">
                <a:solidFill>
                  <a:srgbClr val="5F6368"/>
                </a:solidFill>
                <a:latin typeface="Arial"/>
                <a:ea typeface="Arial"/>
                <a:cs typeface="Arial"/>
                <a:sym typeface="Arial"/>
              </a:rPr>
              <a:t> khoảng 80% lợi ích đến từ 20% số test được chọn đúng.</a:t>
            </a:r>
            <a:endParaRPr/>
          </a:p>
        </p:txBody>
      </p:sp>
      <p:sp>
        <p:nvSpPr>
          <p:cNvPr id="245" name="Google Shape;245;p11"/>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02</a:t>
            </a:r>
            <a:endParaRPr/>
          </a:p>
        </p:txBody>
      </p:sp>
      <p:sp>
        <p:nvSpPr>
          <p:cNvPr id="246" name="Google Shape;246;p11"/>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11</a:t>
            </a:r>
            <a:endParaRPr/>
          </a:p>
        </p:txBody>
      </p:sp>
      <p:sp>
        <p:nvSpPr>
          <p:cNvPr id="247" name="Google Shape;247;p11"/>
          <p:cNvSpPr txBox="1"/>
          <p:nvPr/>
        </p:nvSpPr>
        <p:spPr>
          <a:xfrm>
            <a:off x="548640" y="1874520"/>
            <a:ext cx="5341468"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11111"/>
                </a:solidFill>
                <a:latin typeface="Arial"/>
                <a:ea typeface="Arial"/>
                <a:cs typeface="Arial"/>
                <a:sym typeface="Arial"/>
              </a:rPr>
              <a:t>Nên tự động</a:t>
            </a:r>
            <a:endParaRPr/>
          </a:p>
        </p:txBody>
      </p:sp>
      <p:sp>
        <p:nvSpPr>
          <p:cNvPr id="248" name="Google Shape;248;p11"/>
          <p:cNvSpPr txBox="1"/>
          <p:nvPr/>
        </p:nvSpPr>
        <p:spPr>
          <a:xfrm>
            <a:off x="548640" y="2651760"/>
            <a:ext cx="5341468" cy="2834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Quy tắc lặp lại mọi trang (</a:t>
            </a:r>
            <a:r>
              <a:rPr b="0" i="0" lang="en-US" sz="1400" u="none" cap="none" strike="noStrike">
                <a:solidFill>
                  <a:srgbClr val="222222"/>
                </a:solidFill>
                <a:latin typeface="Consolas"/>
                <a:ea typeface="Consolas"/>
                <a:cs typeface="Consolas"/>
                <a:sym typeface="Consolas"/>
              </a:rPr>
              <a:t>&lt;h1&gt;</a:t>
            </a:r>
            <a:r>
              <a:rPr b="0" i="0" lang="en-US" sz="1500" u="none" cap="none" strike="noStrike">
                <a:solidFill>
                  <a:srgbClr val="222222"/>
                </a:solidFill>
                <a:latin typeface="Arial"/>
                <a:ea typeface="Arial"/>
                <a:cs typeface="Arial"/>
                <a:sym typeface="Arial"/>
              </a:rPr>
              <a:t>, </a:t>
            </a:r>
            <a:r>
              <a:rPr b="0" i="0" lang="en-US" sz="1400" u="none" cap="none" strike="noStrike">
                <a:solidFill>
                  <a:srgbClr val="222222"/>
                </a:solidFill>
                <a:latin typeface="Consolas"/>
                <a:ea typeface="Consolas"/>
                <a:cs typeface="Consolas"/>
                <a:sym typeface="Consolas"/>
              </a:rPr>
              <a:t>alt</a:t>
            </a:r>
            <a:r>
              <a:rPr b="0" i="0" lang="en-US" sz="1500" u="none" cap="none" strike="noStrike">
                <a:solidFill>
                  <a:srgbClr val="222222"/>
                </a:solidFill>
                <a:latin typeface="Arial"/>
                <a:ea typeface="Arial"/>
                <a:cs typeface="Arial"/>
                <a:sym typeface="Arial"/>
              </a:rPr>
              <a:t>, định dạng giá)</a:t>
            </a:r>
            <a:endParaRPr/>
          </a:p>
          <a:p>
            <a:pPr indent="0" lvl="0" marL="0" marR="0" rtl="0" algn="l">
              <a:spcBef>
                <a:spcPts val="1000"/>
              </a:spcBef>
              <a:spcAft>
                <a:spcPts val="0"/>
              </a:spcAft>
              <a:buNone/>
            </a:pPr>
            <a:r>
              <a:rPr b="0" i="0" lang="en-US" sz="1500" u="none" cap="none" strike="noStrike">
                <a:solidFill>
                  <a:srgbClr val="222222"/>
                </a:solidFill>
                <a:latin typeface="Arial"/>
                <a:ea typeface="Arial"/>
                <a:cs typeface="Arial"/>
                <a:sym typeface="Arial"/>
              </a:rPr>
              <a:t>Hồi quy giao diện sau mỗi lần sửa code</a:t>
            </a:r>
            <a:endParaRPr/>
          </a:p>
          <a:p>
            <a:pPr indent="0" lvl="0" marL="0" marR="0" rtl="0" algn="l">
              <a:spcBef>
                <a:spcPts val="1000"/>
              </a:spcBef>
              <a:spcAft>
                <a:spcPts val="0"/>
              </a:spcAft>
              <a:buNone/>
            </a:pPr>
            <a:r>
              <a:rPr b="0" i="0" lang="en-US" sz="1500" u="none" cap="none" strike="noStrike">
                <a:solidFill>
                  <a:srgbClr val="222222"/>
                </a:solidFill>
                <a:latin typeface="Arial"/>
                <a:ea typeface="Arial"/>
                <a:cs typeface="Arial"/>
                <a:sym typeface="Arial"/>
              </a:rPr>
              <a:t>Chạy cùng kiểm tra trên nhiều viewport</a:t>
            </a:r>
            <a:endParaRPr/>
          </a:p>
          <a:p>
            <a:pPr indent="0" lvl="0" marL="0" marR="0" rtl="0" algn="l">
              <a:spcBef>
                <a:spcPts val="1000"/>
              </a:spcBef>
              <a:spcAft>
                <a:spcPts val="0"/>
              </a:spcAft>
              <a:buNone/>
            </a:pPr>
            <a:r>
              <a:rPr b="0" i="0" lang="en-US" sz="1500" u="none" cap="none" strike="noStrike">
                <a:solidFill>
                  <a:srgbClr val="222222"/>
                </a:solidFill>
                <a:latin typeface="Arial"/>
                <a:ea typeface="Arial"/>
                <a:cs typeface="Arial"/>
                <a:sym typeface="Arial"/>
              </a:rPr>
              <a:t>Quét accessibility tự động</a:t>
            </a:r>
            <a:endParaRPr/>
          </a:p>
        </p:txBody>
      </p:sp>
      <p:cxnSp>
        <p:nvCxnSpPr>
          <p:cNvPr id="249" name="Google Shape;249;p11"/>
          <p:cNvCxnSpPr/>
          <p:nvPr/>
        </p:nvCxnSpPr>
        <p:spPr>
          <a:xfrm>
            <a:off x="6095848" y="1874520"/>
            <a:ext cx="0" cy="365760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250" name="Google Shape;250;p11"/>
          <p:cNvSpPr txBox="1"/>
          <p:nvPr/>
        </p:nvSpPr>
        <p:spPr>
          <a:xfrm>
            <a:off x="6301588" y="1874520"/>
            <a:ext cx="5341468"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11111"/>
                </a:solidFill>
                <a:latin typeface="Arial"/>
                <a:ea typeface="Arial"/>
                <a:cs typeface="Arial"/>
                <a:sym typeface="Arial"/>
              </a:rPr>
              <a:t>Nên giữ thủ công</a:t>
            </a:r>
            <a:endParaRPr/>
          </a:p>
        </p:txBody>
      </p:sp>
      <p:sp>
        <p:nvSpPr>
          <p:cNvPr id="251" name="Google Shape;251;p11"/>
          <p:cNvSpPr txBox="1"/>
          <p:nvPr/>
        </p:nvSpPr>
        <p:spPr>
          <a:xfrm>
            <a:off x="6301588" y="2651760"/>
            <a:ext cx="5341468" cy="2834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Kiểm thử khám phá (exploratory)</a:t>
            </a:r>
            <a:endParaRPr/>
          </a:p>
          <a:p>
            <a:pPr indent="0" lvl="0" marL="0" marR="0" rtl="0" algn="l">
              <a:spcBef>
                <a:spcPts val="1000"/>
              </a:spcBef>
              <a:spcAft>
                <a:spcPts val="0"/>
              </a:spcAft>
              <a:buNone/>
            </a:pPr>
            <a:r>
              <a:rPr b="0" i="0" lang="en-US" sz="1500" u="none" cap="none" strike="noStrike">
                <a:solidFill>
                  <a:srgbClr val="222222"/>
                </a:solidFill>
                <a:latin typeface="Arial"/>
                <a:ea typeface="Arial"/>
                <a:cs typeface="Arial"/>
                <a:sym typeface="Arial"/>
              </a:rPr>
              <a:t>Đánh giá "đẹp / dễ dùng"</a:t>
            </a:r>
            <a:endParaRPr/>
          </a:p>
          <a:p>
            <a:pPr indent="0" lvl="0" marL="0" marR="0" rtl="0" algn="l">
              <a:spcBef>
                <a:spcPts val="1000"/>
              </a:spcBef>
              <a:spcAft>
                <a:spcPts val="0"/>
              </a:spcAft>
              <a:buNone/>
            </a:pPr>
            <a:r>
              <a:rPr b="0" i="0" lang="en-US" sz="1500" u="none" cap="none" strike="noStrike">
                <a:solidFill>
                  <a:srgbClr val="222222"/>
                </a:solidFill>
                <a:latin typeface="Arial"/>
                <a:ea typeface="Arial"/>
                <a:cs typeface="Arial"/>
                <a:sym typeface="Arial"/>
              </a:rPr>
              <a:t>Giao diện còn thay đổi liên tục</a:t>
            </a:r>
            <a:endParaRPr/>
          </a:p>
          <a:p>
            <a:pPr indent="0" lvl="0" marL="0" marR="0" rtl="0" algn="l">
              <a:spcBef>
                <a:spcPts val="1000"/>
              </a:spcBef>
              <a:spcAft>
                <a:spcPts val="0"/>
              </a:spcAft>
              <a:buNone/>
            </a:pPr>
            <a:r>
              <a:rPr b="0" i="0" lang="en-US" sz="1500" u="none" cap="none" strike="noStrike">
                <a:solidFill>
                  <a:srgbClr val="222222"/>
                </a:solidFill>
                <a:latin typeface="Arial"/>
                <a:ea typeface="Arial"/>
                <a:cs typeface="Arial"/>
                <a:sym typeface="Arial"/>
              </a:rPr>
              <a:t>Tương tác phức tạp: kéo thả, animation</a:t>
            </a:r>
            <a:endParaRPr/>
          </a:p>
        </p:txBody>
      </p:sp>
      <p:sp>
        <p:nvSpPr>
          <p:cNvPr id="252" name="Google Shape;252;p11"/>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1"/>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11"/>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Phần 03 phân loại từng câu checklist thành </a:t>
            </a:r>
            <a:r>
              <a:rPr b="1" i="0" lang="en-US" sz="1400" u="none" cap="none" strike="noStrike">
                <a:solidFill>
                  <a:srgbClr val="111111"/>
                </a:solidFill>
                <a:latin typeface="Arial"/>
                <a:ea typeface="Arial"/>
                <a:cs typeface="Arial"/>
                <a:sym typeface="Arial"/>
              </a:rPr>
              <a:t>Tự động / Bán tự động / Thủ công</a:t>
            </a:r>
            <a:r>
              <a:rPr b="0" i="0" lang="en-US" sz="1400" u="none" cap="none" strike="noStrike">
                <a:solidFill>
                  <a:srgbClr val="111111"/>
                </a:solidFill>
                <a:latin typeface="Arial"/>
                <a:ea typeface="Arial"/>
                <a:cs typeface="Arial"/>
                <a:sym typeface="Arial"/>
              </a:rPr>
              <a:t> theo đúng tiêu chí này.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2"/>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Bộ kỹ thuật nhóm dùng</a:t>
            </a:r>
            <a:endParaRPr/>
          </a:p>
        </p:txBody>
      </p:sp>
      <p:sp>
        <p:nvSpPr>
          <p:cNvPr id="261" name="Google Shape;261;p12"/>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02</a:t>
            </a:r>
            <a:endParaRPr/>
          </a:p>
        </p:txBody>
      </p:sp>
      <p:sp>
        <p:nvSpPr>
          <p:cNvPr id="262" name="Google Shape;262;p12"/>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12</a:t>
            </a:r>
            <a:endParaRPr/>
          </a:p>
        </p:txBody>
      </p:sp>
      <p:graphicFrame>
        <p:nvGraphicFramePr>
          <p:cNvPr id="263" name="Google Shape;263;p12"/>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4399500"/>
                <a:gridCol w="4399500"/>
                <a:gridCol w="2295400"/>
              </a:tblGrid>
              <a:tr h="5486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Kỹ thuật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Bắt được gì</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Demo ở</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Record &amp; Playback → </a:t>
                      </a:r>
                      <a:r>
                        <a:rPr b="1" i="0" lang="en-US" sz="1400" u="none" cap="none" strike="noStrike">
                          <a:solidFill>
                            <a:srgbClr val="222222"/>
                          </a:solidFill>
                          <a:latin typeface="Arial"/>
                          <a:ea typeface="Arial"/>
                          <a:cs typeface="Arial"/>
                          <a:sym typeface="Arial"/>
                        </a:rPr>
                        <a:t>Page Object Model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Test bền khi giao diện đổi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Phần 06 · PW-2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Visual regression</a:t>
                      </a:r>
                      <a:r>
                        <a:rPr b="0" i="0" lang="en-US" sz="1400" u="none" cap="none" strike="noStrike">
                          <a:solidFill>
                            <a:srgbClr val="222222"/>
                          </a:solidFill>
                          <a:latin typeface="Arial"/>
                          <a:ea typeface="Arial"/>
                          <a:cs typeface="Arial"/>
                          <a:sym typeface="Arial"/>
                        </a:rPr>
                        <a:t> (</a:t>
                      </a:r>
                      <a:r>
                        <a:rPr b="0" i="0" lang="en-US" sz="1300" u="none" cap="none" strike="noStrike">
                          <a:solidFill>
                            <a:srgbClr val="222222"/>
                          </a:solidFill>
                          <a:latin typeface="Consolas"/>
                          <a:ea typeface="Consolas"/>
                          <a:cs typeface="Consolas"/>
                          <a:sym typeface="Consolas"/>
                        </a:rPr>
                        <a:t>toHaveScreenshot</a:t>
                      </a:r>
                      <a:r>
                        <a:rPr b="0" i="0" lang="en-US" sz="1400" u="none" cap="none" strike="noStrike">
                          <a:solidFill>
                            <a:srgbClr val="222222"/>
                          </a:solidFill>
                          <a:latin typeface="Arial"/>
                          <a:ea typeface="Arial"/>
                          <a:cs typeface="Arial"/>
                          <a:sym typeface="Arial"/>
                        </a:rPr>
                        <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Lệch bố cục, mất phần tử, sai màu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Phần 06 · PW-3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Accessibility</a:t>
                      </a:r>
                      <a:r>
                        <a:rPr b="0" i="0" lang="en-US" sz="1400" u="none" cap="none" strike="noStrike">
                          <a:solidFill>
                            <a:srgbClr val="222222"/>
                          </a:solidFill>
                          <a:latin typeface="Arial"/>
                          <a:ea typeface="Arial"/>
                          <a:cs typeface="Arial"/>
                          <a:sym typeface="Arial"/>
                        </a:rPr>
                        <a:t> WCAG 2.2 (axe-core)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Thiếu </a:t>
                      </a:r>
                      <a:r>
                        <a:rPr b="0" i="0" lang="en-US" sz="1300" u="none" cap="none" strike="noStrike">
                          <a:solidFill>
                            <a:srgbClr val="222222"/>
                          </a:solidFill>
                          <a:latin typeface="Consolas"/>
                          <a:ea typeface="Consolas"/>
                          <a:cs typeface="Consolas"/>
                          <a:sym typeface="Consolas"/>
                        </a:rPr>
                        <a:t>alt</a:t>
                      </a:r>
                      <a:r>
                        <a:rPr b="0" i="0" lang="en-US" sz="1400" u="none" cap="none" strike="noStrike">
                          <a:solidFill>
                            <a:srgbClr val="222222"/>
                          </a:solidFill>
                          <a:latin typeface="Arial"/>
                          <a:ea typeface="Arial"/>
                          <a:cs typeface="Arial"/>
                          <a:sym typeface="Arial"/>
                        </a:rPr>
                        <a:t>, tương phản kém, thiếu nhãn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Phần 06 · PW-3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Nhiều viewport</a:t>
                      </a:r>
                      <a:r>
                        <a:rPr b="0" i="0" lang="en-US" sz="1400" u="none" cap="none" strike="noStrike">
                          <a:solidFill>
                            <a:srgbClr val="222222"/>
                          </a:solidFill>
                          <a:latin typeface="Arial"/>
                          <a:ea typeface="Arial"/>
                          <a:cs typeface="Arial"/>
                          <a:sym typeface="Arial"/>
                        </a:rPr>
                        <a:t> 375 · 768 · 1440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Vỡ bố cục trên mobile, tablet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Phần 06 · PW-3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LLM có vision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Vi phạm heuristic nhìn thấy trên ảnh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Phần 08 · AI-1..3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cxnSp>
        <p:nvCxnSpPr>
          <p:cNvPr id="269" name="Google Shape;269;p13"/>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270" name="Google Shape;270;p13"/>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271" name="Google Shape;271;p13"/>
          <p:cNvSpPr txBox="1"/>
          <p:nvPr/>
        </p:nvSpPr>
        <p:spPr>
          <a:xfrm>
            <a:off x="548640" y="640080"/>
            <a:ext cx="36576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600" u="none" cap="none" strike="noStrike">
                <a:solidFill>
                  <a:srgbClr val="C8CBD0"/>
                </a:solidFill>
                <a:latin typeface="Arial"/>
                <a:ea typeface="Arial"/>
                <a:cs typeface="Arial"/>
                <a:sym typeface="Arial"/>
              </a:rPr>
              <a:t>03</a:t>
            </a:r>
            <a:endParaRPr/>
          </a:p>
        </p:txBody>
      </p:sp>
      <p:sp>
        <p:nvSpPr>
          <p:cNvPr id="272" name="Google Shape;272;p13"/>
          <p:cNvSpPr txBox="1"/>
          <p:nvPr/>
        </p:nvSpPr>
        <p:spPr>
          <a:xfrm>
            <a:off x="548640" y="2148840"/>
            <a:ext cx="1078992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111111"/>
                </a:solidFill>
                <a:latin typeface="Arial"/>
                <a:ea typeface="Arial"/>
                <a:cs typeface="Arial"/>
                <a:sym typeface="Arial"/>
              </a:rPr>
              <a:t>Checklist 50 câu trên EShop</a:t>
            </a:r>
            <a:endParaRPr/>
          </a:p>
        </p:txBody>
      </p:sp>
      <p:cxnSp>
        <p:nvCxnSpPr>
          <p:cNvPr id="273" name="Google Shape;273;p13"/>
          <p:cNvCxnSpPr/>
          <p:nvPr/>
        </p:nvCxnSpPr>
        <p:spPr>
          <a:xfrm>
            <a:off x="548640" y="306324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274" name="Google Shape;274;p13"/>
          <p:cNvSpPr txBox="1"/>
          <p:nvPr/>
        </p:nvSpPr>
        <p:spPr>
          <a:xfrm>
            <a:off x="548640" y="333756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01</a:t>
            </a:r>
            <a:endParaRPr/>
          </a:p>
        </p:txBody>
      </p:sp>
      <p:sp>
        <p:nvSpPr>
          <p:cNvPr id="275" name="Google Shape;275;p13"/>
          <p:cNvSpPr txBox="1"/>
          <p:nvPr/>
        </p:nvSpPr>
        <p:spPr>
          <a:xfrm>
            <a:off x="1188720" y="333756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Checklist dùng chung, áp dụng trên luồng mua hàng</a:t>
            </a:r>
            <a:endParaRPr/>
          </a:p>
        </p:txBody>
      </p:sp>
      <p:sp>
        <p:nvSpPr>
          <p:cNvPr id="276" name="Google Shape;276;p13"/>
          <p:cNvSpPr txBox="1"/>
          <p:nvPr/>
        </p:nvSpPr>
        <p:spPr>
          <a:xfrm>
            <a:off x="548640" y="384048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02</a:t>
            </a:r>
            <a:endParaRPr/>
          </a:p>
        </p:txBody>
      </p:sp>
      <p:sp>
        <p:nvSpPr>
          <p:cNvPr id="277" name="Google Shape;277;p13"/>
          <p:cNvSpPr txBox="1"/>
          <p:nvPr/>
        </p:nvSpPr>
        <p:spPr>
          <a:xfrm>
            <a:off x="1188720" y="384048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Câu hỏi tiêu biểu và lỗi tìm được</a:t>
            </a:r>
            <a:endParaRPr/>
          </a:p>
        </p:txBody>
      </p:sp>
      <p:sp>
        <p:nvSpPr>
          <p:cNvPr id="278" name="Google Shape;278;p13"/>
          <p:cNvSpPr txBox="1"/>
          <p:nvPr/>
        </p:nvSpPr>
        <p:spPr>
          <a:xfrm>
            <a:off x="548640" y="434340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03</a:t>
            </a:r>
            <a:endParaRPr/>
          </a:p>
        </p:txBody>
      </p:sp>
      <p:sp>
        <p:nvSpPr>
          <p:cNvPr id="279" name="Google Shape;279;p13"/>
          <p:cNvSpPr txBox="1"/>
          <p:nvPr/>
        </p:nvSpPr>
        <p:spPr>
          <a:xfrm>
            <a:off x="1188720" y="434340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Câu nào máy kiểm được → chuyển sang Playwright</a:t>
            </a:r>
            <a:endParaRPr/>
          </a:p>
        </p:txBody>
      </p:sp>
      <p:sp>
        <p:nvSpPr>
          <p:cNvPr id="280" name="Google Shape;280;p13"/>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Checklist: câu hỏi có / không theo từng control</a:t>
            </a:r>
            <a:endParaRPr/>
          </a:p>
        </p:txBody>
      </p:sp>
      <p:sp>
        <p:nvSpPr>
          <p:cNvPr id="287" name="Google Shape;287;p14"/>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Mỗi câu ghi: kết quả · ảnh minh chứng · FR / heuristic · </a:t>
            </a:r>
            <a:r>
              <a:rPr b="1" i="0" lang="en-US" sz="1600" u="none" cap="none" strike="noStrike">
                <a:solidFill>
                  <a:srgbClr val="5F6368"/>
                </a:solidFill>
                <a:latin typeface="Arial"/>
                <a:ea typeface="Arial"/>
                <a:cs typeface="Arial"/>
                <a:sym typeface="Arial"/>
              </a:rPr>
              <a:t>máy kiểm được không</a:t>
            </a:r>
            <a:r>
              <a:rPr b="0" i="0" lang="en-US" sz="1600" u="none" cap="none" strike="noStrike">
                <a:solidFill>
                  <a:srgbClr val="5F6368"/>
                </a:solidFill>
                <a:latin typeface="Arial"/>
                <a:ea typeface="Arial"/>
                <a:cs typeface="Arial"/>
                <a:sym typeface="Arial"/>
              </a:rPr>
              <a:t>.</a:t>
            </a:r>
            <a:endParaRPr/>
          </a:p>
        </p:txBody>
      </p:sp>
      <p:sp>
        <p:nvSpPr>
          <p:cNvPr id="288" name="Google Shape;288;p14"/>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03</a:t>
            </a:r>
            <a:endParaRPr/>
          </a:p>
        </p:txBody>
      </p:sp>
      <p:sp>
        <p:nvSpPr>
          <p:cNvPr id="289" name="Google Shape;289;p14"/>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14</a:t>
            </a:r>
            <a:endParaRPr/>
          </a:p>
        </p:txBody>
      </p:sp>
      <p:graphicFrame>
        <p:nvGraphicFramePr>
          <p:cNvPr id="290" name="Google Shape;290;p14"/>
          <p:cNvGraphicFramePr/>
          <p:nvPr/>
        </p:nvGraphicFramePr>
        <p:xfrm>
          <a:off x="548640" y="1874520"/>
          <a:ext cx="3000000" cy="3000000"/>
        </p:xfrm>
        <a:graphic>
          <a:graphicData uri="http://schemas.openxmlformats.org/drawingml/2006/table">
            <a:tbl>
              <a:tblPr>
                <a:noFill/>
                <a:tableStyleId>{A41EB096-C0D3-46DF-A04B-B11FC471E439}</a:tableStyleId>
              </a:tblPr>
              <a:tblGrid>
                <a:gridCol w="778550"/>
                <a:gridCol w="6228450"/>
                <a:gridCol w="2335675"/>
                <a:gridCol w="1751750"/>
              </a:tblGrid>
              <a:tr h="5303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Câu hỏi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Trang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Kết quả</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Giá dùng </a:t>
                      </a:r>
                      <a:r>
                        <a:rPr b="0" i="0" lang="en-US" sz="1300" u="none" cap="none" strike="noStrike">
                          <a:solidFill>
                            <a:srgbClr val="222222"/>
                          </a:solidFill>
                          <a:latin typeface="Consolas"/>
                          <a:ea typeface="Consolas"/>
                          <a:cs typeface="Consolas"/>
                          <a:sym typeface="Consolas"/>
                        </a:rPr>
                        <a:t>₫</a:t>
                      </a:r>
                      <a:r>
                        <a:rPr b="0" i="0" lang="en-US" sz="1400" u="none" cap="none" strike="noStrike">
                          <a:solidFill>
                            <a:srgbClr val="222222"/>
                          </a:solidFill>
                          <a:latin typeface="Arial"/>
                          <a:ea typeface="Arial"/>
                          <a:cs typeface="Arial"/>
                          <a:sym typeface="Arial"/>
                        </a:rPr>
                        <a:t> và phân cách hàng nghìn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Giỏ hàng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400" u="none" cap="none" strike="noStrike">
                          <a:solidFill>
                            <a:srgbClr val="2E7D32"/>
                          </a:solidFill>
                          <a:latin typeface="Arial"/>
                          <a:ea typeface="Arial"/>
                          <a:cs typeface="Arial"/>
                          <a:sym typeface="Arial"/>
                        </a:rPr>
                        <a:t>Pass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Ô mật khẩu dùng </a:t>
                      </a:r>
                      <a:r>
                        <a:rPr b="0" i="0" lang="en-US" sz="1300" u="none" cap="none" strike="noStrike">
                          <a:solidFill>
                            <a:srgbClr val="222222"/>
                          </a:solidFill>
                          <a:latin typeface="Consolas"/>
                          <a:ea typeface="Consolas"/>
                          <a:cs typeface="Consolas"/>
                          <a:sym typeface="Consolas"/>
                        </a:rPr>
                        <a:t>type="password"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Đăng nhập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400" u="none" cap="none" strike="noStrike">
                          <a:solidFill>
                            <a:srgbClr val="C62828"/>
                          </a:solidFill>
                          <a:latin typeface="Arial"/>
                          <a:ea typeface="Arial"/>
                          <a:cs typeface="Arial"/>
                          <a:sym typeface="Arial"/>
                        </a:rPr>
                        <a:t>Fail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17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Xóa sản phẩm có dialog xác nhận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Giỏ hàng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400" u="none" cap="none" strike="noStrike">
                          <a:solidFill>
                            <a:srgbClr val="C62828"/>
                          </a:solidFill>
                          <a:latin typeface="Arial"/>
                          <a:ea typeface="Arial"/>
                          <a:cs typeface="Arial"/>
                          <a:sym typeface="Arial"/>
                        </a:rPr>
                        <a:t>Fail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22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Ô tổng tiền không cho sửa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Thanh toán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400" u="none" cap="none" strike="noStrike">
                          <a:solidFill>
                            <a:srgbClr val="C62828"/>
                          </a:solidFill>
                          <a:latin typeface="Arial"/>
                          <a:ea typeface="Arial"/>
                          <a:cs typeface="Arial"/>
                          <a:sym typeface="Arial"/>
                        </a:rPr>
                        <a:t>Fail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49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"Thêm vào giỏ" phản hồi sau 1 lần bấm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Chi tiết SP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400" u="none" cap="none" strike="noStrike">
                          <a:solidFill>
                            <a:srgbClr val="C62828"/>
                          </a:solidFill>
                          <a:latin typeface="Arial"/>
                          <a:ea typeface="Arial"/>
                          <a:cs typeface="Arial"/>
                          <a:sym typeface="Arial"/>
                        </a:rPr>
                        <a:t>Fail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5"/>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Câu 22 Fail: ô tổng tiền sửa được (H5)</a:t>
            </a:r>
            <a:endParaRPr/>
          </a:p>
        </p:txBody>
      </p:sp>
      <p:sp>
        <p:nvSpPr>
          <p:cNvPr id="297" name="Google Shape;297;p15"/>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03</a:t>
            </a:r>
            <a:endParaRPr/>
          </a:p>
        </p:txBody>
      </p:sp>
      <p:sp>
        <p:nvSpPr>
          <p:cNvPr id="298" name="Google Shape;298;p15"/>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15</a:t>
            </a:r>
            <a:endParaRPr/>
          </a:p>
        </p:txBody>
      </p:sp>
      <p:sp>
        <p:nvSpPr>
          <p:cNvPr id="299" name="Google Shape;299;p15"/>
          <p:cNvSpPr/>
          <p:nvPr/>
        </p:nvSpPr>
        <p:spPr>
          <a:xfrm>
            <a:off x="6417936" y="1179576"/>
            <a:ext cx="5086368" cy="5047488"/>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20261015-fail-tong-tien-readonly.png" id="300" name="Google Shape;300;p15"/>
          <p:cNvPicPr preferRelativeResize="0"/>
          <p:nvPr/>
        </p:nvPicPr>
        <p:blipFill rotWithShape="1">
          <a:blip r:embed="rId3">
            <a:alphaModFix/>
          </a:blip>
          <a:srcRect b="0" l="0" r="0" t="0"/>
          <a:stretch/>
        </p:blipFill>
        <p:spPr>
          <a:xfrm>
            <a:off x="6472800" y="1234440"/>
            <a:ext cx="4976640" cy="4937760"/>
          </a:xfrm>
          <a:prstGeom prst="rect">
            <a:avLst/>
          </a:prstGeom>
          <a:noFill/>
          <a:ln>
            <a:noFill/>
          </a:ln>
        </p:spPr>
      </p:pic>
      <p:sp>
        <p:nvSpPr>
          <p:cNvPr id="301" name="Google Shape;301;p15"/>
          <p:cNvSpPr/>
          <p:nvPr/>
        </p:nvSpPr>
        <p:spPr>
          <a:xfrm>
            <a:off x="548640" y="1325880"/>
            <a:ext cx="5212080" cy="1280160"/>
          </a:xfrm>
          <a:prstGeom prst="foldedCorner">
            <a:avLst>
              <a:gd fmla="val 16667" name="adj"/>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15"/>
          <p:cNvSpPr txBox="1"/>
          <p:nvPr/>
        </p:nvSpPr>
        <p:spPr>
          <a:xfrm>
            <a:off x="749808" y="1463040"/>
            <a:ext cx="47548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Câu hỏi #22</a:t>
            </a:r>
            <a:endParaRPr/>
          </a:p>
        </p:txBody>
      </p:sp>
      <p:sp>
        <p:nvSpPr>
          <p:cNvPr id="303" name="Google Shape;303;p15"/>
          <p:cNvSpPr txBox="1"/>
          <p:nvPr/>
        </p:nvSpPr>
        <p:spPr>
          <a:xfrm>
            <a:off x="749808" y="1856232"/>
            <a:ext cx="475488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Ô "Tổng tiền thanh toán" ở </a:t>
            </a:r>
            <a:r>
              <a:rPr b="0" i="0" lang="en-US" sz="1300" u="none" cap="none" strike="noStrike">
                <a:solidFill>
                  <a:srgbClr val="222222"/>
                </a:solidFill>
                <a:latin typeface="Consolas"/>
                <a:ea typeface="Consolas"/>
                <a:cs typeface="Consolas"/>
                <a:sym typeface="Consolas"/>
              </a:rPr>
              <a:t>/checkout</a:t>
            </a:r>
            <a:r>
              <a:rPr b="0" i="0" lang="en-US" sz="1400" u="none" cap="none" strike="noStrike">
                <a:solidFill>
                  <a:srgbClr val="222222"/>
                </a:solidFill>
                <a:latin typeface="Arial"/>
                <a:ea typeface="Arial"/>
                <a:cs typeface="Arial"/>
                <a:sym typeface="Arial"/>
              </a:rPr>
              <a:t> có khóa chỉ đọc không?</a:t>
            </a:r>
            <a:endParaRPr/>
          </a:p>
        </p:txBody>
      </p:sp>
      <p:sp>
        <p:nvSpPr>
          <p:cNvPr id="304" name="Google Shape;304;p15"/>
          <p:cNvSpPr/>
          <p:nvPr/>
        </p:nvSpPr>
        <p:spPr>
          <a:xfrm>
            <a:off x="548640" y="2834640"/>
            <a:ext cx="5212080" cy="1280160"/>
          </a:xfrm>
          <a:prstGeom prst="foldedCorner">
            <a:avLst>
              <a:gd fmla="val 16667" name="adj"/>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15"/>
          <p:cNvSpPr txBox="1"/>
          <p:nvPr/>
        </p:nvSpPr>
        <p:spPr>
          <a:xfrm>
            <a:off x="749808" y="2971800"/>
            <a:ext cx="47548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Kết quả: </a:t>
            </a:r>
            <a:r>
              <a:rPr b="1" i="0" lang="en-US" sz="1600" u="none" cap="none" strike="noStrike">
                <a:solidFill>
                  <a:srgbClr val="C62828"/>
                </a:solidFill>
                <a:latin typeface="Arial"/>
                <a:ea typeface="Arial"/>
                <a:cs typeface="Arial"/>
                <a:sym typeface="Arial"/>
              </a:rPr>
              <a:t>FAIL</a:t>
            </a:r>
            <a:endParaRPr/>
          </a:p>
        </p:txBody>
      </p:sp>
      <p:sp>
        <p:nvSpPr>
          <p:cNvPr id="306" name="Google Shape;306;p15"/>
          <p:cNvSpPr txBox="1"/>
          <p:nvPr/>
        </p:nvSpPr>
        <p:spPr>
          <a:xfrm>
            <a:off x="749808" y="3364992"/>
            <a:ext cx="475488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Người dùng gõ sửa được số tiền mình phải trả.</a:t>
            </a:r>
            <a:endParaRPr/>
          </a:p>
        </p:txBody>
      </p:sp>
      <p:sp>
        <p:nvSpPr>
          <p:cNvPr id="307" name="Google Shape;307;p15"/>
          <p:cNvSpPr/>
          <p:nvPr/>
        </p:nvSpPr>
        <p:spPr>
          <a:xfrm>
            <a:off x="548640" y="4343400"/>
            <a:ext cx="5212080" cy="1280160"/>
          </a:xfrm>
          <a:prstGeom prst="foldedCorner">
            <a:avLst>
              <a:gd fmla="val 16667" name="adj"/>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15"/>
          <p:cNvSpPr txBox="1"/>
          <p:nvPr/>
        </p:nvSpPr>
        <p:spPr>
          <a:xfrm>
            <a:off x="749808" y="4480560"/>
            <a:ext cx="47548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Đối chiếu</a:t>
            </a:r>
            <a:endParaRPr/>
          </a:p>
        </p:txBody>
      </p:sp>
      <p:sp>
        <p:nvSpPr>
          <p:cNvPr id="309" name="Google Shape;309;p15"/>
          <p:cNvSpPr txBox="1"/>
          <p:nvPr/>
        </p:nvSpPr>
        <p:spPr>
          <a:xfrm>
            <a:off x="749808" y="4873752"/>
            <a:ext cx="475488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Đặc tả </a:t>
            </a:r>
            <a:r>
              <a:rPr b="1" i="0" lang="en-US" sz="1400" u="none" cap="none" strike="noStrike">
                <a:solidFill>
                  <a:srgbClr val="222222"/>
                </a:solidFill>
                <a:latin typeface="Arial"/>
                <a:ea typeface="Arial"/>
                <a:cs typeface="Arial"/>
                <a:sym typeface="Arial"/>
              </a:rPr>
              <a:t>FR-08 (Checkout)</a:t>
            </a:r>
            <a:r>
              <a:rPr b="0" i="0" lang="en-US" sz="1400" u="none" cap="none" strike="noStrike">
                <a:solidFill>
                  <a:srgbClr val="222222"/>
                </a:solidFill>
                <a:latin typeface="Arial"/>
                <a:ea typeface="Arial"/>
                <a:cs typeface="Arial"/>
                <a:sym typeface="Arial"/>
              </a:rPr>
              <a:t> · Heuristic </a:t>
            </a:r>
            <a:r>
              <a:rPr b="1" i="0" lang="en-US" sz="1400" u="none" cap="none" strike="noStrike">
                <a:solidFill>
                  <a:srgbClr val="222222"/>
                </a:solidFill>
                <a:latin typeface="Arial"/>
                <a:ea typeface="Arial"/>
                <a:cs typeface="Arial"/>
                <a:sym typeface="Arial"/>
              </a:rPr>
              <a:t>H5 Error prevention</a:t>
            </a:r>
            <a:r>
              <a:rPr b="0" i="0" lang="en-US" sz="1400" u="none" cap="none" strike="noStrike">
                <a:solidFill>
                  <a:srgbClr val="222222"/>
                </a:solidFill>
                <a:latin typeface="Arial"/>
                <a:ea typeface="Arial"/>
                <a:cs typeface="Arial"/>
                <a:sym typeface="Arial"/>
              </a:rPr>
              <a:t> · Ground truth </a:t>
            </a:r>
            <a:r>
              <a:rPr b="1" i="0" lang="en-US" sz="1400" u="none" cap="none" strike="noStrike">
                <a:solidFill>
                  <a:srgbClr val="222222"/>
                </a:solidFill>
                <a:latin typeface="Arial"/>
                <a:ea typeface="Arial"/>
                <a:cs typeface="Arial"/>
                <a:sym typeface="Arial"/>
              </a:rPr>
              <a:t>G06</a:t>
            </a:r>
            <a:r>
              <a:rPr b="0" i="0" lang="en-US" sz="1400" u="none" cap="none" strike="noStrike">
                <a:solidFill>
                  <a:srgbClr val="222222"/>
                </a:solidFill>
                <a:latin typeface="Arial"/>
                <a:ea typeface="Arial"/>
                <a:cs typeface="Arial"/>
                <a:sym typeface="Arial"/>
              </a:rPr>
              <a:t> · Severity </a:t>
            </a:r>
            <a:r>
              <a:rPr b="1" i="0" lang="en-US" sz="1400" u="none" cap="none" strike="noStrike">
                <a:solidFill>
                  <a:srgbClr val="222222"/>
                </a:solidFill>
                <a:latin typeface="Arial"/>
                <a:ea typeface="Arial"/>
                <a:cs typeface="Arial"/>
                <a:sym typeface="Arial"/>
              </a:rPr>
              <a:t>3</a:t>
            </a:r>
            <a:endParaRPr/>
          </a:p>
        </p:txBody>
      </p:sp>
      <p:cxnSp>
        <p:nvCxnSpPr>
          <p:cNvPr id="310" name="Google Shape;310;p15"/>
          <p:cNvCxnSpPr>
            <a:endCxn id="300" idx="1"/>
          </p:cNvCxnSpPr>
          <p:nvPr/>
        </p:nvCxnSpPr>
        <p:spPr>
          <a:xfrm>
            <a:off x="5760600" y="3520320"/>
            <a:ext cx="712200" cy="183000"/>
          </a:xfrm>
          <a:prstGeom prst="bentConnector3">
            <a:avLst>
              <a:gd fmla="val 50000" name="adj1"/>
            </a:avLst>
          </a:prstGeom>
          <a:noFill/>
          <a:ln cap="flat" cmpd="sng" w="25400">
            <a:solidFill>
              <a:srgbClr val="C62828"/>
            </a:solidFill>
            <a:prstDash val="solid"/>
            <a:round/>
            <a:headEnd len="sm" w="sm" type="none"/>
            <a:tailEnd len="sm" w="sm" type="none"/>
          </a:ln>
          <a:effectLst>
            <a:outerShdw blurRad="40000" rotWithShape="0" dir="5400000" dist="20000">
              <a:srgbClr val="000000">
                <a:alpha val="38039"/>
              </a:srgbClr>
            </a:outerShdw>
          </a:effectLst>
        </p:spPr>
      </p:cxnSp>
      <p:sp>
        <p:nvSpPr>
          <p:cNvPr id="311" name="Google Shape;311;p15"/>
          <p:cNvSpPr/>
          <p:nvPr/>
        </p:nvSpPr>
        <p:spPr>
          <a:xfrm>
            <a:off x="9136800" y="4222699"/>
            <a:ext cx="146304" cy="146304"/>
          </a:xfrm>
          <a:prstGeom prst="ellipse">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6"/>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Kết quả và mức tự động hóa</a:t>
            </a:r>
            <a:endParaRPr/>
          </a:p>
        </p:txBody>
      </p:sp>
      <p:sp>
        <p:nvSpPr>
          <p:cNvPr id="318" name="Google Shape;318;p16"/>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Đã chấm đủ 50 câu trên luồng mua hàng (</a:t>
            </a:r>
            <a:r>
              <a:rPr b="0" i="0" lang="en-US" sz="1500" u="none" cap="none" strike="noStrike">
                <a:solidFill>
                  <a:srgbClr val="5F6368"/>
                </a:solidFill>
                <a:latin typeface="Consolas"/>
                <a:ea typeface="Consolas"/>
                <a:cs typeface="Consolas"/>
                <a:sym typeface="Consolas"/>
              </a:rPr>
              <a:t>checklist/checklist-50.md</a:t>
            </a:r>
            <a:r>
              <a:rPr b="0" i="0" lang="en-US" sz="1600" u="none" cap="none" strike="noStrike">
                <a:solidFill>
                  <a:srgbClr val="5F6368"/>
                </a:solidFill>
                <a:latin typeface="Arial"/>
                <a:ea typeface="Arial"/>
                <a:cs typeface="Arial"/>
                <a:sym typeface="Arial"/>
              </a:rPr>
              <a:t>).</a:t>
            </a:r>
            <a:endParaRPr/>
          </a:p>
        </p:txBody>
      </p:sp>
      <p:sp>
        <p:nvSpPr>
          <p:cNvPr id="319" name="Google Shape;319;p16"/>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03</a:t>
            </a:r>
            <a:endParaRPr/>
          </a:p>
        </p:txBody>
      </p:sp>
      <p:sp>
        <p:nvSpPr>
          <p:cNvPr id="320" name="Google Shape;320;p16"/>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16</a:t>
            </a:r>
            <a:endParaRPr/>
          </a:p>
        </p:txBody>
      </p:sp>
      <p:sp>
        <p:nvSpPr>
          <p:cNvPr id="321" name="Google Shape;321;p16"/>
          <p:cNvSpPr txBox="1"/>
          <p:nvPr/>
        </p:nvSpPr>
        <p:spPr>
          <a:xfrm>
            <a:off x="548640" y="1874520"/>
            <a:ext cx="1737360" cy="1097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6600" u="none" cap="none" strike="noStrike">
                <a:solidFill>
                  <a:srgbClr val="2E7D32"/>
                </a:solidFill>
                <a:latin typeface="Arial"/>
                <a:ea typeface="Arial"/>
                <a:cs typeface="Arial"/>
                <a:sym typeface="Arial"/>
              </a:rPr>
              <a:t>20</a:t>
            </a:r>
            <a:endParaRPr/>
          </a:p>
        </p:txBody>
      </p:sp>
      <p:sp>
        <p:nvSpPr>
          <p:cNvPr id="322" name="Google Shape;322;p16"/>
          <p:cNvSpPr txBox="1"/>
          <p:nvPr/>
        </p:nvSpPr>
        <p:spPr>
          <a:xfrm>
            <a:off x="548640" y="3017520"/>
            <a:ext cx="17373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Pass</a:t>
            </a:r>
            <a:endParaRPr/>
          </a:p>
        </p:txBody>
      </p:sp>
      <p:sp>
        <p:nvSpPr>
          <p:cNvPr id="323" name="Google Shape;323;p16"/>
          <p:cNvSpPr txBox="1"/>
          <p:nvPr/>
        </p:nvSpPr>
        <p:spPr>
          <a:xfrm>
            <a:off x="2423159" y="1874520"/>
            <a:ext cx="1737360" cy="1097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6600" u="none" cap="none" strike="noStrike">
                <a:solidFill>
                  <a:srgbClr val="C62828"/>
                </a:solidFill>
                <a:latin typeface="Arial"/>
                <a:ea typeface="Arial"/>
                <a:cs typeface="Arial"/>
                <a:sym typeface="Arial"/>
              </a:rPr>
              <a:t>26</a:t>
            </a:r>
            <a:endParaRPr/>
          </a:p>
        </p:txBody>
      </p:sp>
      <p:sp>
        <p:nvSpPr>
          <p:cNvPr id="324" name="Google Shape;324;p16"/>
          <p:cNvSpPr txBox="1"/>
          <p:nvPr/>
        </p:nvSpPr>
        <p:spPr>
          <a:xfrm>
            <a:off x="2423159" y="3017520"/>
            <a:ext cx="17373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Fail</a:t>
            </a:r>
            <a:endParaRPr/>
          </a:p>
        </p:txBody>
      </p:sp>
      <p:sp>
        <p:nvSpPr>
          <p:cNvPr id="325" name="Google Shape;325;p16"/>
          <p:cNvSpPr txBox="1"/>
          <p:nvPr/>
        </p:nvSpPr>
        <p:spPr>
          <a:xfrm>
            <a:off x="4297678" y="1874520"/>
            <a:ext cx="1737360" cy="1097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6600" u="none" cap="none" strike="noStrike">
                <a:solidFill>
                  <a:srgbClr val="5F6368"/>
                </a:solidFill>
                <a:latin typeface="Arial"/>
                <a:ea typeface="Arial"/>
                <a:cs typeface="Arial"/>
                <a:sym typeface="Arial"/>
              </a:rPr>
              <a:t>4</a:t>
            </a:r>
            <a:endParaRPr/>
          </a:p>
        </p:txBody>
      </p:sp>
      <p:sp>
        <p:nvSpPr>
          <p:cNvPr id="326" name="Google Shape;326;p16"/>
          <p:cNvSpPr txBox="1"/>
          <p:nvPr/>
        </p:nvSpPr>
        <p:spPr>
          <a:xfrm>
            <a:off x="4297678" y="3017520"/>
            <a:ext cx="17373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N/A</a:t>
            </a:r>
            <a:endParaRPr/>
          </a:p>
        </p:txBody>
      </p:sp>
      <p:cxnSp>
        <p:nvCxnSpPr>
          <p:cNvPr id="327" name="Google Shape;327;p16"/>
          <p:cNvCxnSpPr/>
          <p:nvPr/>
        </p:nvCxnSpPr>
        <p:spPr>
          <a:xfrm>
            <a:off x="6309360" y="1874520"/>
            <a:ext cx="0" cy="320040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graphicFrame>
        <p:nvGraphicFramePr>
          <p:cNvPr id="328" name="Google Shape;328;p16"/>
          <p:cNvGraphicFramePr/>
          <p:nvPr/>
        </p:nvGraphicFramePr>
        <p:xfrm>
          <a:off x="6675120" y="1874520"/>
          <a:ext cx="3000000" cy="3000000"/>
        </p:xfrm>
        <a:graphic>
          <a:graphicData uri="http://schemas.openxmlformats.org/drawingml/2006/table">
            <a:tbl>
              <a:tblPr>
                <a:noFill/>
                <a:tableStyleId>{A41EB096-C0D3-46DF-A04B-B11FC471E439}</a:tableStyleId>
              </a:tblPr>
              <a:tblGrid>
                <a:gridCol w="3821500"/>
                <a:gridCol w="1146450"/>
              </a:tblGrid>
              <a:tr h="5486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Mức tự động hóa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Số câu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Tự động — máy kiểm hoàn toàn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26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Bán tự động — cần người hỗ trợ</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10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Thủ công — chỉ người làm được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11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Chưa xếp mức (N/A)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329" name="Google Shape;329;p16"/>
          <p:cNvSpPr txBox="1"/>
          <p:nvPr/>
        </p:nvSpPr>
        <p:spPr>
          <a:xfrm>
            <a:off x="548640" y="3657599"/>
            <a:ext cx="54864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Fail đắt giá:</a:t>
            </a:r>
            <a:r>
              <a:rPr b="0" i="0" lang="en-US" sz="1350" u="none" cap="none" strike="noStrike">
                <a:solidFill>
                  <a:srgbClr val="222222"/>
                </a:solidFill>
                <a:latin typeface="Arial"/>
                <a:ea typeface="Arial"/>
                <a:cs typeface="Arial"/>
                <a:sym typeface="Arial"/>
              </a:rPr>
              <a:t> thiếu </a:t>
            </a:r>
            <a:r>
              <a:rPr b="0" i="0" lang="en-US" sz="1250" u="none" cap="none" strike="noStrike">
                <a:solidFill>
                  <a:srgbClr val="222222"/>
                </a:solidFill>
                <a:latin typeface="Consolas"/>
                <a:ea typeface="Consolas"/>
                <a:cs typeface="Consolas"/>
                <a:sym typeface="Consolas"/>
              </a:rPr>
              <a:t>&lt;h1&gt;</a:t>
            </a:r>
            <a:r>
              <a:rPr b="0" i="0" lang="en-US" sz="1350" u="none" cap="none" strike="noStrike">
                <a:solidFill>
                  <a:srgbClr val="222222"/>
                </a:solidFill>
                <a:latin typeface="Arial"/>
                <a:ea typeface="Arial"/>
                <a:cs typeface="Arial"/>
                <a:sym typeface="Arial"/>
              </a:rPr>
              <a:t> (#1–2), nhãn "Tổng cộng" (#20), nút primary xanh lá (#4), login type/label (#3, #7–9), xóa không dialog (#17), G10 bấm hai lần (#49).</a:t>
            </a:r>
            <a:endParaRPr/>
          </a:p>
        </p:txBody>
      </p:sp>
      <p:sp>
        <p:nvSpPr>
          <p:cNvPr id="330" name="Google Shape;330;p16"/>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16"/>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16"/>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Câu "Tự động" thành dữ liệu cho Playwright (Demo 3 tự động hóa #1–2, #19, #42–43, #46–48, #50); câu "Thủ công" là chỗ thử AI ở Phần 08.</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cxnSp>
        <p:nvCxnSpPr>
          <p:cNvPr id="338" name="Google Shape;338;p17"/>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339" name="Google Shape;339;p17"/>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340" name="Google Shape;340;p17"/>
          <p:cNvSpPr txBox="1"/>
          <p:nvPr/>
        </p:nvSpPr>
        <p:spPr>
          <a:xfrm>
            <a:off x="548640" y="640080"/>
            <a:ext cx="36576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600" u="none" cap="none" strike="noStrike">
                <a:solidFill>
                  <a:srgbClr val="C8CBD0"/>
                </a:solidFill>
                <a:latin typeface="Arial"/>
                <a:ea typeface="Arial"/>
                <a:cs typeface="Arial"/>
                <a:sym typeface="Arial"/>
              </a:rPr>
              <a:t>04</a:t>
            </a:r>
            <a:endParaRPr/>
          </a:p>
        </p:txBody>
      </p:sp>
      <p:sp>
        <p:nvSpPr>
          <p:cNvPr id="341" name="Google Shape;341;p17"/>
          <p:cNvSpPr txBox="1"/>
          <p:nvPr/>
        </p:nvSpPr>
        <p:spPr>
          <a:xfrm>
            <a:off x="548640" y="2148840"/>
            <a:ext cx="1078992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111111"/>
                </a:solidFill>
                <a:latin typeface="Arial"/>
                <a:ea typeface="Arial"/>
                <a:cs typeface="Arial"/>
                <a:sym typeface="Arial"/>
              </a:rPr>
              <a:t>Lý thuyết Usability Testing</a:t>
            </a:r>
            <a:endParaRPr/>
          </a:p>
        </p:txBody>
      </p:sp>
      <p:cxnSp>
        <p:nvCxnSpPr>
          <p:cNvPr id="342" name="Google Shape;342;p17"/>
          <p:cNvCxnSpPr/>
          <p:nvPr/>
        </p:nvCxnSpPr>
        <p:spPr>
          <a:xfrm>
            <a:off x="548640" y="306324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343" name="Google Shape;343;p17"/>
          <p:cNvSpPr txBox="1"/>
          <p:nvPr/>
        </p:nvSpPr>
        <p:spPr>
          <a:xfrm>
            <a:off x="548640" y="333756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01</a:t>
            </a:r>
            <a:endParaRPr/>
          </a:p>
        </p:txBody>
      </p:sp>
      <p:sp>
        <p:nvSpPr>
          <p:cNvPr id="344" name="Google Shape;344;p17"/>
          <p:cNvSpPr txBox="1"/>
          <p:nvPr/>
        </p:nvSpPr>
        <p:spPr>
          <a:xfrm>
            <a:off x="1188720" y="333756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Usability là gì (ISO 9241-11)</a:t>
            </a:r>
            <a:endParaRPr/>
          </a:p>
        </p:txBody>
      </p:sp>
      <p:sp>
        <p:nvSpPr>
          <p:cNvPr id="345" name="Google Shape;345;p17"/>
          <p:cNvSpPr txBox="1"/>
          <p:nvPr/>
        </p:nvSpPr>
        <p:spPr>
          <a:xfrm>
            <a:off x="548640" y="384048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02</a:t>
            </a:r>
            <a:endParaRPr/>
          </a:p>
        </p:txBody>
      </p:sp>
      <p:sp>
        <p:nvSpPr>
          <p:cNvPr id="346" name="Google Shape;346;p17"/>
          <p:cNvSpPr txBox="1"/>
          <p:nvPr/>
        </p:nvSpPr>
        <p:spPr>
          <a:xfrm>
            <a:off x="1188720" y="384048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10 heuristic của Nielsen, thang severity 0–4</a:t>
            </a:r>
            <a:endParaRPr/>
          </a:p>
        </p:txBody>
      </p:sp>
      <p:sp>
        <p:nvSpPr>
          <p:cNvPr id="347" name="Google Shape;347;p17"/>
          <p:cNvSpPr txBox="1"/>
          <p:nvPr/>
        </p:nvSpPr>
        <p:spPr>
          <a:xfrm>
            <a:off x="548640" y="434340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03</a:t>
            </a:r>
            <a:endParaRPr/>
          </a:p>
        </p:txBody>
      </p:sp>
      <p:sp>
        <p:nvSpPr>
          <p:cNvPr id="348" name="Google Shape;348;p17"/>
          <p:cNvSpPr txBox="1"/>
          <p:nvPr/>
        </p:nvSpPr>
        <p:spPr>
          <a:xfrm>
            <a:off x="1188720" y="434340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Heuristic evaluation và usability testing</a:t>
            </a:r>
            <a:endParaRPr/>
          </a:p>
        </p:txBody>
      </p:sp>
      <p:sp>
        <p:nvSpPr>
          <p:cNvPr id="349" name="Google Shape;349;p17"/>
          <p:cNvSpPr txBox="1"/>
          <p:nvPr/>
        </p:nvSpPr>
        <p:spPr>
          <a:xfrm>
            <a:off x="548640" y="484632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04</a:t>
            </a:r>
            <a:endParaRPr/>
          </a:p>
        </p:txBody>
      </p:sp>
      <p:sp>
        <p:nvSpPr>
          <p:cNvPr id="350" name="Google Shape;350;p17"/>
          <p:cNvSpPr txBox="1"/>
          <p:nvPr/>
        </p:nvSpPr>
        <p:spPr>
          <a:xfrm>
            <a:off x="1188720" y="484632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Chỉ số đo: success rate, SEQ, SUS</a:t>
            </a:r>
            <a:endParaRPr/>
          </a:p>
        </p:txBody>
      </p:sp>
      <p:sp>
        <p:nvSpPr>
          <p:cNvPr id="351" name="Google Shape;351;p17"/>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8"/>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Usability là gì? — ISO 9241-11:2018</a:t>
            </a:r>
            <a:endParaRPr/>
          </a:p>
        </p:txBody>
      </p:sp>
      <p:sp>
        <p:nvSpPr>
          <p:cNvPr id="358" name="Google Shape;358;p18"/>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Mức độ </a:t>
            </a:r>
            <a:r>
              <a:rPr b="1" i="0" lang="en-US" sz="1600" u="none" cap="none" strike="noStrike">
                <a:solidFill>
                  <a:srgbClr val="5F6368"/>
                </a:solidFill>
                <a:latin typeface="Arial"/>
                <a:ea typeface="Arial"/>
                <a:cs typeface="Arial"/>
                <a:sym typeface="Arial"/>
              </a:rPr>
              <a:t>người dùng cụ thể</a:t>
            </a:r>
            <a:r>
              <a:rPr b="0" i="0" lang="en-US" sz="1600" u="none" cap="none" strike="noStrike">
                <a:solidFill>
                  <a:srgbClr val="5F6368"/>
                </a:solidFill>
                <a:latin typeface="Arial"/>
                <a:ea typeface="Arial"/>
                <a:cs typeface="Arial"/>
                <a:sym typeface="Arial"/>
              </a:rPr>
              <a:t> đạt </a:t>
            </a:r>
            <a:r>
              <a:rPr b="1" i="0" lang="en-US" sz="1600" u="none" cap="none" strike="noStrike">
                <a:solidFill>
                  <a:srgbClr val="5F6368"/>
                </a:solidFill>
                <a:latin typeface="Arial"/>
                <a:ea typeface="Arial"/>
                <a:cs typeface="Arial"/>
                <a:sym typeface="Arial"/>
              </a:rPr>
              <a:t>mục tiêu cụ thể</a:t>
            </a:r>
            <a:r>
              <a:rPr b="0" i="0" lang="en-US" sz="1600" u="none" cap="none" strike="noStrike">
                <a:solidFill>
                  <a:srgbClr val="5F6368"/>
                </a:solidFill>
                <a:latin typeface="Arial"/>
                <a:ea typeface="Arial"/>
                <a:cs typeface="Arial"/>
                <a:sym typeface="Arial"/>
              </a:rPr>
              <a:t> với hiệu quả, hiệu suất và sự hài lòng trong một </a:t>
            </a:r>
            <a:r>
              <a:rPr b="1" i="0" lang="en-US" sz="1600" u="none" cap="none" strike="noStrike">
                <a:solidFill>
                  <a:srgbClr val="5F6368"/>
                </a:solidFill>
                <a:latin typeface="Arial"/>
                <a:ea typeface="Arial"/>
                <a:cs typeface="Arial"/>
                <a:sym typeface="Arial"/>
              </a:rPr>
              <a:t>bối cảnh sử dụng</a:t>
            </a:r>
            <a:r>
              <a:rPr b="0" i="0" lang="en-US" sz="1600" u="none" cap="none" strike="noStrike">
                <a:solidFill>
                  <a:srgbClr val="5F6368"/>
                </a:solidFill>
                <a:latin typeface="Arial"/>
                <a:ea typeface="Arial"/>
                <a:cs typeface="Arial"/>
                <a:sym typeface="Arial"/>
              </a:rPr>
              <a:t> cụ thể.</a:t>
            </a:r>
            <a:endParaRPr/>
          </a:p>
        </p:txBody>
      </p:sp>
      <p:sp>
        <p:nvSpPr>
          <p:cNvPr id="359" name="Google Shape;359;p18"/>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04</a:t>
            </a:r>
            <a:endParaRPr/>
          </a:p>
        </p:txBody>
      </p:sp>
      <p:sp>
        <p:nvSpPr>
          <p:cNvPr id="360" name="Google Shape;360;p18"/>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18</a:t>
            </a:r>
            <a:endParaRPr/>
          </a:p>
        </p:txBody>
      </p:sp>
      <p:graphicFrame>
        <p:nvGraphicFramePr>
          <p:cNvPr id="361" name="Google Shape;361;p18"/>
          <p:cNvGraphicFramePr/>
          <p:nvPr/>
        </p:nvGraphicFramePr>
        <p:xfrm>
          <a:off x="548640" y="1874520"/>
          <a:ext cx="3000000" cy="3000000"/>
        </p:xfrm>
        <a:graphic>
          <a:graphicData uri="http://schemas.openxmlformats.org/drawingml/2006/table">
            <a:tbl>
              <a:tblPr>
                <a:noFill/>
                <a:tableStyleId>{A41EB096-C0D3-46DF-A04B-B11FC471E439}</a:tableStyleId>
              </a:tblPr>
              <a:tblGrid>
                <a:gridCol w="3698150"/>
                <a:gridCol w="3698150"/>
                <a:gridCol w="3698150"/>
              </a:tblGrid>
              <a:tr h="868675">
                <a:tc>
                  <a:txBody>
                    <a:bodyPr/>
                    <a:lstStyle/>
                    <a:p>
                      <a:pPr indent="0" lvl="0" marL="0" marR="0" rtl="0" algn="ctr">
                        <a:spcBef>
                          <a:spcPts val="0"/>
                        </a:spcBef>
                        <a:spcAft>
                          <a:spcPts val="0"/>
                        </a:spcAft>
                        <a:buNone/>
                      </a:pPr>
                      <a:r>
                        <a:rPr b="1" i="0" lang="en-US" sz="1350" u="none" cap="none" strike="noStrike">
                          <a:solidFill>
                            <a:srgbClr val="111111"/>
                          </a:solidFill>
                          <a:latin typeface="Arial"/>
                          <a:ea typeface="Arial"/>
                          <a:cs typeface="Arial"/>
                          <a:sym typeface="Arial"/>
                        </a:rPr>
                        <a:t>Thành phần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350" u="none" cap="none" strike="noStrike">
                          <a:solidFill>
                            <a:srgbClr val="111111"/>
                          </a:solidFill>
                          <a:latin typeface="Arial"/>
                          <a:ea typeface="Arial"/>
                          <a:cs typeface="Arial"/>
                          <a:sym typeface="Arial"/>
                        </a:rPr>
                        <a:t>Câu hỏi trọng tâm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350" u="none" cap="none" strike="noStrike">
                          <a:solidFill>
                            <a:srgbClr val="111111"/>
                          </a:solidFill>
                          <a:latin typeface="Arial"/>
                          <a:ea typeface="Arial"/>
                          <a:cs typeface="Arial"/>
                          <a:sym typeface="Arial"/>
                        </a:rPr>
                        <a:t>Đo bằng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868675">
                <a:tc>
                  <a:txBody>
                    <a:bodyPr/>
                    <a:lstStyle/>
                    <a:p>
                      <a:pPr indent="0" lvl="0" marL="0" marR="0" rtl="0" algn="ctr">
                        <a:spcBef>
                          <a:spcPts val="0"/>
                        </a:spcBef>
                        <a:spcAft>
                          <a:spcPts val="0"/>
                        </a:spcAft>
                        <a:buNone/>
                      </a:pPr>
                      <a:r>
                        <a:rPr b="0" i="0" lang="en-US" sz="1600" u="none" cap="none" strike="noStrike">
                          <a:solidFill>
                            <a:srgbClr val="222222"/>
                          </a:solidFill>
                          <a:latin typeface="Arial"/>
                          <a:ea typeface="Arial"/>
                          <a:cs typeface="Arial"/>
                          <a:sym typeface="Arial"/>
                        </a:rPr>
                        <a:t>Effectiveness</a:t>
                      </a:r>
                      <a:br>
                        <a:rPr b="0" i="0" lang="en-US" sz="1600" u="none" cap="none" strike="noStrike">
                          <a:solidFill>
                            <a:srgbClr val="222222"/>
                          </a:solidFill>
                          <a:latin typeface="Arial"/>
                          <a:ea typeface="Arial"/>
                          <a:cs typeface="Arial"/>
                          <a:sym typeface="Arial"/>
                        </a:rPr>
                      </a:br>
                      <a:r>
                        <a:rPr b="0" i="0" lang="en-US" sz="1600" u="none" cap="none" strike="noStrike">
                          <a:solidFill>
                            <a:srgbClr val="222222"/>
                          </a:solidFill>
                          <a:latin typeface="Arial"/>
                          <a:ea typeface="Arial"/>
                          <a:cs typeface="Arial"/>
                          <a:sym typeface="Arial"/>
                        </a:rPr>
                        <a:t>(Hiệu quả)</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600" u="none" cap="none" strike="noStrike">
                          <a:solidFill>
                            <a:srgbClr val="222222"/>
                          </a:solidFill>
                          <a:latin typeface="Arial"/>
                          <a:ea typeface="Arial"/>
                          <a:cs typeface="Arial"/>
                          <a:sym typeface="Arial"/>
                        </a:rPr>
                        <a:t>Có làm xong nhiệm vụ không?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600" u="none" cap="none" strike="noStrike">
                          <a:solidFill>
                            <a:srgbClr val="222222"/>
                          </a:solidFill>
                          <a:latin typeface="Arial"/>
                          <a:ea typeface="Arial"/>
                          <a:cs typeface="Arial"/>
                          <a:sym typeface="Arial"/>
                        </a:rPr>
                        <a:t>Tỷ lệ hoàn thành, số lỗi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868675">
                <a:tc>
                  <a:txBody>
                    <a:bodyPr/>
                    <a:lstStyle/>
                    <a:p>
                      <a:pPr indent="0" lvl="0" marL="0" marR="0" rtl="0" algn="ctr">
                        <a:spcBef>
                          <a:spcPts val="0"/>
                        </a:spcBef>
                        <a:spcAft>
                          <a:spcPts val="0"/>
                        </a:spcAft>
                        <a:buNone/>
                      </a:pPr>
                      <a:r>
                        <a:rPr b="0" i="0" lang="en-US" sz="1600" u="none" cap="none" strike="noStrike">
                          <a:solidFill>
                            <a:srgbClr val="222222"/>
                          </a:solidFill>
                          <a:latin typeface="Arial"/>
                          <a:ea typeface="Arial"/>
                          <a:cs typeface="Arial"/>
                          <a:sym typeface="Arial"/>
                        </a:rPr>
                        <a:t>Efficiency</a:t>
                      </a:r>
                      <a:br>
                        <a:rPr b="0" i="0" lang="en-US" sz="1600" u="none" cap="none" strike="noStrike">
                          <a:solidFill>
                            <a:srgbClr val="222222"/>
                          </a:solidFill>
                          <a:latin typeface="Arial"/>
                          <a:ea typeface="Arial"/>
                          <a:cs typeface="Arial"/>
                          <a:sym typeface="Arial"/>
                        </a:rPr>
                      </a:br>
                      <a:r>
                        <a:rPr b="0" i="0" lang="en-US" sz="1600" u="none" cap="none" strike="noStrike">
                          <a:solidFill>
                            <a:srgbClr val="222222"/>
                          </a:solidFill>
                          <a:latin typeface="Arial"/>
                          <a:ea typeface="Arial"/>
                          <a:cs typeface="Arial"/>
                          <a:sym typeface="Arial"/>
                        </a:rPr>
                        <a:t>(Hiệu suất)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600" u="none" cap="none" strike="noStrike">
                          <a:solidFill>
                            <a:srgbClr val="222222"/>
                          </a:solidFill>
                          <a:latin typeface="Arial"/>
                          <a:ea typeface="Arial"/>
                          <a:cs typeface="Arial"/>
                          <a:sym typeface="Arial"/>
                        </a:rPr>
                        <a:t>Tốn bao nhiêu công sức?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600" u="none" cap="none" strike="noStrike">
                          <a:solidFill>
                            <a:srgbClr val="222222"/>
                          </a:solidFill>
                          <a:latin typeface="Arial"/>
                          <a:ea typeface="Arial"/>
                          <a:cs typeface="Arial"/>
                          <a:sym typeface="Arial"/>
                        </a:rPr>
                        <a:t>Thời gian, số click, Lostness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868675">
                <a:tc>
                  <a:txBody>
                    <a:bodyPr/>
                    <a:lstStyle/>
                    <a:p>
                      <a:pPr indent="0" lvl="0" marL="0" marR="0" rtl="0" algn="ctr">
                        <a:spcBef>
                          <a:spcPts val="0"/>
                        </a:spcBef>
                        <a:spcAft>
                          <a:spcPts val="0"/>
                        </a:spcAft>
                        <a:buNone/>
                      </a:pPr>
                      <a:r>
                        <a:rPr b="0" i="0" lang="en-US" sz="1600" u="none" cap="none" strike="noStrike">
                          <a:solidFill>
                            <a:srgbClr val="222222"/>
                          </a:solidFill>
                          <a:latin typeface="Arial"/>
                          <a:ea typeface="Arial"/>
                          <a:cs typeface="Arial"/>
                          <a:sym typeface="Arial"/>
                        </a:rPr>
                        <a:t>Satisfaction</a:t>
                      </a:r>
                      <a:br>
                        <a:rPr b="0" i="0" lang="en-US" sz="1600" u="none" cap="none" strike="noStrike">
                          <a:solidFill>
                            <a:srgbClr val="222222"/>
                          </a:solidFill>
                          <a:latin typeface="Arial"/>
                          <a:ea typeface="Arial"/>
                          <a:cs typeface="Arial"/>
                          <a:sym typeface="Arial"/>
                        </a:rPr>
                      </a:br>
                      <a:r>
                        <a:rPr b="0" i="0" lang="en-US" sz="1600" u="none" cap="none" strike="noStrike">
                          <a:solidFill>
                            <a:srgbClr val="222222"/>
                          </a:solidFill>
                          <a:latin typeface="Arial"/>
                          <a:ea typeface="Arial"/>
                          <a:cs typeface="Arial"/>
                          <a:sym typeface="Arial"/>
                        </a:rPr>
                        <a:t>(Hài lòng)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600" u="none" cap="none" strike="noStrike">
                          <a:solidFill>
                            <a:srgbClr val="222222"/>
                          </a:solidFill>
                          <a:latin typeface="Arial"/>
                          <a:ea typeface="Arial"/>
                          <a:cs typeface="Arial"/>
                          <a:sym typeface="Arial"/>
                        </a:rPr>
                        <a:t>Cảm thấy thế nào?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600" u="none" cap="none" strike="noStrike">
                          <a:solidFill>
                            <a:srgbClr val="222222"/>
                          </a:solidFill>
                          <a:latin typeface="Arial"/>
                          <a:ea typeface="Arial"/>
                          <a:cs typeface="Arial"/>
                          <a:sym typeface="Arial"/>
                        </a:rPr>
                        <a:t>SEQ (1–7), SUS (0–100)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9"/>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10 heuristic của Nielsen</a:t>
            </a:r>
            <a:endParaRPr/>
          </a:p>
        </p:txBody>
      </p:sp>
      <p:sp>
        <p:nvSpPr>
          <p:cNvPr id="368" name="Google Shape;368;p19"/>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In đậm: heuristic EShop vi phạm rõ.</a:t>
            </a:r>
            <a:endParaRPr/>
          </a:p>
        </p:txBody>
      </p:sp>
      <p:sp>
        <p:nvSpPr>
          <p:cNvPr id="369" name="Google Shape;369;p19"/>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04</a:t>
            </a:r>
            <a:endParaRPr/>
          </a:p>
        </p:txBody>
      </p:sp>
      <p:sp>
        <p:nvSpPr>
          <p:cNvPr id="370" name="Google Shape;370;p19"/>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19</a:t>
            </a:r>
            <a:endParaRPr/>
          </a:p>
        </p:txBody>
      </p:sp>
      <p:graphicFrame>
        <p:nvGraphicFramePr>
          <p:cNvPr id="371" name="Google Shape;371;p19"/>
          <p:cNvGraphicFramePr/>
          <p:nvPr/>
        </p:nvGraphicFramePr>
        <p:xfrm>
          <a:off x="548640" y="1874520"/>
          <a:ext cx="3000000" cy="3000000"/>
        </p:xfrm>
        <a:graphic>
          <a:graphicData uri="http://schemas.openxmlformats.org/drawingml/2006/table">
            <a:tbl>
              <a:tblPr>
                <a:noFill/>
                <a:tableStyleId>{A41EB096-C0D3-46DF-A04B-B11FC471E439}</a:tableStyleId>
              </a:tblPr>
              <a:tblGrid>
                <a:gridCol w="733600"/>
                <a:gridCol w="4585000"/>
              </a:tblGrid>
              <a:tr h="5303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Heuristic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H1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Visibility of system status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H2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Match with the real world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H3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User control and freedom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H4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Consistency and standards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H5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Error prevention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graphicFrame>
        <p:nvGraphicFramePr>
          <p:cNvPr id="372" name="Google Shape;372;p19"/>
          <p:cNvGraphicFramePr/>
          <p:nvPr/>
        </p:nvGraphicFramePr>
        <p:xfrm>
          <a:off x="6324448" y="1874520"/>
          <a:ext cx="3000000" cy="3000000"/>
        </p:xfrm>
        <a:graphic>
          <a:graphicData uri="http://schemas.openxmlformats.org/drawingml/2006/table">
            <a:tbl>
              <a:tblPr>
                <a:noFill/>
                <a:tableStyleId>{A41EB096-C0D3-46DF-A04B-B11FC471E439}</a:tableStyleId>
              </a:tblPr>
              <a:tblGrid>
                <a:gridCol w="733600"/>
                <a:gridCol w="4585000"/>
              </a:tblGrid>
              <a:tr h="5303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Heuristic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H6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Recognition rather than recall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H7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Flexibility and efficiency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H8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Aesthetic and minimalist design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H9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Recover from errors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H10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Help and documentation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373" name="Google Shape;373;p19"/>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19"/>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19"/>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111111"/>
                </a:solidFill>
                <a:latin typeface="Arial"/>
                <a:ea typeface="Arial"/>
                <a:cs typeface="Arial"/>
                <a:sym typeface="Arial"/>
              </a:rPr>
              <a:t>H1</a:t>
            </a:r>
            <a:r>
              <a:rPr b="0" i="0" lang="en-US" sz="1400" u="none" cap="none" strike="noStrike">
                <a:solidFill>
                  <a:srgbClr val="111111"/>
                </a:solidFill>
                <a:latin typeface="Arial"/>
                <a:ea typeface="Arial"/>
                <a:cs typeface="Arial"/>
                <a:sym typeface="Arial"/>
              </a:rPr>
              <a:t> thêm giỏ không phản hồi  ·  </a:t>
            </a:r>
            <a:r>
              <a:rPr b="1" i="0" lang="en-US" sz="1400" u="none" cap="none" strike="noStrike">
                <a:solidFill>
                  <a:srgbClr val="111111"/>
                </a:solidFill>
                <a:latin typeface="Arial"/>
                <a:ea typeface="Arial"/>
                <a:cs typeface="Arial"/>
                <a:sym typeface="Arial"/>
              </a:rPr>
              <a:t>H3</a:t>
            </a:r>
            <a:r>
              <a:rPr b="0" i="0" lang="en-US" sz="1400" u="none" cap="none" strike="noStrike">
                <a:solidFill>
                  <a:srgbClr val="111111"/>
                </a:solidFill>
                <a:latin typeface="Arial"/>
                <a:ea typeface="Arial"/>
                <a:cs typeface="Arial"/>
                <a:sym typeface="Arial"/>
              </a:rPr>
              <a:t> xóa không hoàn tác  ·  </a:t>
            </a:r>
            <a:r>
              <a:rPr b="1" i="0" lang="en-US" sz="1400" u="none" cap="none" strike="noStrike">
                <a:solidFill>
                  <a:srgbClr val="111111"/>
                </a:solidFill>
                <a:latin typeface="Arial"/>
                <a:ea typeface="Arial"/>
                <a:cs typeface="Arial"/>
                <a:sym typeface="Arial"/>
              </a:rPr>
              <a:t>H4</a:t>
            </a:r>
            <a:r>
              <a:rPr b="0" i="0" lang="en-US" sz="1400" u="none" cap="none" strike="noStrike">
                <a:solidFill>
                  <a:srgbClr val="111111"/>
                </a:solidFill>
                <a:latin typeface="Arial"/>
                <a:ea typeface="Arial"/>
                <a:cs typeface="Arial"/>
                <a:sym typeface="Arial"/>
              </a:rPr>
              <a:t> "Thoát" / "Đăng xuất"  ·  </a:t>
            </a:r>
            <a:r>
              <a:rPr b="1" i="0" lang="en-US" sz="1400" u="none" cap="none" strike="noStrike">
                <a:solidFill>
                  <a:srgbClr val="111111"/>
                </a:solidFill>
                <a:latin typeface="Arial"/>
                <a:ea typeface="Arial"/>
                <a:cs typeface="Arial"/>
                <a:sym typeface="Arial"/>
              </a:rPr>
              <a:t>H5</a:t>
            </a:r>
            <a:r>
              <a:rPr b="0" i="0" lang="en-US" sz="1400" u="none" cap="none" strike="noStrike">
                <a:solidFill>
                  <a:srgbClr val="111111"/>
                </a:solidFill>
                <a:latin typeface="Arial"/>
                <a:ea typeface="Arial"/>
                <a:cs typeface="Arial"/>
                <a:sym typeface="Arial"/>
              </a:rPr>
              <a:t> tổng tiền sửa được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0"/>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Thang severity 0–4 (Nielsen)</a:t>
            </a:r>
            <a:endParaRPr/>
          </a:p>
        </p:txBody>
      </p:sp>
      <p:sp>
        <p:nvSpPr>
          <p:cNvPr id="382" name="Google Shape;382;p20"/>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Cả nhóm và AI đều chỉ dùng thang này để so sánh được với nhau.</a:t>
            </a:r>
            <a:endParaRPr/>
          </a:p>
        </p:txBody>
      </p:sp>
      <p:sp>
        <p:nvSpPr>
          <p:cNvPr id="383" name="Google Shape;383;p20"/>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04</a:t>
            </a:r>
            <a:endParaRPr/>
          </a:p>
        </p:txBody>
      </p:sp>
      <p:sp>
        <p:nvSpPr>
          <p:cNvPr id="384" name="Google Shape;384;p20"/>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20</a:t>
            </a:r>
            <a:endParaRPr/>
          </a:p>
        </p:txBody>
      </p:sp>
      <p:sp>
        <p:nvSpPr>
          <p:cNvPr id="385" name="Google Shape;385;p20"/>
          <p:cNvSpPr/>
          <p:nvPr/>
        </p:nvSpPr>
        <p:spPr>
          <a:xfrm>
            <a:off x="548640" y="1874520"/>
            <a:ext cx="2072579" cy="169164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20"/>
          <p:cNvSpPr txBox="1"/>
          <p:nvPr/>
        </p:nvSpPr>
        <p:spPr>
          <a:xfrm>
            <a:off x="713232" y="1965960"/>
            <a:ext cx="1798259"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111111"/>
                </a:solidFill>
                <a:latin typeface="Arial"/>
                <a:ea typeface="Arial"/>
                <a:cs typeface="Arial"/>
                <a:sym typeface="Arial"/>
              </a:rPr>
              <a:t>0</a:t>
            </a:r>
            <a:endParaRPr/>
          </a:p>
        </p:txBody>
      </p:sp>
      <p:sp>
        <p:nvSpPr>
          <p:cNvPr id="387" name="Google Shape;387;p20"/>
          <p:cNvSpPr txBox="1"/>
          <p:nvPr/>
        </p:nvSpPr>
        <p:spPr>
          <a:xfrm>
            <a:off x="713232" y="2743200"/>
            <a:ext cx="1798259" cy="777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u="none" cap="none" strike="noStrike">
                <a:solidFill>
                  <a:srgbClr val="111111"/>
                </a:solidFill>
                <a:latin typeface="Arial"/>
                <a:ea typeface="Arial"/>
                <a:cs typeface="Arial"/>
                <a:sym typeface="Arial"/>
              </a:rPr>
              <a:t>Không phải lỗi usability</a:t>
            </a:r>
            <a:endParaRPr/>
          </a:p>
        </p:txBody>
      </p:sp>
      <p:sp>
        <p:nvSpPr>
          <p:cNvPr id="388" name="Google Shape;388;p20"/>
          <p:cNvSpPr/>
          <p:nvPr/>
        </p:nvSpPr>
        <p:spPr>
          <a:xfrm>
            <a:off x="2804099" y="1874520"/>
            <a:ext cx="2072579" cy="1691640"/>
          </a:xfrm>
          <a:prstGeom prst="rect">
            <a:avLst/>
          </a:prstGeom>
          <a:solidFill>
            <a:srgbClr val="E7EEF6"/>
          </a:solidFill>
          <a:ln cap="flat" cmpd="sng" w="12700">
            <a:solidFill>
              <a:srgbClr val="111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20"/>
          <p:cNvSpPr txBox="1"/>
          <p:nvPr/>
        </p:nvSpPr>
        <p:spPr>
          <a:xfrm>
            <a:off x="2968691" y="1965960"/>
            <a:ext cx="1798259"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111111"/>
                </a:solidFill>
                <a:latin typeface="Arial"/>
                <a:ea typeface="Arial"/>
                <a:cs typeface="Arial"/>
                <a:sym typeface="Arial"/>
              </a:rPr>
              <a:t>1</a:t>
            </a:r>
            <a:endParaRPr/>
          </a:p>
        </p:txBody>
      </p:sp>
      <p:sp>
        <p:nvSpPr>
          <p:cNvPr id="390" name="Google Shape;390;p20"/>
          <p:cNvSpPr txBox="1"/>
          <p:nvPr/>
        </p:nvSpPr>
        <p:spPr>
          <a:xfrm>
            <a:off x="2968691" y="2743200"/>
            <a:ext cx="1798259" cy="777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u="none" cap="none" strike="noStrike">
                <a:solidFill>
                  <a:srgbClr val="111111"/>
                </a:solidFill>
                <a:latin typeface="Arial"/>
                <a:ea typeface="Arial"/>
                <a:cs typeface="Arial"/>
                <a:sym typeface="Arial"/>
              </a:rPr>
              <a:t>Lỗi thẩm mỹ, sửa khi có thời gian</a:t>
            </a:r>
            <a:endParaRPr/>
          </a:p>
        </p:txBody>
      </p:sp>
      <p:sp>
        <p:nvSpPr>
          <p:cNvPr id="391" name="Google Shape;391;p20"/>
          <p:cNvSpPr/>
          <p:nvPr/>
        </p:nvSpPr>
        <p:spPr>
          <a:xfrm>
            <a:off x="5059558" y="1874520"/>
            <a:ext cx="2072579" cy="1691640"/>
          </a:xfrm>
          <a:prstGeom prst="rect">
            <a:avLst/>
          </a:prstGeom>
          <a:solidFill>
            <a:srgbClr val="B9CBE3"/>
          </a:solidFill>
          <a:ln cap="flat" cmpd="sng" w="12700">
            <a:solidFill>
              <a:srgbClr val="111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20"/>
          <p:cNvSpPr txBox="1"/>
          <p:nvPr/>
        </p:nvSpPr>
        <p:spPr>
          <a:xfrm>
            <a:off x="5224150" y="1965960"/>
            <a:ext cx="1798259"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111111"/>
                </a:solidFill>
                <a:latin typeface="Arial"/>
                <a:ea typeface="Arial"/>
                <a:cs typeface="Arial"/>
                <a:sym typeface="Arial"/>
              </a:rPr>
              <a:t>2</a:t>
            </a:r>
            <a:endParaRPr/>
          </a:p>
        </p:txBody>
      </p:sp>
      <p:sp>
        <p:nvSpPr>
          <p:cNvPr id="393" name="Google Shape;393;p20"/>
          <p:cNvSpPr txBox="1"/>
          <p:nvPr/>
        </p:nvSpPr>
        <p:spPr>
          <a:xfrm>
            <a:off x="5224150" y="2743200"/>
            <a:ext cx="1798259" cy="777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u="none" cap="none" strike="noStrike">
                <a:solidFill>
                  <a:srgbClr val="111111"/>
                </a:solidFill>
                <a:latin typeface="Arial"/>
                <a:ea typeface="Arial"/>
                <a:cs typeface="Arial"/>
                <a:sym typeface="Arial"/>
              </a:rPr>
              <a:t>Lỗi nhỏ, ưu tiên thấp</a:t>
            </a:r>
            <a:endParaRPr/>
          </a:p>
        </p:txBody>
      </p:sp>
      <p:sp>
        <p:nvSpPr>
          <p:cNvPr id="394" name="Google Shape;394;p20"/>
          <p:cNvSpPr/>
          <p:nvPr/>
        </p:nvSpPr>
        <p:spPr>
          <a:xfrm>
            <a:off x="7315017" y="1874520"/>
            <a:ext cx="2072579" cy="1691640"/>
          </a:xfrm>
          <a:prstGeom prst="rect">
            <a:avLst/>
          </a:prstGeom>
          <a:solidFill>
            <a:srgbClr val="3E6AA0"/>
          </a:solidFill>
          <a:ln cap="flat" cmpd="sng" w="12700">
            <a:solidFill>
              <a:srgbClr val="111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20"/>
          <p:cNvSpPr txBox="1"/>
          <p:nvPr/>
        </p:nvSpPr>
        <p:spPr>
          <a:xfrm>
            <a:off x="7479609" y="1965960"/>
            <a:ext cx="1798259"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FFFFFF"/>
                </a:solidFill>
                <a:latin typeface="Arial"/>
                <a:ea typeface="Arial"/>
                <a:cs typeface="Arial"/>
                <a:sym typeface="Arial"/>
              </a:rPr>
              <a:t>3</a:t>
            </a:r>
            <a:endParaRPr/>
          </a:p>
        </p:txBody>
      </p:sp>
      <p:sp>
        <p:nvSpPr>
          <p:cNvPr id="396" name="Google Shape;396;p20"/>
          <p:cNvSpPr txBox="1"/>
          <p:nvPr/>
        </p:nvSpPr>
        <p:spPr>
          <a:xfrm>
            <a:off x="7479609" y="2743200"/>
            <a:ext cx="1798259" cy="777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u="none" cap="none" strike="noStrike">
                <a:solidFill>
                  <a:srgbClr val="FFFFFF"/>
                </a:solidFill>
                <a:latin typeface="Arial"/>
                <a:ea typeface="Arial"/>
                <a:cs typeface="Arial"/>
                <a:sym typeface="Arial"/>
              </a:rPr>
              <a:t>Lỗi lớn, ưu tiên cao</a:t>
            </a:r>
            <a:endParaRPr/>
          </a:p>
        </p:txBody>
      </p:sp>
      <p:sp>
        <p:nvSpPr>
          <p:cNvPr id="397" name="Google Shape;397;p20"/>
          <p:cNvSpPr/>
          <p:nvPr/>
        </p:nvSpPr>
        <p:spPr>
          <a:xfrm>
            <a:off x="9570476" y="1874520"/>
            <a:ext cx="2072579" cy="1691640"/>
          </a:xfrm>
          <a:prstGeom prst="rect">
            <a:avLst/>
          </a:prstGeom>
          <a:solidFill>
            <a:srgbClr val="0B3A6E"/>
          </a:solidFill>
          <a:ln cap="flat" cmpd="sng" w="12700">
            <a:solidFill>
              <a:srgbClr val="111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20"/>
          <p:cNvSpPr txBox="1"/>
          <p:nvPr/>
        </p:nvSpPr>
        <p:spPr>
          <a:xfrm>
            <a:off x="9735068" y="1965960"/>
            <a:ext cx="1798259"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FFFFFF"/>
                </a:solidFill>
                <a:latin typeface="Arial"/>
                <a:ea typeface="Arial"/>
                <a:cs typeface="Arial"/>
                <a:sym typeface="Arial"/>
              </a:rPr>
              <a:t>4</a:t>
            </a:r>
            <a:endParaRPr/>
          </a:p>
        </p:txBody>
      </p:sp>
      <p:sp>
        <p:nvSpPr>
          <p:cNvPr id="399" name="Google Shape;399;p20"/>
          <p:cNvSpPr txBox="1"/>
          <p:nvPr/>
        </p:nvSpPr>
        <p:spPr>
          <a:xfrm>
            <a:off x="9735068" y="2743200"/>
            <a:ext cx="1798259" cy="777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u="none" cap="none" strike="noStrike">
                <a:solidFill>
                  <a:srgbClr val="FFFFFF"/>
                </a:solidFill>
                <a:latin typeface="Arial"/>
                <a:ea typeface="Arial"/>
                <a:cs typeface="Arial"/>
                <a:sym typeface="Arial"/>
              </a:rPr>
              <a:t>Thảm họa, phải sửa trước khi phát hành</a:t>
            </a:r>
            <a:endParaRPr/>
          </a:p>
        </p:txBody>
      </p:sp>
      <p:sp>
        <p:nvSpPr>
          <p:cNvPr id="400" name="Google Shape;400;p20"/>
          <p:cNvSpPr txBox="1"/>
          <p:nvPr/>
        </p:nvSpPr>
        <p:spPr>
          <a:xfrm>
            <a:off x="548640" y="3886200"/>
            <a:ext cx="3423818"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11111"/>
                </a:solidFill>
                <a:latin typeface="Arial"/>
                <a:ea typeface="Arial"/>
                <a:cs typeface="Arial"/>
                <a:sym typeface="Arial"/>
              </a:rPr>
              <a:t>Tần suất</a:t>
            </a:r>
            <a:endParaRPr/>
          </a:p>
        </p:txBody>
      </p:sp>
      <p:sp>
        <p:nvSpPr>
          <p:cNvPr id="401" name="Google Shape;401;p20"/>
          <p:cNvSpPr txBox="1"/>
          <p:nvPr/>
        </p:nvSpPr>
        <p:spPr>
          <a:xfrm>
            <a:off x="548640" y="4325112"/>
            <a:ext cx="3423818"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Gặp thường xuyên hay hiếm?</a:t>
            </a:r>
            <a:endParaRPr/>
          </a:p>
        </p:txBody>
      </p:sp>
      <p:cxnSp>
        <p:nvCxnSpPr>
          <p:cNvPr id="402" name="Google Shape;402;p20"/>
          <p:cNvCxnSpPr/>
          <p:nvPr/>
        </p:nvCxnSpPr>
        <p:spPr>
          <a:xfrm>
            <a:off x="4182770" y="3840480"/>
            <a:ext cx="0" cy="128016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403" name="Google Shape;403;p20"/>
          <p:cNvSpPr txBox="1"/>
          <p:nvPr/>
        </p:nvSpPr>
        <p:spPr>
          <a:xfrm>
            <a:off x="4383938" y="3886200"/>
            <a:ext cx="3423818"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11111"/>
                </a:solidFill>
                <a:latin typeface="Arial"/>
                <a:ea typeface="Arial"/>
                <a:cs typeface="Arial"/>
                <a:sym typeface="Arial"/>
              </a:rPr>
              <a:t>Tác động</a:t>
            </a:r>
            <a:endParaRPr/>
          </a:p>
        </p:txBody>
      </p:sp>
      <p:sp>
        <p:nvSpPr>
          <p:cNvPr id="404" name="Google Shape;404;p20"/>
          <p:cNvSpPr txBox="1"/>
          <p:nvPr/>
        </p:nvSpPr>
        <p:spPr>
          <a:xfrm>
            <a:off x="4383938" y="4325112"/>
            <a:ext cx="3423818"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Có tự vượt qua được không?</a:t>
            </a:r>
            <a:endParaRPr/>
          </a:p>
        </p:txBody>
      </p:sp>
      <p:cxnSp>
        <p:nvCxnSpPr>
          <p:cNvPr id="405" name="Google Shape;405;p20"/>
          <p:cNvCxnSpPr/>
          <p:nvPr/>
        </p:nvCxnSpPr>
        <p:spPr>
          <a:xfrm>
            <a:off x="8018069" y="3840480"/>
            <a:ext cx="0" cy="128016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406" name="Google Shape;406;p20"/>
          <p:cNvSpPr txBox="1"/>
          <p:nvPr/>
        </p:nvSpPr>
        <p:spPr>
          <a:xfrm>
            <a:off x="8219237" y="3886200"/>
            <a:ext cx="3423818"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11111"/>
                </a:solidFill>
                <a:latin typeface="Arial"/>
                <a:ea typeface="Arial"/>
                <a:cs typeface="Arial"/>
                <a:sym typeface="Arial"/>
              </a:rPr>
              <a:t>Tính lặp lại</a:t>
            </a:r>
            <a:endParaRPr/>
          </a:p>
        </p:txBody>
      </p:sp>
      <p:sp>
        <p:nvSpPr>
          <p:cNvPr id="407" name="Google Shape;407;p20"/>
          <p:cNvSpPr txBox="1"/>
          <p:nvPr/>
        </p:nvSpPr>
        <p:spPr>
          <a:xfrm>
            <a:off x="8219237" y="4325112"/>
            <a:ext cx="3423818"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Gặp mãi hay chỉ lần đầu?</a:t>
            </a:r>
            <a:endParaRPr/>
          </a:p>
        </p:txBody>
      </p:sp>
      <p:sp>
        <p:nvSpPr>
          <p:cNvPr id="408" name="Google Shape;408;p20"/>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20"/>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0" name="Google Shape;410;p20"/>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Ví dụ: "Xóa không hỏi lại" (H3) → mất dữ liệu, ai cũng gặp → </a:t>
            </a:r>
            <a:r>
              <a:rPr b="1" i="0" lang="en-US" sz="1400" u="none" cap="none" strike="noStrike">
                <a:solidFill>
                  <a:srgbClr val="111111"/>
                </a:solidFill>
                <a:latin typeface="Arial"/>
                <a:ea typeface="Arial"/>
                <a:cs typeface="Arial"/>
                <a:sym typeface="Arial"/>
              </a:rPr>
              <a:t>severity 3</a:t>
            </a:r>
            <a:r>
              <a:rPr b="0" i="0" lang="en-US" sz="1400" u="none" cap="none" strike="noStrike">
                <a:solidFill>
                  <a:srgbClr val="111111"/>
                </a:solidFill>
                <a:latin typeface="Arial"/>
                <a:ea typeface="Arial"/>
                <a:cs typeface="Arial"/>
                <a:sym typeface="Arial"/>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1"/>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Hai cách đánh giá usability</a:t>
            </a:r>
            <a:endParaRPr/>
          </a:p>
        </p:txBody>
      </p:sp>
      <p:sp>
        <p:nvSpPr>
          <p:cNvPr id="417" name="Google Shape;417;p21"/>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04</a:t>
            </a:r>
            <a:endParaRPr/>
          </a:p>
        </p:txBody>
      </p:sp>
      <p:sp>
        <p:nvSpPr>
          <p:cNvPr id="418" name="Google Shape;418;p21"/>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21</a:t>
            </a:r>
            <a:endParaRPr/>
          </a:p>
        </p:txBody>
      </p:sp>
      <p:graphicFrame>
        <p:nvGraphicFramePr>
          <p:cNvPr id="419" name="Google Shape;419;p21"/>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1692375"/>
                <a:gridCol w="4701025"/>
                <a:gridCol w="4701025"/>
              </a:tblGrid>
              <a:tr h="512075">
                <a:tc>
                  <a:txBody>
                    <a:bodyPr/>
                    <a:lstStyle/>
                    <a:p>
                      <a:pPr indent="0" lvl="0" marL="0" marR="0" rtl="0" algn="l">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Heuristic evaluation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Usability testing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Ai làm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Chuyên gia, 3–5 người đánh giá độc lập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Người dùng đại diện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Dựa vào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Bộ nguyên lý (10 heuristic)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Hành vi thật khi làm nhiệm vụ</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Chi phí</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Thấp, nhanh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Cao hơn: tuyển người, tổ chức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Tìm được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Vi phạm nguyên lý, kể cả lỗi hiếm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Chỗ người dùng thật sự bị kẹt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Điểm yếu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Có thể báo lỗi người dùng không gặp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Ít người, khó bao phủ hết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420" name="Google Shape;420;p21"/>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21"/>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21"/>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Nên kết hợp: heuristic evaluation trước để dọn lỗi rõ ràng, usability testing sau. Phần 08 dùng </a:t>
            </a:r>
            <a:r>
              <a:rPr b="1" i="0" lang="en-US" sz="1400" u="none" cap="none" strike="noStrike">
                <a:solidFill>
                  <a:srgbClr val="111111"/>
                </a:solidFill>
                <a:latin typeface="Arial"/>
                <a:ea typeface="Arial"/>
                <a:cs typeface="Arial"/>
                <a:sym typeface="Arial"/>
              </a:rPr>
              <a:t>AI làm người đánh giá heuristic</a:t>
            </a:r>
            <a:r>
              <a:rPr b="0" i="0" lang="en-US" sz="1400" u="none" cap="none" strike="noStrike">
                <a:solidFill>
                  <a:srgbClr val="111111"/>
                </a:solidFill>
                <a:latin typeface="Arial"/>
                <a:ea typeface="Arial"/>
                <a:cs typeface="Arial"/>
                <a:sym typeface="Arial"/>
              </a:rPr>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2"/>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Đo usability bằng gì?</a:t>
            </a:r>
            <a:endParaRPr/>
          </a:p>
        </p:txBody>
      </p:sp>
      <p:sp>
        <p:nvSpPr>
          <p:cNvPr id="429" name="Google Shape;429;p22"/>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04</a:t>
            </a:r>
            <a:endParaRPr/>
          </a:p>
        </p:txBody>
      </p:sp>
      <p:sp>
        <p:nvSpPr>
          <p:cNvPr id="430" name="Google Shape;430;p22"/>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22</a:t>
            </a:r>
            <a:endParaRPr/>
          </a:p>
        </p:txBody>
      </p:sp>
      <p:graphicFrame>
        <p:nvGraphicFramePr>
          <p:cNvPr id="431" name="Google Shape;431;p22"/>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2844725"/>
                <a:gridCol w="6163575"/>
                <a:gridCol w="2086125"/>
              </a:tblGrid>
              <a:tr h="512075">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Chỉ số</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Cách tính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Thuộc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Task success rate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 người hoàn thành nhiệm vụ</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Hiệu quả</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Misclick rate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Số click sai / tổng click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Hiệu quả</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Time on task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Thời gian làm xong hoặc bỏ cuộc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Hiệu suất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SEQ</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1 câu sau mỗi nhiệm vụ, thang 1–7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Hài lòng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SUS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10 câu, quy ra điểm 0–100; trung bình ngành ~68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Hài lòng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432" name="Google Shape;432;p22"/>
          <p:cNvSpPr txBox="1"/>
          <p:nvPr/>
        </p:nvSpPr>
        <p:spPr>
          <a:xfrm>
            <a:off x="548640" y="525780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5F6368"/>
                </a:solidFill>
                <a:latin typeface="Arial"/>
                <a:ea typeface="Arial"/>
                <a:cs typeface="Arial"/>
                <a:sym typeface="Arial"/>
              </a:rPr>
              <a:t>Khoảng 5 người mỗi vòng đã tìm được phần lớn vấn đề (Nielsen &amp; Landauer).</a:t>
            </a:r>
            <a:endParaRPr/>
          </a:p>
        </p:txBody>
      </p:sp>
      <p:sp>
        <p:nvSpPr>
          <p:cNvPr id="433" name="Google Shape;433;p22"/>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22"/>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22"/>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UXtweak + Clarity ở Phần 07 đo đúng các chỉ số này.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cxnSp>
        <p:nvCxnSpPr>
          <p:cNvPr id="441" name="Google Shape;441;p23"/>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442" name="Google Shape;442;p23"/>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443" name="Google Shape;443;p23"/>
          <p:cNvSpPr txBox="1"/>
          <p:nvPr/>
        </p:nvSpPr>
        <p:spPr>
          <a:xfrm>
            <a:off x="548640" y="640080"/>
            <a:ext cx="36576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600" u="none" cap="none" strike="noStrike">
                <a:solidFill>
                  <a:srgbClr val="C8CBD0"/>
                </a:solidFill>
                <a:latin typeface="Arial"/>
                <a:ea typeface="Arial"/>
                <a:cs typeface="Arial"/>
                <a:sym typeface="Arial"/>
              </a:rPr>
              <a:t>05</a:t>
            </a:r>
            <a:endParaRPr/>
          </a:p>
        </p:txBody>
      </p:sp>
      <p:sp>
        <p:nvSpPr>
          <p:cNvPr id="444" name="Google Shape;444;p23"/>
          <p:cNvSpPr txBox="1"/>
          <p:nvPr/>
        </p:nvSpPr>
        <p:spPr>
          <a:xfrm>
            <a:off x="548640" y="2148840"/>
            <a:ext cx="1078992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111111"/>
                </a:solidFill>
                <a:latin typeface="Arial"/>
                <a:ea typeface="Arial"/>
                <a:cs typeface="Arial"/>
                <a:sym typeface="Arial"/>
              </a:rPr>
              <a:t>Khảo sát và chọn công cụ</a:t>
            </a:r>
            <a:endParaRPr/>
          </a:p>
        </p:txBody>
      </p:sp>
      <p:cxnSp>
        <p:nvCxnSpPr>
          <p:cNvPr id="445" name="Google Shape;445;p23"/>
          <p:cNvCxnSpPr/>
          <p:nvPr/>
        </p:nvCxnSpPr>
        <p:spPr>
          <a:xfrm>
            <a:off x="548640" y="306324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446" name="Google Shape;446;p23"/>
          <p:cNvSpPr txBox="1"/>
          <p:nvPr/>
        </p:nvSpPr>
        <p:spPr>
          <a:xfrm>
            <a:off x="548640" y="333756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01</a:t>
            </a:r>
            <a:endParaRPr/>
          </a:p>
        </p:txBody>
      </p:sp>
      <p:sp>
        <p:nvSpPr>
          <p:cNvPr id="447" name="Google Shape;447;p23"/>
          <p:cNvSpPr txBox="1"/>
          <p:nvPr/>
        </p:nvSpPr>
        <p:spPr>
          <a:xfrm>
            <a:off x="1188720" y="333756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So sánh 11 công cụ theo chi phí, độ khó, tự động hóa, AI</a:t>
            </a:r>
            <a:endParaRPr/>
          </a:p>
        </p:txBody>
      </p:sp>
      <p:sp>
        <p:nvSpPr>
          <p:cNvPr id="448" name="Google Shape;448;p23"/>
          <p:cNvSpPr txBox="1"/>
          <p:nvPr/>
        </p:nvSpPr>
        <p:spPr>
          <a:xfrm>
            <a:off x="548640" y="384048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02</a:t>
            </a:r>
            <a:endParaRPr/>
          </a:p>
        </p:txBody>
      </p:sp>
      <p:sp>
        <p:nvSpPr>
          <p:cNvPr id="449" name="Google Shape;449;p23"/>
          <p:cNvSpPr txBox="1"/>
          <p:nvPr/>
        </p:nvSpPr>
        <p:spPr>
          <a:xfrm>
            <a:off x="1188720" y="384048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Vì sao chọn Playwright, UXtweak + Clarity (thay Maze) và AI Reviewer</a:t>
            </a:r>
            <a:endParaRPr/>
          </a:p>
        </p:txBody>
      </p:sp>
      <p:sp>
        <p:nvSpPr>
          <p:cNvPr id="450" name="Google Shape;450;p23"/>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4"/>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Chiến lược công cụ: kiềng 3 chân</a:t>
            </a:r>
            <a:endParaRPr/>
          </a:p>
        </p:txBody>
      </p:sp>
      <p:sp>
        <p:nvSpPr>
          <p:cNvPr id="457" name="Google Shape;457;p24"/>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F6368"/>
                </a:solidFill>
                <a:latin typeface="Arial"/>
                <a:ea typeface="Arial"/>
                <a:cs typeface="Arial"/>
                <a:sym typeface="Arial"/>
              </a:rPr>
              <a:t>Sàng lọc từ 11 công cụ (Maze, Hotjar, BackstopJS, Lyssna, Lighthouse…) — bảng đầy đủ ở Phụ lục / Proposal mục 3.</a:t>
            </a:r>
            <a:endParaRPr/>
          </a:p>
        </p:txBody>
      </p:sp>
      <p:sp>
        <p:nvSpPr>
          <p:cNvPr id="458" name="Google Shape;458;p24"/>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05</a:t>
            </a:r>
            <a:endParaRPr/>
          </a:p>
        </p:txBody>
      </p:sp>
      <p:sp>
        <p:nvSpPr>
          <p:cNvPr id="459" name="Google Shape;459;p24"/>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24</a:t>
            </a:r>
            <a:endParaRPr/>
          </a:p>
        </p:txBody>
      </p:sp>
      <p:sp>
        <p:nvSpPr>
          <p:cNvPr id="460" name="Google Shape;460;p24"/>
          <p:cNvSpPr/>
          <p:nvPr/>
        </p:nvSpPr>
        <p:spPr>
          <a:xfrm>
            <a:off x="548640" y="1874520"/>
            <a:ext cx="3515258" cy="3657600"/>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24"/>
          <p:cNvSpPr/>
          <p:nvPr/>
        </p:nvSpPr>
        <p:spPr>
          <a:xfrm>
            <a:off x="548640" y="1874520"/>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2" name="Google Shape;462;p24"/>
          <p:cNvSpPr txBox="1"/>
          <p:nvPr/>
        </p:nvSpPr>
        <p:spPr>
          <a:xfrm>
            <a:off x="749808" y="2057400"/>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Trụ 1 · Máy: Playwright + axe-core</a:t>
            </a:r>
            <a:endParaRPr/>
          </a:p>
        </p:txBody>
      </p:sp>
      <p:sp>
        <p:nvSpPr>
          <p:cNvPr id="463" name="Google Shape;463;p24"/>
          <p:cNvSpPr txBox="1"/>
          <p:nvPr/>
        </p:nvSpPr>
        <p:spPr>
          <a:xfrm>
            <a:off x="749808" y="2496312"/>
            <a:ext cx="3112922" cy="2926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Miễn phí, open-source · </a:t>
            </a:r>
            <a:r>
              <a:rPr b="1" i="0" lang="en-US" sz="1400" u="none" cap="none" strike="noStrike">
                <a:solidFill>
                  <a:srgbClr val="222222"/>
                </a:solidFill>
                <a:latin typeface="Arial"/>
                <a:ea typeface="Arial"/>
                <a:cs typeface="Arial"/>
                <a:sym typeface="Arial"/>
              </a:rPr>
              <a:t>Fully automated</a:t>
            </a:r>
            <a:endParaRPr/>
          </a:p>
          <a:p>
            <a:pPr indent="0" lvl="0" marL="0" marR="0" rtl="0" algn="l">
              <a:spcBef>
                <a:spcPts val="400"/>
              </a:spcBef>
              <a:spcAft>
                <a:spcPts val="0"/>
              </a:spcAft>
              <a:buNone/>
            </a:pPr>
            <a:r>
              <a:rPr b="0" i="0" lang="en-US" sz="1400" u="none" cap="none" strike="noStrike">
                <a:solidFill>
                  <a:srgbClr val="222222"/>
                </a:solidFill>
                <a:latin typeface="Arial"/>
                <a:ea typeface="Arial"/>
                <a:cs typeface="Arial"/>
                <a:sym typeface="Arial"/>
              </a:rPr>
              <a:t>Kiểm thử GUI tự động, đối chiếu đặc tả DOM / CSS / WCAG.</a:t>
            </a:r>
            <a:endParaRPr/>
          </a:p>
        </p:txBody>
      </p:sp>
      <p:sp>
        <p:nvSpPr>
          <p:cNvPr id="464" name="Google Shape;464;p24"/>
          <p:cNvSpPr/>
          <p:nvPr/>
        </p:nvSpPr>
        <p:spPr>
          <a:xfrm>
            <a:off x="4338218" y="1874520"/>
            <a:ext cx="3515258" cy="3657600"/>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24"/>
          <p:cNvSpPr/>
          <p:nvPr/>
        </p:nvSpPr>
        <p:spPr>
          <a:xfrm>
            <a:off x="4338218" y="1874520"/>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6" name="Google Shape;466;p24"/>
          <p:cNvSpPr txBox="1"/>
          <p:nvPr/>
        </p:nvSpPr>
        <p:spPr>
          <a:xfrm>
            <a:off x="4539386" y="2057400"/>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Trụ 2 · Người: UXtweak + Clarity</a:t>
            </a:r>
            <a:endParaRPr/>
          </a:p>
        </p:txBody>
      </p:sp>
      <p:sp>
        <p:nvSpPr>
          <p:cNvPr id="467" name="Google Shape;467;p24"/>
          <p:cNvSpPr txBox="1"/>
          <p:nvPr/>
        </p:nvSpPr>
        <p:spPr>
          <a:xfrm>
            <a:off x="4539386" y="2496312"/>
            <a:ext cx="3112922" cy="2926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Free (1 study, 1 task) + miễn phí · </a:t>
            </a:r>
            <a:r>
              <a:rPr b="1" i="0" lang="en-US" sz="1400" u="none" cap="none" strike="noStrike">
                <a:solidFill>
                  <a:srgbClr val="222222"/>
                </a:solidFill>
                <a:latin typeface="Arial"/>
                <a:ea typeface="Arial"/>
                <a:cs typeface="Arial"/>
                <a:sym typeface="Arial"/>
              </a:rPr>
              <a:t>Semi-automated</a:t>
            </a:r>
            <a:endParaRPr/>
          </a:p>
          <a:p>
            <a:pPr indent="0" lvl="0" marL="0" marR="0" rtl="0" algn="l">
              <a:spcBef>
                <a:spcPts val="400"/>
              </a:spcBef>
              <a:spcAft>
                <a:spcPts val="0"/>
              </a:spcAft>
              <a:buNone/>
            </a:pPr>
            <a:r>
              <a:rPr b="0" i="0" lang="en-US" sz="1400" u="none" cap="none" strike="noStrike">
                <a:solidFill>
                  <a:srgbClr val="222222"/>
                </a:solidFill>
                <a:latin typeface="Arial"/>
                <a:ea typeface="Arial"/>
                <a:cs typeface="Arial"/>
                <a:sym typeface="Arial"/>
              </a:rPr>
              <a:t>Website testing không điều phối, đo hành vi thật. Thay Maze vì Maze khóa Live Website Test ở bản Free.</a:t>
            </a:r>
            <a:endParaRPr/>
          </a:p>
        </p:txBody>
      </p:sp>
      <p:sp>
        <p:nvSpPr>
          <p:cNvPr id="468" name="Google Shape;468;p24"/>
          <p:cNvSpPr/>
          <p:nvPr/>
        </p:nvSpPr>
        <p:spPr>
          <a:xfrm>
            <a:off x="8127797" y="1874520"/>
            <a:ext cx="3515258" cy="3657600"/>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9" name="Google Shape;469;p24"/>
          <p:cNvSpPr/>
          <p:nvPr/>
        </p:nvSpPr>
        <p:spPr>
          <a:xfrm>
            <a:off x="8127797" y="1874520"/>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0" name="Google Shape;470;p24"/>
          <p:cNvSpPr txBox="1"/>
          <p:nvPr/>
        </p:nvSpPr>
        <p:spPr>
          <a:xfrm>
            <a:off x="8328965" y="2057400"/>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Trụ 3 · AI: AI Heuristic Reviewer</a:t>
            </a:r>
            <a:endParaRPr/>
          </a:p>
        </p:txBody>
      </p:sp>
      <p:sp>
        <p:nvSpPr>
          <p:cNvPr id="471" name="Google Shape;471;p24"/>
          <p:cNvSpPr txBox="1"/>
          <p:nvPr/>
        </p:nvSpPr>
        <p:spPr>
          <a:xfrm>
            <a:off x="8328965" y="2496312"/>
            <a:ext cx="3112922" cy="2926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Model của coding agent · </a:t>
            </a:r>
            <a:r>
              <a:rPr b="1" i="0" lang="en-US" sz="1400" u="none" cap="none" strike="noStrike">
                <a:solidFill>
                  <a:srgbClr val="222222"/>
                </a:solidFill>
                <a:latin typeface="Arial"/>
                <a:ea typeface="Arial"/>
                <a:cs typeface="Arial"/>
                <a:sym typeface="Arial"/>
              </a:rPr>
              <a:t>Fully automated</a:t>
            </a:r>
            <a:endParaRPr/>
          </a:p>
          <a:p>
            <a:pPr indent="0" lvl="0" marL="0" marR="0" rtl="0" algn="l">
              <a:spcBef>
                <a:spcPts val="400"/>
              </a:spcBef>
              <a:spcAft>
                <a:spcPts val="0"/>
              </a:spcAft>
              <a:buNone/>
            </a:pPr>
            <a:r>
              <a:rPr b="0" i="0" lang="en-US" sz="1400" u="none" cap="none" strike="noStrike">
                <a:solidFill>
                  <a:srgbClr val="222222"/>
                </a:solidFill>
                <a:latin typeface="Arial"/>
                <a:ea typeface="Arial"/>
                <a:cs typeface="Arial"/>
                <a:sym typeface="Arial"/>
              </a:rPr>
              <a:t>Tự động hóa đánh giá chuyên gia bằng LLM có vision, đo lại so với người.</a:t>
            </a:r>
            <a:endParaRPr/>
          </a:p>
        </p:txBody>
      </p:sp>
      <p:sp>
        <p:nvSpPr>
          <p:cNvPr id="472" name="Google Shape;472;p24"/>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3" name="Google Shape;473;p24"/>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24"/>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Nền: checklist 50 câu (Phần 03) do tester chấm tay. Trên nền đó, Playwright trả lời "đúng đặc tả không", UXtweak + Clarity trả lời "dùng được không", AI làm lại cả hai để so với người.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cxnSp>
        <p:nvCxnSpPr>
          <p:cNvPr id="480" name="Google Shape;480;p25"/>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481" name="Google Shape;481;p25"/>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482" name="Google Shape;482;p25"/>
          <p:cNvSpPr txBox="1"/>
          <p:nvPr/>
        </p:nvSpPr>
        <p:spPr>
          <a:xfrm>
            <a:off x="548640" y="640080"/>
            <a:ext cx="36576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600" u="none" cap="none" strike="noStrike">
                <a:solidFill>
                  <a:srgbClr val="C8CBD0"/>
                </a:solidFill>
                <a:latin typeface="Arial"/>
                <a:ea typeface="Arial"/>
                <a:cs typeface="Arial"/>
                <a:sym typeface="Arial"/>
              </a:rPr>
              <a:t>06</a:t>
            </a:r>
            <a:endParaRPr/>
          </a:p>
        </p:txBody>
      </p:sp>
      <p:sp>
        <p:nvSpPr>
          <p:cNvPr id="483" name="Google Shape;483;p25"/>
          <p:cNvSpPr txBox="1"/>
          <p:nvPr/>
        </p:nvSpPr>
        <p:spPr>
          <a:xfrm>
            <a:off x="548640" y="2148840"/>
            <a:ext cx="1078992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111111"/>
                </a:solidFill>
                <a:latin typeface="Arial"/>
                <a:ea typeface="Arial"/>
                <a:cs typeface="Arial"/>
                <a:sym typeface="Arial"/>
              </a:rPr>
              <a:t>Playwright + axe-core</a:t>
            </a:r>
            <a:endParaRPr/>
          </a:p>
        </p:txBody>
      </p:sp>
      <p:cxnSp>
        <p:nvCxnSpPr>
          <p:cNvPr id="484" name="Google Shape;484;p25"/>
          <p:cNvCxnSpPr/>
          <p:nvPr/>
        </p:nvCxnSpPr>
        <p:spPr>
          <a:xfrm>
            <a:off x="548640" y="306324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485" name="Google Shape;485;p25"/>
          <p:cNvSpPr txBox="1"/>
          <p:nvPr/>
        </p:nvSpPr>
        <p:spPr>
          <a:xfrm>
            <a:off x="548640" y="333756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01</a:t>
            </a:r>
            <a:endParaRPr/>
          </a:p>
        </p:txBody>
      </p:sp>
      <p:sp>
        <p:nvSpPr>
          <p:cNvPr id="486" name="Google Shape;486;p25"/>
          <p:cNvSpPr txBox="1"/>
          <p:nvPr/>
        </p:nvSpPr>
        <p:spPr>
          <a:xfrm>
            <a:off x="1188720" y="333756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Playwright là gì, nguyên lý hoạt động</a:t>
            </a:r>
            <a:endParaRPr/>
          </a:p>
        </p:txBody>
      </p:sp>
      <p:sp>
        <p:nvSpPr>
          <p:cNvPr id="487" name="Google Shape;487;p25"/>
          <p:cNvSpPr txBox="1"/>
          <p:nvPr/>
        </p:nvSpPr>
        <p:spPr>
          <a:xfrm>
            <a:off x="548640" y="384048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02</a:t>
            </a:r>
            <a:endParaRPr/>
          </a:p>
        </p:txBody>
      </p:sp>
      <p:sp>
        <p:nvSpPr>
          <p:cNvPr id="488" name="Google Shape;488;p25"/>
          <p:cNvSpPr txBox="1"/>
          <p:nvPr/>
        </p:nvSpPr>
        <p:spPr>
          <a:xfrm>
            <a:off x="1188720" y="384048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Record &amp; Playback, Data-driven, Checkpoint nằm ở đâu</a:t>
            </a:r>
            <a:endParaRPr/>
          </a:p>
        </p:txBody>
      </p:sp>
      <p:sp>
        <p:nvSpPr>
          <p:cNvPr id="489" name="Google Shape;489;p25"/>
          <p:cNvSpPr txBox="1"/>
          <p:nvPr/>
        </p:nvSpPr>
        <p:spPr>
          <a:xfrm>
            <a:off x="548640" y="434340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03</a:t>
            </a:r>
            <a:endParaRPr/>
          </a:p>
        </p:txBody>
      </p:sp>
      <p:sp>
        <p:nvSpPr>
          <p:cNvPr id="490" name="Google Shape;490;p25"/>
          <p:cNvSpPr txBox="1"/>
          <p:nvPr/>
        </p:nvSpPr>
        <p:spPr>
          <a:xfrm>
            <a:off x="1188720" y="434340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3 demo trên EShop + tóm tắt 3 video</a:t>
            </a:r>
            <a:endParaRPr/>
          </a:p>
        </p:txBody>
      </p:sp>
      <p:sp>
        <p:nvSpPr>
          <p:cNvPr id="491" name="Google Shape;491;p25"/>
          <p:cNvSpPr txBox="1"/>
          <p:nvPr/>
        </p:nvSpPr>
        <p:spPr>
          <a:xfrm>
            <a:off x="548640" y="484632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B3A6E"/>
                </a:solidFill>
                <a:latin typeface="Consolas"/>
                <a:ea typeface="Consolas"/>
                <a:cs typeface="Consolas"/>
                <a:sym typeface="Consolas"/>
              </a:rPr>
              <a:t>04</a:t>
            </a:r>
            <a:endParaRPr/>
          </a:p>
        </p:txBody>
      </p:sp>
      <p:sp>
        <p:nvSpPr>
          <p:cNvPr id="492" name="Google Shape;492;p25"/>
          <p:cNvSpPr txBox="1"/>
          <p:nvPr/>
        </p:nvSpPr>
        <p:spPr>
          <a:xfrm>
            <a:off x="1188720" y="484632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22222"/>
                </a:solidFill>
                <a:latin typeface="Arial"/>
                <a:ea typeface="Arial"/>
                <a:cs typeface="Arial"/>
                <a:sym typeface="Arial"/>
              </a:rPr>
              <a:t>Điểm yếu và ca không xử lý được</a:t>
            </a:r>
            <a:endParaRPr/>
          </a:p>
        </p:txBody>
      </p:sp>
      <p:sp>
        <p:nvSpPr>
          <p:cNvPr id="493" name="Google Shape;493;p25"/>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6"/>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Playwright là gì?</a:t>
            </a:r>
            <a:endParaRPr/>
          </a:p>
        </p:txBody>
      </p:sp>
      <p:sp>
        <p:nvSpPr>
          <p:cNvPr id="500" name="Google Shape;500;p26"/>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06</a:t>
            </a:r>
            <a:endParaRPr/>
          </a:p>
        </p:txBody>
      </p:sp>
      <p:sp>
        <p:nvSpPr>
          <p:cNvPr id="501" name="Google Shape;501;p26"/>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26</a:t>
            </a:r>
            <a:endParaRPr/>
          </a:p>
        </p:txBody>
      </p:sp>
      <p:sp>
        <p:nvSpPr>
          <p:cNvPr id="502" name="Google Shape;502;p26"/>
          <p:cNvSpPr/>
          <p:nvPr/>
        </p:nvSpPr>
        <p:spPr>
          <a:xfrm>
            <a:off x="548640" y="1115568"/>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3" name="Google Shape;503;p26"/>
          <p:cNvSpPr/>
          <p:nvPr/>
        </p:nvSpPr>
        <p:spPr>
          <a:xfrm>
            <a:off x="548640" y="1115568"/>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26"/>
          <p:cNvSpPr txBox="1"/>
          <p:nvPr/>
        </p:nvSpPr>
        <p:spPr>
          <a:xfrm>
            <a:off x="749808" y="1298448"/>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Đa trình duyệt</a:t>
            </a:r>
            <a:endParaRPr/>
          </a:p>
        </p:txBody>
      </p:sp>
      <p:sp>
        <p:nvSpPr>
          <p:cNvPr id="505" name="Google Shape;505;p26"/>
          <p:cNvSpPr txBox="1"/>
          <p:nvPr/>
        </p:nvSpPr>
        <p:spPr>
          <a:xfrm>
            <a:off x="749808" y="1737360"/>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Framework kiểm thử web </a:t>
            </a:r>
            <a:r>
              <a:rPr b="1" i="0" lang="en-US" sz="1400" u="none" cap="none" strike="noStrike">
                <a:solidFill>
                  <a:srgbClr val="222222"/>
                </a:solidFill>
                <a:latin typeface="Arial"/>
                <a:ea typeface="Arial"/>
                <a:cs typeface="Arial"/>
                <a:sym typeface="Arial"/>
              </a:rPr>
              <a:t>open-source</a:t>
            </a:r>
            <a:r>
              <a:rPr b="0" i="0" lang="en-US" sz="1400" u="none" cap="none" strike="noStrike">
                <a:solidFill>
                  <a:srgbClr val="222222"/>
                </a:solidFill>
                <a:latin typeface="Arial"/>
                <a:ea typeface="Arial"/>
                <a:cs typeface="Arial"/>
                <a:sym typeface="Arial"/>
              </a:rPr>
              <a:t> của Microsoft; chạy Chromium, WebKit, Firefox.</a:t>
            </a:r>
            <a:endParaRPr/>
          </a:p>
        </p:txBody>
      </p:sp>
      <p:sp>
        <p:nvSpPr>
          <p:cNvPr id="506" name="Google Shape;506;p26"/>
          <p:cNvSpPr/>
          <p:nvPr/>
        </p:nvSpPr>
        <p:spPr>
          <a:xfrm>
            <a:off x="4338218" y="1115568"/>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7" name="Google Shape;507;p26"/>
          <p:cNvSpPr/>
          <p:nvPr/>
        </p:nvSpPr>
        <p:spPr>
          <a:xfrm>
            <a:off x="4338218" y="1115568"/>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8" name="Google Shape;508;p26"/>
          <p:cNvSpPr txBox="1"/>
          <p:nvPr/>
        </p:nvSpPr>
        <p:spPr>
          <a:xfrm>
            <a:off x="4539386" y="1298448"/>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Locator theo role</a:t>
            </a:r>
            <a:endParaRPr/>
          </a:p>
        </p:txBody>
      </p:sp>
      <p:sp>
        <p:nvSpPr>
          <p:cNvPr id="509" name="Google Shape;509;p26"/>
          <p:cNvSpPr txBox="1"/>
          <p:nvPr/>
        </p:nvSpPr>
        <p:spPr>
          <a:xfrm>
            <a:off x="4539386" y="1737360"/>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Tìm phần tử theo role và tên (</a:t>
            </a:r>
            <a:r>
              <a:rPr b="0" i="0" lang="en-US" sz="1300" u="none" cap="none" strike="noStrike">
                <a:solidFill>
                  <a:srgbClr val="222222"/>
                </a:solidFill>
                <a:latin typeface="Consolas"/>
                <a:ea typeface="Consolas"/>
                <a:cs typeface="Consolas"/>
                <a:sym typeface="Consolas"/>
              </a:rPr>
              <a:t>getByRole</a:t>
            </a:r>
            <a:r>
              <a:rPr b="0" i="0" lang="en-US" sz="1400" u="none" cap="none" strike="noStrike">
                <a:solidFill>
                  <a:srgbClr val="222222"/>
                </a:solidFill>
                <a:latin typeface="Arial"/>
                <a:ea typeface="Arial"/>
                <a:cs typeface="Arial"/>
                <a:sym typeface="Arial"/>
              </a:rPr>
              <a:t>), không phụ thuộc CSS dài.</a:t>
            </a:r>
            <a:endParaRPr/>
          </a:p>
        </p:txBody>
      </p:sp>
      <p:sp>
        <p:nvSpPr>
          <p:cNvPr id="510" name="Google Shape;510;p26"/>
          <p:cNvSpPr/>
          <p:nvPr/>
        </p:nvSpPr>
        <p:spPr>
          <a:xfrm>
            <a:off x="8127797" y="1115568"/>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26"/>
          <p:cNvSpPr/>
          <p:nvPr/>
        </p:nvSpPr>
        <p:spPr>
          <a:xfrm>
            <a:off x="8127797" y="1115568"/>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2" name="Google Shape;512;p26"/>
          <p:cNvSpPr txBox="1"/>
          <p:nvPr/>
        </p:nvSpPr>
        <p:spPr>
          <a:xfrm>
            <a:off x="8328965" y="1298448"/>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Auto-wait</a:t>
            </a:r>
            <a:endParaRPr/>
          </a:p>
        </p:txBody>
      </p:sp>
      <p:sp>
        <p:nvSpPr>
          <p:cNvPr id="513" name="Google Shape;513;p26"/>
          <p:cNvSpPr txBox="1"/>
          <p:nvPr/>
        </p:nvSpPr>
        <p:spPr>
          <a:xfrm>
            <a:off x="8328965" y="1737360"/>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Tự đợi phần tử sẵn sàng trước khi thao tác → ít test chập chờn.</a:t>
            </a:r>
            <a:endParaRPr/>
          </a:p>
        </p:txBody>
      </p:sp>
      <p:sp>
        <p:nvSpPr>
          <p:cNvPr id="514" name="Google Shape;514;p26"/>
          <p:cNvSpPr/>
          <p:nvPr/>
        </p:nvSpPr>
        <p:spPr>
          <a:xfrm>
            <a:off x="548640" y="3803904"/>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Google Shape;515;p26"/>
          <p:cNvSpPr/>
          <p:nvPr/>
        </p:nvSpPr>
        <p:spPr>
          <a:xfrm>
            <a:off x="548640" y="3803904"/>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6" name="Google Shape;516;p26"/>
          <p:cNvSpPr txBox="1"/>
          <p:nvPr/>
        </p:nvSpPr>
        <p:spPr>
          <a:xfrm>
            <a:off x="749808" y="3986784"/>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Web-first assertion</a:t>
            </a:r>
            <a:endParaRPr/>
          </a:p>
        </p:txBody>
      </p:sp>
      <p:sp>
        <p:nvSpPr>
          <p:cNvPr id="517" name="Google Shape;517;p26"/>
          <p:cNvSpPr txBox="1"/>
          <p:nvPr/>
        </p:nvSpPr>
        <p:spPr>
          <a:xfrm>
            <a:off x="749808" y="4425696"/>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u="none" cap="none" strike="noStrike">
                <a:solidFill>
                  <a:srgbClr val="222222"/>
                </a:solidFill>
                <a:latin typeface="Consolas"/>
                <a:ea typeface="Consolas"/>
                <a:cs typeface="Consolas"/>
                <a:sym typeface="Consolas"/>
              </a:rPr>
              <a:t>expect(...)</a:t>
            </a:r>
            <a:r>
              <a:rPr b="0" i="0" lang="en-US" sz="1400" u="none" cap="none" strike="noStrike">
                <a:solidFill>
                  <a:srgbClr val="222222"/>
                </a:solidFill>
                <a:latin typeface="Arial"/>
                <a:ea typeface="Arial"/>
                <a:cs typeface="Arial"/>
                <a:sym typeface="Arial"/>
              </a:rPr>
              <a:t> tự thử lại đến khi đúng hoặc hết giờ.</a:t>
            </a:r>
            <a:endParaRPr/>
          </a:p>
        </p:txBody>
      </p:sp>
      <p:sp>
        <p:nvSpPr>
          <p:cNvPr id="518" name="Google Shape;518;p26"/>
          <p:cNvSpPr/>
          <p:nvPr/>
        </p:nvSpPr>
        <p:spPr>
          <a:xfrm>
            <a:off x="4338218" y="3803904"/>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26"/>
          <p:cNvSpPr/>
          <p:nvPr/>
        </p:nvSpPr>
        <p:spPr>
          <a:xfrm>
            <a:off x="4338218" y="3803904"/>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0" name="Google Shape;520;p26"/>
          <p:cNvSpPr txBox="1"/>
          <p:nvPr/>
        </p:nvSpPr>
        <p:spPr>
          <a:xfrm>
            <a:off x="4539386" y="3986784"/>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Báo cáo &amp; trace</a:t>
            </a:r>
            <a:endParaRPr/>
          </a:p>
        </p:txBody>
      </p:sp>
      <p:sp>
        <p:nvSpPr>
          <p:cNvPr id="521" name="Google Shape;521;p26"/>
          <p:cNvSpPr txBox="1"/>
          <p:nvPr/>
        </p:nvSpPr>
        <p:spPr>
          <a:xfrm>
            <a:off x="4539386" y="4425696"/>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Báo cáo HTML, trace, ảnh chụp khi fail.</a:t>
            </a:r>
            <a:endParaRPr/>
          </a:p>
        </p:txBody>
      </p:sp>
      <p:sp>
        <p:nvSpPr>
          <p:cNvPr id="522" name="Google Shape;522;p26"/>
          <p:cNvSpPr/>
          <p:nvPr/>
        </p:nvSpPr>
        <p:spPr>
          <a:xfrm>
            <a:off x="8127797" y="3803904"/>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26"/>
          <p:cNvSpPr/>
          <p:nvPr/>
        </p:nvSpPr>
        <p:spPr>
          <a:xfrm>
            <a:off x="8127797" y="3803904"/>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4" name="Google Shape;524;p26"/>
          <p:cNvSpPr txBox="1"/>
          <p:nvPr/>
        </p:nvSpPr>
        <p:spPr>
          <a:xfrm>
            <a:off x="8328965" y="3986784"/>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11111"/>
                </a:solidFill>
                <a:latin typeface="Arial"/>
                <a:ea typeface="Arial"/>
                <a:cs typeface="Arial"/>
                <a:sym typeface="Arial"/>
              </a:rPr>
              <a:t>axe-core</a:t>
            </a:r>
            <a:endParaRPr/>
          </a:p>
        </p:txBody>
      </p:sp>
      <p:sp>
        <p:nvSpPr>
          <p:cNvPr id="525" name="Google Shape;525;p26"/>
          <p:cNvSpPr txBox="1"/>
          <p:nvPr/>
        </p:nvSpPr>
        <p:spPr>
          <a:xfrm>
            <a:off x="8328965" y="4425696"/>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Quét lỗi accessibility theo WCAG, chạy trong cùng test.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27"/>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Bộ ba bắt buộc nằm ở đâu?</a:t>
            </a:r>
            <a:endParaRPr/>
          </a:p>
        </p:txBody>
      </p:sp>
      <p:sp>
        <p:nvSpPr>
          <p:cNvPr id="532" name="Google Shape;532;p27"/>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06</a:t>
            </a:r>
            <a:endParaRPr/>
          </a:p>
        </p:txBody>
      </p:sp>
      <p:sp>
        <p:nvSpPr>
          <p:cNvPr id="533" name="Google Shape;533;p27"/>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27</a:t>
            </a:r>
            <a:endParaRPr/>
          </a:p>
        </p:txBody>
      </p:sp>
      <p:graphicFrame>
        <p:nvGraphicFramePr>
          <p:cNvPr id="534" name="Google Shape;534;p27"/>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2773600"/>
                <a:gridCol w="5547200"/>
                <a:gridCol w="2773600"/>
              </a:tblGrid>
              <a:tr h="68580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Thành phần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Trong Playwright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Demo · Video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68580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Record &amp; Playback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Consolas"/>
                          <a:ea typeface="Consolas"/>
                          <a:cs typeface="Consolas"/>
                          <a:sym typeface="Consolas"/>
                        </a:rPr>
                        <a:t>npx playwright codegen</a:t>
                      </a:r>
                      <a:r>
                        <a:rPr b="0" i="0" lang="en-US" sz="1500" u="none" cap="none" strike="noStrike">
                          <a:solidFill>
                            <a:srgbClr val="222222"/>
                          </a:solidFill>
                          <a:latin typeface="Arial"/>
                          <a:ea typeface="Arial"/>
                          <a:cs typeface="Arial"/>
                          <a:sym typeface="Arial"/>
                        </a:rPr>
                        <a:t> ghi thao tác thành code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Demo 2 · PW-2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68580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Data-driven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1 test × </a:t>
                      </a:r>
                      <a:r>
                        <a:rPr b="0" i="0" lang="en-US" sz="1400" u="none" cap="none" strike="noStrike">
                          <a:solidFill>
                            <a:srgbClr val="222222"/>
                          </a:solidFill>
                          <a:latin typeface="Consolas"/>
                          <a:ea typeface="Consolas"/>
                          <a:cs typeface="Consolas"/>
                          <a:sym typeface="Consolas"/>
                        </a:rPr>
                        <a:t>data/pages.json</a:t>
                      </a:r>
                      <a:r>
                        <a:rPr b="0" i="0" lang="en-US" sz="1500" u="none" cap="none" strike="noStrike">
                          <a:solidFill>
                            <a:srgbClr val="222222"/>
                          </a:solidFill>
                          <a:latin typeface="Arial"/>
                          <a:ea typeface="Arial"/>
                          <a:cs typeface="Arial"/>
                          <a:sym typeface="Arial"/>
                        </a:rPr>
                        <a:t> × 3 viewport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Demo 3 · PW-3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685800">
                <a:tc>
                  <a:txBody>
                    <a:bodyPr/>
                    <a:lstStyle/>
                    <a:p>
                      <a:pPr indent="0" lvl="0" marL="0" marR="0" rtl="0" algn="l">
                        <a:spcBef>
                          <a:spcPts val="0"/>
                        </a:spcBef>
                        <a:spcAft>
                          <a:spcPts val="0"/>
                        </a:spcAft>
                        <a:buNone/>
                      </a:pPr>
                      <a:r>
                        <a:rPr b="1" i="0" lang="en-US" sz="1500" u="none" cap="none" strike="noStrike">
                          <a:solidFill>
                            <a:srgbClr val="222222"/>
                          </a:solidFill>
                          <a:latin typeface="Arial"/>
                          <a:ea typeface="Arial"/>
                          <a:cs typeface="Arial"/>
                          <a:sym typeface="Arial"/>
                        </a:rPr>
                        <a:t>Checkpoint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Consolas"/>
                          <a:ea typeface="Consolas"/>
                          <a:cs typeface="Consolas"/>
                          <a:sym typeface="Consolas"/>
                        </a:rPr>
                        <a:t>expect</a:t>
                      </a:r>
                      <a:r>
                        <a:rPr b="0" i="0" lang="en-US" sz="1500" u="none" cap="none" strike="noStrike">
                          <a:solidFill>
                            <a:srgbClr val="222222"/>
                          </a:solidFill>
                          <a:latin typeface="Arial"/>
                          <a:ea typeface="Arial"/>
                          <a:cs typeface="Arial"/>
                          <a:sym typeface="Arial"/>
                        </a:rPr>
                        <a:t> · </a:t>
                      </a:r>
                      <a:r>
                        <a:rPr b="0" i="0" lang="en-US" sz="1400" u="none" cap="none" strike="noStrike">
                          <a:solidFill>
                            <a:srgbClr val="222222"/>
                          </a:solidFill>
                          <a:latin typeface="Consolas"/>
                          <a:ea typeface="Consolas"/>
                          <a:cs typeface="Consolas"/>
                          <a:sym typeface="Consolas"/>
                        </a:rPr>
                        <a:t>toHaveCSS</a:t>
                      </a:r>
                      <a:r>
                        <a:rPr b="0" i="0" lang="en-US" sz="1500" u="none" cap="none" strike="noStrike">
                          <a:solidFill>
                            <a:srgbClr val="222222"/>
                          </a:solidFill>
                          <a:latin typeface="Arial"/>
                          <a:ea typeface="Arial"/>
                          <a:cs typeface="Arial"/>
                          <a:sym typeface="Arial"/>
                        </a:rPr>
                        <a:t> · </a:t>
                      </a:r>
                      <a:r>
                        <a:rPr b="0" i="0" lang="en-US" sz="1400" u="none" cap="none" strike="noStrike">
                          <a:solidFill>
                            <a:srgbClr val="222222"/>
                          </a:solidFill>
                          <a:latin typeface="Consolas"/>
                          <a:ea typeface="Consolas"/>
                          <a:cs typeface="Consolas"/>
                          <a:sym typeface="Consolas"/>
                        </a:rPr>
                        <a:t>toHaveScreenshot</a:t>
                      </a:r>
                      <a:r>
                        <a:rPr b="0" i="0" lang="en-US" sz="1500" u="none" cap="none" strike="noStrike">
                          <a:solidFill>
                            <a:srgbClr val="222222"/>
                          </a:solidFill>
                          <a:latin typeface="Arial"/>
                          <a:ea typeface="Arial"/>
                          <a:cs typeface="Arial"/>
                          <a:sym typeface="Arial"/>
                        </a:rPr>
                        <a:t> · axe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222222"/>
                          </a:solidFill>
                          <a:latin typeface="Arial"/>
                          <a:ea typeface="Arial"/>
                          <a:cs typeface="Arial"/>
                          <a:sym typeface="Arial"/>
                        </a:rPr>
                        <a:t>Demo 2, 3 · PW-2, PW-3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535" name="Google Shape;535;p27"/>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6" name="Google Shape;536;p27"/>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7" name="Google Shape;537;p27"/>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Checkpoint luôn là </a:t>
            </a:r>
            <a:r>
              <a:rPr b="1" i="0" lang="en-US" sz="1400" u="none" cap="none" strike="noStrike">
                <a:solidFill>
                  <a:srgbClr val="111111"/>
                </a:solidFill>
                <a:latin typeface="Arial"/>
                <a:ea typeface="Arial"/>
                <a:cs typeface="Arial"/>
                <a:sym typeface="Arial"/>
              </a:rPr>
              <a:t>thuộc tính giao diện</a:t>
            </a:r>
            <a:r>
              <a:rPr b="0" i="0" lang="en-US" sz="1400" u="none" cap="none" strike="noStrike">
                <a:solidFill>
                  <a:srgbClr val="111111"/>
                </a:solidFill>
                <a:latin typeface="Arial"/>
                <a:ea typeface="Arial"/>
                <a:cs typeface="Arial"/>
                <a:sym typeface="Arial"/>
              </a:rPr>
              <a:t> (đề T1), không kiểm kết quả nghiệp vụ (đề T2).</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28"/>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111111"/>
                </a:solidFill>
                <a:latin typeface="Arial"/>
                <a:ea typeface="Arial"/>
                <a:cs typeface="Arial"/>
                <a:sym typeface="Arial"/>
              </a:rPr>
              <a:t>Demo 1 — Cài đặt</a:t>
            </a:r>
            <a:endParaRPr/>
          </a:p>
        </p:txBody>
      </p:sp>
      <p:sp>
        <p:nvSpPr>
          <p:cNvPr id="544" name="Google Shape;544;p28"/>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u="none" cap="none" strike="noStrike">
                <a:solidFill>
                  <a:srgbClr val="9A9EA3"/>
                </a:solidFill>
                <a:latin typeface="Arial"/>
                <a:ea typeface="Arial"/>
                <a:cs typeface="Arial"/>
                <a:sym typeface="Arial"/>
              </a:rPr>
              <a:t>Nhóm 09 · T1 GUI &amp; Usability Testing   ·   Phần 06</a:t>
            </a:r>
            <a:endParaRPr/>
          </a:p>
        </p:txBody>
      </p:sp>
      <p:sp>
        <p:nvSpPr>
          <p:cNvPr id="545" name="Google Shape;545;p28"/>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u="none" cap="none" strike="noStrike">
                <a:solidFill>
                  <a:srgbClr val="9A9EA3"/>
                </a:solidFill>
                <a:latin typeface="Consolas"/>
                <a:ea typeface="Consolas"/>
                <a:cs typeface="Consolas"/>
                <a:sym typeface="Consolas"/>
              </a:rPr>
              <a:t>28</a:t>
            </a:r>
            <a:endParaRPr/>
          </a:p>
        </p:txBody>
      </p:sp>
      <p:sp>
        <p:nvSpPr>
          <p:cNvPr id="546" name="Google Shape;546;p28"/>
          <p:cNvSpPr txBox="1"/>
          <p:nvPr/>
        </p:nvSpPr>
        <p:spPr>
          <a:xfrm>
            <a:off x="548640" y="1115568"/>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B3A6E"/>
                </a:solidFill>
                <a:latin typeface="Consolas"/>
                <a:ea typeface="Consolas"/>
                <a:cs typeface="Consolas"/>
                <a:sym typeface="Consolas"/>
              </a:rPr>
              <a:t>01</a:t>
            </a:r>
            <a:endParaRPr/>
          </a:p>
        </p:txBody>
      </p:sp>
      <p:sp>
        <p:nvSpPr>
          <p:cNvPr id="547" name="Google Shape;547;p28"/>
          <p:cNvSpPr txBox="1"/>
          <p:nvPr/>
        </p:nvSpPr>
        <p:spPr>
          <a:xfrm>
            <a:off x="1325880" y="1161288"/>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22222"/>
                </a:solidFill>
                <a:latin typeface="Consolas"/>
                <a:ea typeface="Consolas"/>
                <a:cs typeface="Consolas"/>
                <a:sym typeface="Consolas"/>
              </a:rPr>
              <a:t>npm init playwright@latest</a:t>
            </a:r>
            <a:r>
              <a:rPr b="0" i="0" lang="en-US" sz="1600" u="none" cap="none" strike="noStrike">
                <a:solidFill>
                  <a:srgbClr val="222222"/>
                </a:solidFill>
                <a:latin typeface="Arial"/>
                <a:ea typeface="Arial"/>
                <a:cs typeface="Arial"/>
                <a:sym typeface="Arial"/>
              </a:rPr>
              <a:t> trong </a:t>
            </a:r>
            <a:r>
              <a:rPr b="0" i="0" lang="en-US" sz="1500" u="none" cap="none" strike="noStrike">
                <a:solidFill>
                  <a:srgbClr val="222222"/>
                </a:solidFill>
                <a:latin typeface="Consolas"/>
                <a:ea typeface="Consolas"/>
                <a:cs typeface="Consolas"/>
                <a:sym typeface="Consolas"/>
              </a:rPr>
              <a:t>tests/playwright/</a:t>
            </a:r>
            <a:r>
              <a:rPr b="0" i="0" lang="en-US" sz="1600" u="none" cap="none" strike="noStrike">
                <a:solidFill>
                  <a:srgbClr val="222222"/>
                </a:solidFill>
                <a:latin typeface="Arial"/>
                <a:ea typeface="Arial"/>
                <a:cs typeface="Arial"/>
                <a:sym typeface="Arial"/>
              </a:rPr>
              <a:t> + cài </a:t>
            </a:r>
            <a:r>
              <a:rPr b="0" i="0" lang="en-US" sz="1500" u="none" cap="none" strike="noStrike">
                <a:solidFill>
                  <a:srgbClr val="222222"/>
                </a:solidFill>
                <a:latin typeface="Consolas"/>
                <a:ea typeface="Consolas"/>
                <a:cs typeface="Consolas"/>
                <a:sym typeface="Consolas"/>
              </a:rPr>
              <a:t>@axe-core/playwright</a:t>
            </a:r>
            <a:endParaRPr/>
          </a:p>
        </p:txBody>
      </p:sp>
      <p:cxnSp>
        <p:nvCxnSpPr>
          <p:cNvPr id="548" name="Google Shape;548;p28"/>
          <p:cNvCxnSpPr/>
          <p:nvPr/>
        </p:nvCxnSpPr>
        <p:spPr>
          <a:xfrm>
            <a:off x="548640" y="1755648"/>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549" name="Google Shape;549;p28"/>
          <p:cNvSpPr txBox="1"/>
          <p:nvPr/>
        </p:nvSpPr>
        <p:spPr>
          <a:xfrm>
            <a:off x="548640" y="1828800"/>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B3A6E"/>
                </a:solidFill>
                <a:latin typeface="Consolas"/>
                <a:ea typeface="Consolas"/>
                <a:cs typeface="Consolas"/>
                <a:sym typeface="Consolas"/>
              </a:rPr>
              <a:t>02</a:t>
            </a:r>
            <a:endParaRPr/>
          </a:p>
        </p:txBody>
      </p:sp>
      <p:sp>
        <p:nvSpPr>
          <p:cNvPr id="550" name="Google Shape;550;p28"/>
          <p:cNvSpPr txBox="1"/>
          <p:nvPr/>
        </p:nvSpPr>
        <p:spPr>
          <a:xfrm>
            <a:off x="1325880" y="1874520"/>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222222"/>
                </a:solidFill>
                <a:latin typeface="Arial"/>
                <a:ea typeface="Arial"/>
                <a:cs typeface="Arial"/>
                <a:sym typeface="Arial"/>
              </a:rPr>
              <a:t>Chạy test mẫu: </a:t>
            </a:r>
            <a:r>
              <a:rPr b="0" i="0" lang="en-US" sz="1500" u="none" cap="none" strike="noStrike">
                <a:solidFill>
                  <a:srgbClr val="222222"/>
                </a:solidFill>
                <a:latin typeface="Consolas"/>
                <a:ea typeface="Consolas"/>
                <a:cs typeface="Consolas"/>
                <a:sym typeface="Consolas"/>
              </a:rPr>
              <a:t>npx playwright test --project=chromium</a:t>
            </a:r>
            <a:endParaRPr/>
          </a:p>
        </p:txBody>
      </p:sp>
      <p:cxnSp>
        <p:nvCxnSpPr>
          <p:cNvPr id="551" name="Google Shape;551;p28"/>
          <p:cNvCxnSpPr/>
          <p:nvPr/>
        </p:nvCxnSpPr>
        <p:spPr>
          <a:xfrm>
            <a:off x="548640" y="2468880"/>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552" name="Google Shape;552;p28"/>
          <p:cNvSpPr txBox="1"/>
          <p:nvPr/>
        </p:nvSpPr>
        <p:spPr>
          <a:xfrm>
            <a:off x="548640" y="2542032"/>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B3A6E"/>
                </a:solidFill>
                <a:latin typeface="Consolas"/>
                <a:ea typeface="Consolas"/>
                <a:cs typeface="Consolas"/>
                <a:sym typeface="Consolas"/>
              </a:rPr>
              <a:t>03</a:t>
            </a:r>
            <a:endParaRPr/>
          </a:p>
        </p:txBody>
      </p:sp>
      <p:sp>
        <p:nvSpPr>
          <p:cNvPr id="553" name="Google Shape;553;p28"/>
          <p:cNvSpPr txBox="1"/>
          <p:nvPr/>
        </p:nvSpPr>
        <p:spPr>
          <a:xfrm>
            <a:off x="1325880" y="2587752"/>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222222"/>
                </a:solidFill>
                <a:latin typeface="Arial"/>
                <a:ea typeface="Arial"/>
                <a:cs typeface="Arial"/>
                <a:sym typeface="Arial"/>
              </a:rPr>
              <a:t>Xem báo cáo: </a:t>
            </a:r>
            <a:r>
              <a:rPr b="0" i="0" lang="en-US" sz="1500" u="none" cap="none" strike="noStrike">
                <a:solidFill>
                  <a:srgbClr val="222222"/>
                </a:solidFill>
                <a:latin typeface="Consolas"/>
                <a:ea typeface="Consolas"/>
                <a:cs typeface="Consolas"/>
                <a:sym typeface="Consolas"/>
              </a:rPr>
              <a:t>npx playwright show-report</a:t>
            </a:r>
            <a:endParaRPr/>
          </a:p>
        </p:txBody>
      </p:sp>
      <p:cxnSp>
        <p:nvCxnSpPr>
          <p:cNvPr id="554" name="Google Shape;554;p28"/>
          <p:cNvCxnSpPr/>
          <p:nvPr/>
        </p:nvCxnSpPr>
        <p:spPr>
          <a:xfrm>
            <a:off x="548640" y="3182112"/>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555" name="Google Shape;555;p28"/>
          <p:cNvSpPr/>
          <p:nvPr/>
        </p:nvSpPr>
        <p:spPr>
          <a:xfrm>
            <a:off x="548640" y="3392424"/>
            <a:ext cx="11094415" cy="548640"/>
          </a:xfrm>
          <a:prstGeom prst="rect">
            <a:avLst/>
          </a:prstGeom>
          <a:solidFill>
            <a:srgbClr val="E8F4E9"/>
          </a:solidFill>
          <a:ln cap="flat" cmpd="sng" w="12700">
            <a:solidFill>
              <a:srgbClr val="2E7D3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6" name="Google Shape;556;p28"/>
          <p:cNvSpPr txBox="1"/>
          <p:nvPr/>
        </p:nvSpPr>
        <p:spPr>
          <a:xfrm>
            <a:off x="749808" y="3392424"/>
            <a:ext cx="10820095" cy="54864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111111"/>
                </a:solidFill>
                <a:latin typeface="Arial"/>
                <a:ea typeface="Arial"/>
                <a:cs typeface="Arial"/>
                <a:sym typeface="Arial"/>
              </a:rPr>
              <a:t>✓  </a:t>
            </a:r>
            <a:r>
              <a:rPr b="1" i="0" lang="en-US" sz="1400" u="none" cap="none" strike="noStrike">
                <a:solidFill>
                  <a:srgbClr val="111111"/>
                </a:solidFill>
                <a:latin typeface="Arial"/>
                <a:ea typeface="Arial"/>
                <a:cs typeface="Arial"/>
                <a:sym typeface="Arial"/>
              </a:rPr>
              <a:t>Checkpoint:</a:t>
            </a:r>
            <a:r>
              <a:rPr b="0" i="0" lang="en-US" sz="1400" u="none" cap="none" strike="noStrike">
                <a:solidFill>
                  <a:srgbClr val="111111"/>
                </a:solidFill>
                <a:latin typeface="Arial"/>
                <a:ea typeface="Arial"/>
                <a:cs typeface="Arial"/>
                <a:sym typeface="Arial"/>
              </a:rPr>
              <a:t> test mẫu pass, báo cáo HTML mở được.</a:t>
            </a:r>
            <a:endParaRPr/>
          </a:p>
        </p:txBody>
      </p:sp>
      <p:sp>
        <p:nvSpPr>
          <p:cNvPr id="557" name="Google Shape;557;p28"/>
          <p:cNvSpPr/>
          <p:nvPr/>
        </p:nvSpPr>
        <p:spPr>
          <a:xfrm>
            <a:off x="548640" y="5760720"/>
            <a:ext cx="11094415" cy="457200"/>
          </a:xfrm>
          <a:prstGeom prst="rect">
            <a:avLst/>
          </a:prstGeom>
          <a:solidFill>
            <a:srgbClr val="FFFFFF"/>
          </a:solidFill>
          <a:ln cap="flat" cmpd="sng" w="15875">
            <a:solidFill>
              <a:srgbClr val="0B3A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8" name="Google Shape;558;p28"/>
          <p:cNvSpPr txBox="1"/>
          <p:nvPr/>
        </p:nvSpPr>
        <p:spPr>
          <a:xfrm>
            <a:off x="777240" y="5760720"/>
            <a:ext cx="10728655"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111111"/>
                </a:solidFill>
                <a:latin typeface="Arial"/>
                <a:ea typeface="Arial"/>
                <a:cs typeface="Arial"/>
                <a:sym typeface="Arial"/>
              </a:rPr>
              <a:t>▶  Clip PW-1 — Cài đặt · 4:51   </a:t>
            </a:r>
            <a:r>
              <a:rPr b="1" i="0" lang="en-US" sz="1300" u="sng" cap="none" strike="noStrike">
                <a:solidFill>
                  <a:srgbClr val="0B3A6E"/>
                </a:solidFill>
                <a:latin typeface="Arial"/>
                <a:ea typeface="Arial"/>
                <a:cs typeface="Arial"/>
                <a:sym typeface="Arial"/>
                <a:hlinkClick r:id="rId3">
                  <a:extLst>
                    <a:ext uri="{A12FA001-AC4F-418D-AE19-62706E023703}">
                      <ahyp:hlinkClr val="tx"/>
                    </a:ext>
                  </a:extLst>
                </a:hlinkClick>
              </a:rPr>
              <a:t>youtu.be/mx3exWqNlwg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29"/>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Demo 2 — Record &amp; Playback + checkpoint</a:t>
            </a:r>
            <a:endParaRPr/>
          </a:p>
        </p:txBody>
      </p:sp>
      <p:sp>
        <p:nvSpPr>
          <p:cNvPr id="565" name="Google Shape;565;p29"/>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06</a:t>
            </a:r>
            <a:endParaRPr/>
          </a:p>
        </p:txBody>
      </p:sp>
      <p:sp>
        <p:nvSpPr>
          <p:cNvPr id="566" name="Google Shape;566;p29"/>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29</a:t>
            </a:r>
            <a:endParaRPr/>
          </a:p>
        </p:txBody>
      </p:sp>
      <p:sp>
        <p:nvSpPr>
          <p:cNvPr id="567" name="Google Shape;567;p29"/>
          <p:cNvSpPr txBox="1"/>
          <p:nvPr/>
        </p:nvSpPr>
        <p:spPr>
          <a:xfrm>
            <a:off x="548640" y="1115568"/>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01</a:t>
            </a:r>
            <a:endParaRPr/>
          </a:p>
        </p:txBody>
      </p:sp>
      <p:sp>
        <p:nvSpPr>
          <p:cNvPr id="568" name="Google Shape;568;p29"/>
          <p:cNvSpPr txBox="1"/>
          <p:nvPr/>
        </p:nvSpPr>
        <p:spPr>
          <a:xfrm>
            <a:off x="1325880" y="1161288"/>
            <a:ext cx="521208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222222"/>
                </a:solidFill>
                <a:latin typeface="Consolas"/>
                <a:ea typeface="Consolas"/>
                <a:cs typeface="Consolas"/>
                <a:sym typeface="Consolas"/>
              </a:rPr>
              <a:t>codegen</a:t>
            </a:r>
            <a:r>
              <a:rPr b="0" i="0" lang="en-US" sz="1600">
                <a:solidFill>
                  <a:srgbClr val="222222"/>
                </a:solidFill>
                <a:latin typeface="Arial"/>
                <a:ea typeface="Arial"/>
                <a:cs typeface="Arial"/>
                <a:sym typeface="Arial"/>
              </a:rPr>
              <a:t> ghi: Trang chủ → Thêm vào giỏ → Giỏ hàng</a:t>
            </a:r>
            <a:endParaRPr/>
          </a:p>
        </p:txBody>
      </p:sp>
      <p:cxnSp>
        <p:nvCxnSpPr>
          <p:cNvPr id="569" name="Google Shape;569;p29"/>
          <p:cNvCxnSpPr/>
          <p:nvPr/>
        </p:nvCxnSpPr>
        <p:spPr>
          <a:xfrm>
            <a:off x="548640" y="1755648"/>
            <a:ext cx="6035040"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570" name="Google Shape;570;p29"/>
          <p:cNvSpPr txBox="1"/>
          <p:nvPr/>
        </p:nvSpPr>
        <p:spPr>
          <a:xfrm>
            <a:off x="548640" y="1828800"/>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02</a:t>
            </a:r>
            <a:endParaRPr/>
          </a:p>
        </p:txBody>
      </p:sp>
      <p:sp>
        <p:nvSpPr>
          <p:cNvPr id="571" name="Google Shape;571;p29"/>
          <p:cNvSpPr txBox="1"/>
          <p:nvPr/>
        </p:nvSpPr>
        <p:spPr>
          <a:xfrm>
            <a:off x="1325880" y="1874520"/>
            <a:ext cx="521208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Thêm checkpoint kiểm nhãn "Tổng cộng"</a:t>
            </a:r>
            <a:endParaRPr/>
          </a:p>
        </p:txBody>
      </p:sp>
      <p:cxnSp>
        <p:nvCxnSpPr>
          <p:cNvPr id="572" name="Google Shape;572;p29"/>
          <p:cNvCxnSpPr/>
          <p:nvPr/>
        </p:nvCxnSpPr>
        <p:spPr>
          <a:xfrm>
            <a:off x="548640" y="2468880"/>
            <a:ext cx="6035040"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573" name="Google Shape;573;p29"/>
          <p:cNvSpPr txBox="1"/>
          <p:nvPr/>
        </p:nvSpPr>
        <p:spPr>
          <a:xfrm>
            <a:off x="548640" y="2542032"/>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03</a:t>
            </a:r>
            <a:endParaRPr/>
          </a:p>
        </p:txBody>
      </p:sp>
      <p:sp>
        <p:nvSpPr>
          <p:cNvPr id="574" name="Google Shape;574;p29"/>
          <p:cNvSpPr txBox="1"/>
          <p:nvPr/>
        </p:nvSpPr>
        <p:spPr>
          <a:xfrm>
            <a:off x="1325880" y="2587752"/>
            <a:ext cx="521208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Kết quả: </a:t>
            </a:r>
            <a:r>
              <a:rPr b="1" i="0" lang="en-US" sz="1600">
                <a:solidFill>
                  <a:srgbClr val="C62828"/>
                </a:solidFill>
                <a:latin typeface="Arial"/>
                <a:ea typeface="Arial"/>
                <a:cs typeface="Arial"/>
                <a:sym typeface="Arial"/>
              </a:rPr>
              <a:t>Fail</a:t>
            </a:r>
            <a:r>
              <a:rPr b="0" i="0" lang="en-US" sz="1600">
                <a:solidFill>
                  <a:srgbClr val="222222"/>
                </a:solidFill>
                <a:latin typeface="Arial"/>
                <a:ea typeface="Arial"/>
                <a:cs typeface="Arial"/>
                <a:sym typeface="Arial"/>
              </a:rPr>
              <a:t> — EShop hiển thị "Tổng tạm tính" → đúng lỗi </a:t>
            </a:r>
            <a:r>
              <a:rPr b="1" i="0" lang="en-US" sz="1600">
                <a:solidFill>
                  <a:srgbClr val="222222"/>
                </a:solidFill>
                <a:latin typeface="Arial"/>
                <a:ea typeface="Arial"/>
                <a:cs typeface="Arial"/>
                <a:sym typeface="Arial"/>
              </a:rPr>
              <a:t>G01</a:t>
            </a:r>
            <a:endParaRPr/>
          </a:p>
        </p:txBody>
      </p:sp>
      <p:cxnSp>
        <p:nvCxnSpPr>
          <p:cNvPr id="575" name="Google Shape;575;p29"/>
          <p:cNvCxnSpPr/>
          <p:nvPr/>
        </p:nvCxnSpPr>
        <p:spPr>
          <a:xfrm>
            <a:off x="548640" y="3182112"/>
            <a:ext cx="6035040"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576" name="Google Shape;576;p29"/>
          <p:cNvSpPr/>
          <p:nvPr/>
        </p:nvSpPr>
        <p:spPr>
          <a:xfrm>
            <a:off x="548640" y="3392424"/>
            <a:ext cx="6035040" cy="548640"/>
          </a:xfrm>
          <a:prstGeom prst="rect">
            <a:avLst/>
          </a:prstGeom>
          <a:solidFill>
            <a:srgbClr val="E8F4E9"/>
          </a:solidFill>
          <a:ln cap="flat" cmpd="sng" w="12700">
            <a:solidFill>
              <a:srgbClr val="2E7D3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29"/>
          <p:cNvSpPr txBox="1"/>
          <p:nvPr/>
        </p:nvSpPr>
        <p:spPr>
          <a:xfrm>
            <a:off x="749808" y="3392424"/>
            <a:ext cx="5760720" cy="54864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rgbClr val="111111"/>
                </a:solidFill>
                <a:latin typeface="Arial"/>
                <a:ea typeface="Arial"/>
                <a:cs typeface="Arial"/>
                <a:sym typeface="Arial"/>
              </a:rPr>
              <a:t>✓  </a:t>
            </a:r>
            <a:r>
              <a:rPr b="1" i="0" lang="en-US" sz="1400">
                <a:solidFill>
                  <a:srgbClr val="111111"/>
                </a:solidFill>
                <a:latin typeface="Arial"/>
                <a:ea typeface="Arial"/>
                <a:cs typeface="Arial"/>
                <a:sym typeface="Arial"/>
              </a:rPr>
              <a:t>Checkpoint:</a:t>
            </a:r>
            <a:r>
              <a:rPr b="0" i="0" lang="en-US" sz="1400">
                <a:solidFill>
                  <a:srgbClr val="111111"/>
                </a:solidFill>
                <a:latin typeface="Arial"/>
                <a:ea typeface="Arial"/>
                <a:cs typeface="Arial"/>
                <a:sym typeface="Arial"/>
              </a:rPr>
              <a:t> test fail = công cụ bắt được lỗi GUI.</a:t>
            </a:r>
            <a:endParaRPr/>
          </a:p>
        </p:txBody>
      </p:sp>
      <p:sp>
        <p:nvSpPr>
          <p:cNvPr id="578" name="Google Shape;578;p29"/>
          <p:cNvSpPr/>
          <p:nvPr/>
        </p:nvSpPr>
        <p:spPr>
          <a:xfrm>
            <a:off x="6949440" y="1115568"/>
            <a:ext cx="4693615" cy="3291840"/>
          </a:xfrm>
          <a:prstGeom prst="rect">
            <a:avLst/>
          </a:prstGeom>
          <a:solidFill>
            <a:srgbClr val="F1F3F6"/>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29"/>
          <p:cNvSpPr/>
          <p:nvPr/>
        </p:nvSpPr>
        <p:spPr>
          <a:xfrm>
            <a:off x="6949440" y="1115568"/>
            <a:ext cx="4693615"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29"/>
          <p:cNvSpPr txBox="1"/>
          <p:nvPr/>
        </p:nvSpPr>
        <p:spPr>
          <a:xfrm>
            <a:off x="7178040" y="1344168"/>
            <a:ext cx="423641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5F6368"/>
                </a:solidFill>
                <a:latin typeface="Arial"/>
                <a:ea typeface="Arial"/>
                <a:cs typeface="Arial"/>
                <a:sym typeface="Arial"/>
              </a:rPr>
              <a:t>tests/demo2-cart-tong-cong.spec.js</a:t>
            </a:r>
            <a:endParaRPr/>
          </a:p>
        </p:txBody>
      </p:sp>
      <p:sp>
        <p:nvSpPr>
          <p:cNvPr id="581" name="Google Shape;581;p29"/>
          <p:cNvSpPr txBox="1"/>
          <p:nvPr/>
        </p:nvSpPr>
        <p:spPr>
          <a:xfrm>
            <a:off x="7178040" y="1755648"/>
            <a:ext cx="4236415" cy="2560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a:solidFill>
                  <a:srgbClr val="111111"/>
                </a:solidFill>
                <a:latin typeface="Consolas"/>
                <a:ea typeface="Consolas"/>
                <a:cs typeface="Consolas"/>
                <a:sym typeface="Consolas"/>
              </a:rPr>
              <a:t>await expect(</a:t>
            </a:r>
            <a:endParaRPr/>
          </a:p>
          <a:p>
            <a:pPr indent="0" lvl="0" marL="0" marR="0" rtl="0" algn="l">
              <a:spcBef>
                <a:spcPts val="200"/>
              </a:spcBef>
              <a:spcAft>
                <a:spcPts val="0"/>
              </a:spcAft>
              <a:buNone/>
            </a:pPr>
            <a:r>
              <a:rPr b="0" i="0" lang="en-US" sz="1300">
                <a:solidFill>
                  <a:srgbClr val="111111"/>
                </a:solidFill>
                <a:latin typeface="Consolas"/>
                <a:ea typeface="Consolas"/>
                <a:cs typeface="Consolas"/>
                <a:sym typeface="Consolas"/>
              </a:rPr>
              <a:t>  page.getByText('Tổng cộng')</a:t>
            </a:r>
            <a:endParaRPr/>
          </a:p>
          <a:p>
            <a:pPr indent="0" lvl="0" marL="0" marR="0" rtl="0" algn="l">
              <a:spcBef>
                <a:spcPts val="200"/>
              </a:spcBef>
              <a:spcAft>
                <a:spcPts val="0"/>
              </a:spcAft>
              <a:buNone/>
            </a:pPr>
            <a:r>
              <a:rPr b="0" i="0" lang="en-US" sz="1300">
                <a:solidFill>
                  <a:srgbClr val="111111"/>
                </a:solidFill>
                <a:latin typeface="Consolas"/>
                <a:ea typeface="Consolas"/>
                <a:cs typeface="Consolas"/>
                <a:sym typeface="Consolas"/>
              </a:rPr>
              <a:t>).toBeVisible();</a:t>
            </a:r>
            <a:endParaRPr/>
          </a:p>
        </p:txBody>
      </p:sp>
      <p:sp>
        <p:nvSpPr>
          <p:cNvPr id="582" name="Google Shape;582;p29"/>
          <p:cNvSpPr/>
          <p:nvPr/>
        </p:nvSpPr>
        <p:spPr>
          <a:xfrm>
            <a:off x="548640" y="5760720"/>
            <a:ext cx="11094415" cy="457200"/>
          </a:xfrm>
          <a:prstGeom prst="rect">
            <a:avLst/>
          </a:prstGeom>
          <a:solidFill>
            <a:srgbClr val="FFFFFF"/>
          </a:solidFill>
          <a:ln cap="flat" cmpd="sng" w="15875">
            <a:solidFill>
              <a:srgbClr val="0B3A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29"/>
          <p:cNvSpPr txBox="1"/>
          <p:nvPr/>
        </p:nvSpPr>
        <p:spPr>
          <a:xfrm>
            <a:off x="777240" y="5760720"/>
            <a:ext cx="10728655"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111111"/>
                </a:solidFill>
                <a:latin typeface="Arial"/>
                <a:ea typeface="Arial"/>
                <a:cs typeface="Arial"/>
                <a:sym typeface="Arial"/>
              </a:rPr>
              <a:t>▶  Clip PW-2 — codegen + checkpoint · 2:56   </a:t>
            </a:r>
            <a:r>
              <a:rPr b="1" lang="en-US" sz="1300" u="sng">
                <a:solidFill>
                  <a:srgbClr val="0B3A6E"/>
                </a:solidFill>
                <a:latin typeface="Arial"/>
                <a:ea typeface="Arial"/>
                <a:cs typeface="Arial"/>
                <a:sym typeface="Arial"/>
                <a:hlinkClick r:id="rId3">
                  <a:extLst>
                    <a:ext uri="{A12FA001-AC4F-418D-AE19-62706E023703}">
                      <ahyp:hlinkClr val="tx"/>
                    </a:ext>
                  </a:extLst>
                </a:hlinkClick>
              </a:rPr>
              <a:t>youtu.be/YKiv_qQGFvk</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0"/>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Demo 3 — Data-driven: 5 trang × 3 viewport</a:t>
            </a:r>
            <a:endParaRPr/>
          </a:p>
        </p:txBody>
      </p:sp>
      <p:sp>
        <p:nvSpPr>
          <p:cNvPr id="590" name="Google Shape;590;p30"/>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5F6368"/>
                </a:solidFill>
                <a:latin typeface="Arial"/>
                <a:ea typeface="Arial"/>
                <a:cs typeface="Arial"/>
                <a:sym typeface="Arial"/>
              </a:rPr>
              <a:t>Trang: home · product · cart · checkout · login  ×  viewport 375 · 768 · 1440 px.</a:t>
            </a:r>
            <a:endParaRPr/>
          </a:p>
        </p:txBody>
      </p:sp>
      <p:sp>
        <p:nvSpPr>
          <p:cNvPr id="591" name="Google Shape;591;p30"/>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06</a:t>
            </a:r>
            <a:endParaRPr/>
          </a:p>
        </p:txBody>
      </p:sp>
      <p:sp>
        <p:nvSpPr>
          <p:cNvPr id="592" name="Google Shape;592;p30"/>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30</a:t>
            </a:r>
            <a:endParaRPr/>
          </a:p>
        </p:txBody>
      </p:sp>
      <p:graphicFrame>
        <p:nvGraphicFramePr>
          <p:cNvPr id="593" name="Google Shape;593;p30"/>
          <p:cNvGraphicFramePr/>
          <p:nvPr/>
        </p:nvGraphicFramePr>
        <p:xfrm>
          <a:off x="548640" y="1874520"/>
          <a:ext cx="3000000" cy="3000000"/>
        </p:xfrm>
        <a:graphic>
          <a:graphicData uri="http://schemas.openxmlformats.org/drawingml/2006/table">
            <a:tbl>
              <a:tblPr>
                <a:noFill/>
                <a:tableStyleId>{A41EB096-C0D3-46DF-A04B-B11FC471E439}</a:tableStyleId>
              </a:tblPr>
              <a:tblGrid>
                <a:gridCol w="739625"/>
                <a:gridCol w="4252850"/>
                <a:gridCol w="6101925"/>
              </a:tblGrid>
              <a:tr h="5303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Checkpoint mỗi vòng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Kỳ vọng trên EShop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C1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Đúng 1 </a:t>
                      </a:r>
                      <a:r>
                        <a:rPr b="0" i="0" lang="en-US" sz="1300" u="none" cap="none" strike="noStrike">
                          <a:solidFill>
                            <a:srgbClr val="222222"/>
                          </a:solidFill>
                          <a:latin typeface="Consolas"/>
                          <a:ea typeface="Consolas"/>
                          <a:cs typeface="Consolas"/>
                          <a:sym typeface="Consolas"/>
                        </a:rPr>
                        <a:t>&lt;h1&gt;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Fail ở Giỏ hàng, Thanh toán (G05)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C2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Mọi ảnh có </a:t>
                      </a:r>
                      <a:r>
                        <a:rPr b="0" i="0" lang="en-US" sz="1300" u="none" cap="none" strike="noStrike">
                          <a:solidFill>
                            <a:srgbClr val="222222"/>
                          </a:solidFill>
                          <a:latin typeface="Consolas"/>
                          <a:ea typeface="Consolas"/>
                          <a:cs typeface="Consolas"/>
                          <a:sym typeface="Consolas"/>
                        </a:rPr>
                        <a:t>alt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Sản phẩm có </a:t>
                      </a:r>
                      <a:r>
                        <a:rPr b="0" i="0" lang="en-US" sz="1300" u="none" cap="none" strike="noStrike">
                          <a:solidFill>
                            <a:srgbClr val="222222"/>
                          </a:solidFill>
                          <a:latin typeface="Consolas"/>
                          <a:ea typeface="Consolas"/>
                          <a:cs typeface="Consolas"/>
                          <a:sym typeface="Consolas"/>
                        </a:rPr>
                        <a:t>alt</a:t>
                      </a:r>
                      <a:r>
                        <a:rPr b="0" i="0" lang="en-US" sz="1400" u="none" cap="none" strike="noStrike">
                          <a:solidFill>
                            <a:srgbClr val="222222"/>
                          </a:solidFill>
                          <a:latin typeface="Arial"/>
                          <a:ea typeface="Arial"/>
                          <a:cs typeface="Arial"/>
                          <a:sym typeface="Arial"/>
                        </a:rPr>
                        <a:t> (checklist #43 Pass)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C3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Consolas"/>
                          <a:ea typeface="Consolas"/>
                          <a:cs typeface="Consolas"/>
                          <a:sym typeface="Consolas"/>
                        </a:rPr>
                        <a:t>toHaveScreenshot</a:t>
                      </a:r>
                      <a:r>
                        <a:rPr b="0" i="0" lang="en-US" sz="1400" u="none" cap="none" strike="noStrike">
                          <a:solidFill>
                            <a:srgbClr val="222222"/>
                          </a:solidFill>
                          <a:latin typeface="Arial"/>
                          <a:ea typeface="Arial"/>
                          <a:cs typeface="Arial"/>
                          <a:sym typeface="Arial"/>
                        </a:rPr>
                        <a:t> so baseline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Baseline 375 / 768 / 1440 đã commit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303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C4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axe </a:t>
                      </a:r>
                      <a:r>
                        <a:rPr b="0" i="0" lang="en-US" sz="1300" u="none" cap="none" strike="noStrike">
                          <a:solidFill>
                            <a:srgbClr val="222222"/>
                          </a:solidFill>
                          <a:latin typeface="Consolas"/>
                          <a:ea typeface="Consolas"/>
                          <a:cs typeface="Consolas"/>
                          <a:sym typeface="Consolas"/>
                        </a:rPr>
                        <a:t>wcag2a</a:t>
                      </a:r>
                      <a:r>
                        <a:rPr b="0" i="0" lang="en-US" sz="1400" u="none" cap="none" strike="noStrike">
                          <a:solidFill>
                            <a:srgbClr val="222222"/>
                          </a:solidFill>
                          <a:latin typeface="Arial"/>
                          <a:ea typeface="Arial"/>
                          <a:cs typeface="Arial"/>
                          <a:sym typeface="Arial"/>
                        </a:rPr>
                        <a:t> + </a:t>
                      </a:r>
                      <a:r>
                        <a:rPr b="0" i="0" lang="en-US" sz="1300" u="none" cap="none" strike="noStrike">
                          <a:solidFill>
                            <a:srgbClr val="222222"/>
                          </a:solidFill>
                          <a:latin typeface="Consolas"/>
                          <a:ea typeface="Consolas"/>
                          <a:cs typeface="Consolas"/>
                          <a:sym typeface="Consolas"/>
                        </a:rPr>
                        <a:t>wcag2aa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Có vi phạm tương phản, liệt kê bằng </a:t>
                      </a:r>
                      <a:r>
                        <a:rPr b="0" i="0" lang="en-US" sz="1300" u="none" cap="none" strike="noStrike">
                          <a:solidFill>
                            <a:srgbClr val="222222"/>
                          </a:solidFill>
                          <a:latin typeface="Consolas"/>
                          <a:ea typeface="Consolas"/>
                          <a:cs typeface="Consolas"/>
                          <a:sym typeface="Consolas"/>
                        </a:rPr>
                        <a:t>expect.soft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594" name="Google Shape;594;p30"/>
          <p:cNvSpPr/>
          <p:nvPr/>
        </p:nvSpPr>
        <p:spPr>
          <a:xfrm>
            <a:off x="548640" y="5760720"/>
            <a:ext cx="11094415" cy="457200"/>
          </a:xfrm>
          <a:prstGeom prst="rect">
            <a:avLst/>
          </a:prstGeom>
          <a:solidFill>
            <a:srgbClr val="FFFFFF"/>
          </a:solidFill>
          <a:ln cap="flat" cmpd="sng" w="15875">
            <a:solidFill>
              <a:srgbClr val="0B3A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30"/>
          <p:cNvSpPr txBox="1"/>
          <p:nvPr/>
        </p:nvSpPr>
        <p:spPr>
          <a:xfrm>
            <a:off x="777240" y="5760720"/>
            <a:ext cx="10728655"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111111"/>
                </a:solidFill>
                <a:latin typeface="Arial"/>
                <a:ea typeface="Arial"/>
                <a:cs typeface="Arial"/>
                <a:sym typeface="Arial"/>
              </a:rPr>
              <a:t>▶  Clip PW-3 — Data-driven + visual + a11y · 4:06   </a:t>
            </a:r>
            <a:r>
              <a:rPr b="1" lang="en-US" sz="1300" u="sng">
                <a:solidFill>
                  <a:srgbClr val="0B3A6E"/>
                </a:solidFill>
                <a:latin typeface="Arial"/>
                <a:ea typeface="Arial"/>
                <a:cs typeface="Arial"/>
                <a:sym typeface="Arial"/>
                <a:hlinkClick r:id="rId3">
                  <a:extLst>
                    <a:ext uri="{A12FA001-AC4F-418D-AE19-62706E023703}">
                      <ahyp:hlinkClr val="tx"/>
                    </a:ext>
                  </a:extLst>
                </a:hlinkClick>
              </a:rPr>
              <a:t>youtu.be/E4NwNmcJ3EI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31"/>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Tóm tắt 3 video demo Playwright</a:t>
            </a:r>
            <a:endParaRPr/>
          </a:p>
        </p:txBody>
      </p:sp>
      <p:sp>
        <p:nvSpPr>
          <p:cNvPr id="602" name="Google Shape;602;p31"/>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5F6368"/>
                </a:solidFill>
                <a:latin typeface="Arial"/>
                <a:ea typeface="Arial"/>
                <a:cs typeface="Arial"/>
                <a:sym typeface="Arial"/>
              </a:rPr>
              <a:t>Tổng 11:53 phút, thuyết minh tiếng Việt, nền sáng. Người thực hiện: Quang.</a:t>
            </a:r>
            <a:endParaRPr/>
          </a:p>
        </p:txBody>
      </p:sp>
      <p:sp>
        <p:nvSpPr>
          <p:cNvPr id="603" name="Google Shape;603;p31"/>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06</a:t>
            </a:r>
            <a:endParaRPr/>
          </a:p>
        </p:txBody>
      </p:sp>
      <p:sp>
        <p:nvSpPr>
          <p:cNvPr id="604" name="Google Shape;604;p31"/>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31</a:t>
            </a:r>
            <a:endParaRPr/>
          </a:p>
        </p:txBody>
      </p:sp>
      <p:sp>
        <p:nvSpPr>
          <p:cNvPr id="605" name="Google Shape;605;p31"/>
          <p:cNvSpPr/>
          <p:nvPr/>
        </p:nvSpPr>
        <p:spPr>
          <a:xfrm>
            <a:off x="548640" y="1828800"/>
            <a:ext cx="345429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31"/>
          <p:cNvSpPr txBox="1"/>
          <p:nvPr/>
        </p:nvSpPr>
        <p:spPr>
          <a:xfrm>
            <a:off x="548640" y="19933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50">
                <a:solidFill>
                  <a:srgbClr val="0B3A6E"/>
                </a:solidFill>
                <a:latin typeface="Consolas"/>
                <a:ea typeface="Consolas"/>
                <a:cs typeface="Consolas"/>
                <a:sym typeface="Consolas"/>
              </a:rPr>
              <a:t>PW-1  ·  4:51</a:t>
            </a:r>
            <a:endParaRPr/>
          </a:p>
        </p:txBody>
      </p:sp>
      <p:sp>
        <p:nvSpPr>
          <p:cNvPr id="607" name="Google Shape;607;p31"/>
          <p:cNvSpPr txBox="1"/>
          <p:nvPr/>
        </p:nvSpPr>
        <p:spPr>
          <a:xfrm>
            <a:off x="548640" y="2286000"/>
            <a:ext cx="3454298"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Cài đặt môi trường &amp; test mẫu</a:t>
            </a:r>
            <a:endParaRPr/>
          </a:p>
        </p:txBody>
      </p:sp>
      <p:sp>
        <p:nvSpPr>
          <p:cNvPr id="608" name="Google Shape;608;p31"/>
          <p:cNvSpPr txBox="1"/>
          <p:nvPr/>
        </p:nvSpPr>
        <p:spPr>
          <a:xfrm>
            <a:off x="548640" y="29077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0B3A6E"/>
                </a:solidFill>
                <a:latin typeface="Arial"/>
                <a:ea typeface="Arial"/>
                <a:cs typeface="Arial"/>
                <a:sym typeface="Arial"/>
              </a:rPr>
              <a:t>▶ </a:t>
            </a:r>
            <a:r>
              <a:rPr b="1" lang="en-US" sz="1200" u="sng">
                <a:solidFill>
                  <a:srgbClr val="0B3A6E"/>
                </a:solidFill>
                <a:latin typeface="Arial"/>
                <a:ea typeface="Arial"/>
                <a:cs typeface="Arial"/>
                <a:sym typeface="Arial"/>
                <a:hlinkClick r:id="rId3">
                  <a:extLst>
                    <a:ext uri="{A12FA001-AC4F-418D-AE19-62706E023703}">
                      <ahyp:hlinkClr val="tx"/>
                    </a:ext>
                  </a:extLst>
                </a:hlinkClick>
              </a:rPr>
              <a:t>youtu.be/mx3exWqNlwg</a:t>
            </a:r>
            <a:endParaRPr/>
          </a:p>
        </p:txBody>
      </p:sp>
      <p:sp>
        <p:nvSpPr>
          <p:cNvPr id="609" name="Google Shape;609;p31"/>
          <p:cNvSpPr txBox="1"/>
          <p:nvPr/>
        </p:nvSpPr>
        <p:spPr>
          <a:xfrm>
            <a:off x="548640" y="3291840"/>
            <a:ext cx="3454298"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Khởi tạo project, cài </a:t>
            </a:r>
            <a:r>
              <a:rPr b="0" i="0" lang="en-US" sz="1050">
                <a:solidFill>
                  <a:srgbClr val="222222"/>
                </a:solidFill>
                <a:latin typeface="Consolas"/>
                <a:ea typeface="Consolas"/>
                <a:cs typeface="Consolas"/>
                <a:sym typeface="Consolas"/>
              </a:rPr>
              <a:t>@axe-core/playwright</a:t>
            </a:r>
            <a:endParaRPr/>
          </a:p>
        </p:txBody>
      </p:sp>
      <p:sp>
        <p:nvSpPr>
          <p:cNvPr id="610" name="Google Shape;610;p31"/>
          <p:cNvSpPr txBox="1"/>
          <p:nvPr/>
        </p:nvSpPr>
        <p:spPr>
          <a:xfrm>
            <a:off x="548640" y="3803904"/>
            <a:ext cx="3454298"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Chạy test mẫu </a:t>
            </a:r>
            <a:r>
              <a:rPr b="0" i="0" lang="en-US" sz="1050">
                <a:solidFill>
                  <a:srgbClr val="222222"/>
                </a:solidFill>
                <a:latin typeface="Consolas"/>
                <a:ea typeface="Consolas"/>
                <a:cs typeface="Consolas"/>
                <a:sym typeface="Consolas"/>
              </a:rPr>
              <a:t>example</a:t>
            </a:r>
            <a:r>
              <a:rPr b="0" i="0" lang="en-US" sz="1150">
                <a:solidFill>
                  <a:srgbClr val="222222"/>
                </a:solidFill>
                <a:latin typeface="Arial"/>
                <a:ea typeface="Arial"/>
                <a:cs typeface="Arial"/>
                <a:sym typeface="Arial"/>
              </a:rPr>
              <a:t> trên Chromium</a:t>
            </a:r>
            <a:endParaRPr/>
          </a:p>
        </p:txBody>
      </p:sp>
      <p:sp>
        <p:nvSpPr>
          <p:cNvPr id="611" name="Google Shape;611;p31"/>
          <p:cNvSpPr txBox="1"/>
          <p:nvPr/>
        </p:nvSpPr>
        <p:spPr>
          <a:xfrm>
            <a:off x="548640" y="4315968"/>
            <a:ext cx="3454298"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Mở </a:t>
            </a:r>
            <a:r>
              <a:rPr b="0" i="0" lang="en-US" sz="1050">
                <a:solidFill>
                  <a:srgbClr val="222222"/>
                </a:solidFill>
                <a:latin typeface="Consolas"/>
                <a:ea typeface="Consolas"/>
                <a:cs typeface="Consolas"/>
                <a:sym typeface="Consolas"/>
              </a:rPr>
              <a:t>show-report</a:t>
            </a:r>
            <a:r>
              <a:rPr b="0" i="0" lang="en-US" sz="1150">
                <a:solidFill>
                  <a:srgbClr val="222222"/>
                </a:solidFill>
                <a:latin typeface="Arial"/>
                <a:ea typeface="Arial"/>
                <a:cs typeface="Arial"/>
                <a:sym typeface="Arial"/>
              </a:rPr>
              <a:t>: báo cáo HTML xanh</a:t>
            </a:r>
            <a:endParaRPr/>
          </a:p>
        </p:txBody>
      </p:sp>
      <p:sp>
        <p:nvSpPr>
          <p:cNvPr id="612" name="Google Shape;612;p31"/>
          <p:cNvSpPr/>
          <p:nvPr/>
        </p:nvSpPr>
        <p:spPr>
          <a:xfrm>
            <a:off x="548640" y="5934456"/>
            <a:ext cx="507492"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Setup</a:t>
            </a:r>
            <a:endParaRPr/>
          </a:p>
        </p:txBody>
      </p:sp>
      <p:sp>
        <p:nvSpPr>
          <p:cNvPr id="613" name="Google Shape;613;p31"/>
          <p:cNvSpPr/>
          <p:nvPr/>
        </p:nvSpPr>
        <p:spPr>
          <a:xfrm>
            <a:off x="1129284" y="5934456"/>
            <a:ext cx="896112"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Checkpoint</a:t>
            </a:r>
            <a:endParaRPr/>
          </a:p>
        </p:txBody>
      </p:sp>
      <p:cxnSp>
        <p:nvCxnSpPr>
          <p:cNvPr id="614" name="Google Shape;614;p31"/>
          <p:cNvCxnSpPr/>
          <p:nvPr/>
        </p:nvCxnSpPr>
        <p:spPr>
          <a:xfrm>
            <a:off x="4185818" y="1828800"/>
            <a:ext cx="0" cy="443484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615" name="Google Shape;615;p31"/>
          <p:cNvSpPr/>
          <p:nvPr/>
        </p:nvSpPr>
        <p:spPr>
          <a:xfrm>
            <a:off x="4368698" y="1828800"/>
            <a:ext cx="345429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p31"/>
          <p:cNvSpPr txBox="1"/>
          <p:nvPr/>
        </p:nvSpPr>
        <p:spPr>
          <a:xfrm>
            <a:off x="4368698" y="19933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50">
                <a:solidFill>
                  <a:srgbClr val="0B3A6E"/>
                </a:solidFill>
                <a:latin typeface="Consolas"/>
                <a:ea typeface="Consolas"/>
                <a:cs typeface="Consolas"/>
                <a:sym typeface="Consolas"/>
              </a:rPr>
              <a:t>PW-2  ·  2:56</a:t>
            </a:r>
            <a:endParaRPr/>
          </a:p>
        </p:txBody>
      </p:sp>
      <p:sp>
        <p:nvSpPr>
          <p:cNvPr id="617" name="Google Shape;617;p31"/>
          <p:cNvSpPr txBox="1"/>
          <p:nvPr/>
        </p:nvSpPr>
        <p:spPr>
          <a:xfrm>
            <a:off x="4368698" y="2286000"/>
            <a:ext cx="3454298"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Record &amp; Playback + checkpoint</a:t>
            </a:r>
            <a:endParaRPr/>
          </a:p>
        </p:txBody>
      </p:sp>
      <p:sp>
        <p:nvSpPr>
          <p:cNvPr id="618" name="Google Shape;618;p31"/>
          <p:cNvSpPr txBox="1"/>
          <p:nvPr/>
        </p:nvSpPr>
        <p:spPr>
          <a:xfrm>
            <a:off x="4368698" y="29077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0B3A6E"/>
                </a:solidFill>
                <a:latin typeface="Arial"/>
                <a:ea typeface="Arial"/>
                <a:cs typeface="Arial"/>
                <a:sym typeface="Arial"/>
              </a:rPr>
              <a:t>▶ </a:t>
            </a:r>
            <a:r>
              <a:rPr b="1" lang="en-US" sz="1200" u="sng">
                <a:solidFill>
                  <a:srgbClr val="0B3A6E"/>
                </a:solidFill>
                <a:latin typeface="Arial"/>
                <a:ea typeface="Arial"/>
                <a:cs typeface="Arial"/>
                <a:sym typeface="Arial"/>
                <a:hlinkClick r:id="rId4">
                  <a:extLst>
                    <a:ext uri="{A12FA001-AC4F-418D-AE19-62706E023703}">
                      <ahyp:hlinkClr val="tx"/>
                    </a:ext>
                  </a:extLst>
                </a:hlinkClick>
              </a:rPr>
              <a:t>youtu.be/YKiv_qQGFvk</a:t>
            </a:r>
            <a:endParaRPr/>
          </a:p>
        </p:txBody>
      </p:sp>
      <p:sp>
        <p:nvSpPr>
          <p:cNvPr id="619" name="Google Shape;619;p31"/>
          <p:cNvSpPr txBox="1"/>
          <p:nvPr/>
        </p:nvSpPr>
        <p:spPr>
          <a:xfrm>
            <a:off x="4368698" y="3291840"/>
            <a:ext cx="3454298"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a:t>
            </a:r>
            <a:r>
              <a:rPr b="0" i="0" lang="en-US" sz="1050">
                <a:solidFill>
                  <a:srgbClr val="222222"/>
                </a:solidFill>
                <a:latin typeface="Consolas"/>
                <a:ea typeface="Consolas"/>
                <a:cs typeface="Consolas"/>
                <a:sym typeface="Consolas"/>
              </a:rPr>
              <a:t>codegen</a:t>
            </a:r>
            <a:r>
              <a:rPr b="0" i="0" lang="en-US" sz="1150">
                <a:solidFill>
                  <a:srgbClr val="222222"/>
                </a:solidFill>
                <a:latin typeface="Arial"/>
                <a:ea typeface="Arial"/>
                <a:cs typeface="Arial"/>
                <a:sym typeface="Arial"/>
              </a:rPr>
              <a:t> ghi thao tác Trang chủ → Giỏ hàng</a:t>
            </a:r>
            <a:endParaRPr/>
          </a:p>
        </p:txBody>
      </p:sp>
      <p:sp>
        <p:nvSpPr>
          <p:cNvPr id="620" name="Google Shape;620;p31"/>
          <p:cNvSpPr txBox="1"/>
          <p:nvPr/>
        </p:nvSpPr>
        <p:spPr>
          <a:xfrm>
            <a:off x="4368698" y="3803904"/>
            <a:ext cx="3454298"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Thêm </a:t>
            </a:r>
            <a:r>
              <a:rPr b="0" i="0" lang="en-US" sz="1050">
                <a:solidFill>
                  <a:srgbClr val="222222"/>
                </a:solidFill>
                <a:latin typeface="Consolas"/>
                <a:ea typeface="Consolas"/>
                <a:cs typeface="Consolas"/>
                <a:sym typeface="Consolas"/>
              </a:rPr>
              <a:t>expect</a:t>
            </a:r>
            <a:r>
              <a:rPr b="0" i="0" lang="en-US" sz="1150">
                <a:solidFill>
                  <a:srgbClr val="222222"/>
                </a:solidFill>
                <a:latin typeface="Arial"/>
                <a:ea typeface="Arial"/>
                <a:cs typeface="Arial"/>
                <a:sym typeface="Arial"/>
              </a:rPr>
              <a:t> kiểm nhãn "Tổng cộng"</a:t>
            </a:r>
            <a:endParaRPr/>
          </a:p>
        </p:txBody>
      </p:sp>
      <p:sp>
        <p:nvSpPr>
          <p:cNvPr id="621" name="Google Shape;621;p31"/>
          <p:cNvSpPr txBox="1"/>
          <p:nvPr/>
        </p:nvSpPr>
        <p:spPr>
          <a:xfrm>
            <a:off x="4368698" y="4315968"/>
            <a:ext cx="3454298"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Test fail đúng lỗi G01 → tool bắt lỗi GUI</a:t>
            </a:r>
            <a:endParaRPr/>
          </a:p>
        </p:txBody>
      </p:sp>
      <p:sp>
        <p:nvSpPr>
          <p:cNvPr id="622" name="Google Shape;622;p31"/>
          <p:cNvSpPr/>
          <p:nvPr/>
        </p:nvSpPr>
        <p:spPr>
          <a:xfrm>
            <a:off x="4368698" y="5934456"/>
            <a:ext cx="1362456"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Khái niệm cơ bản</a:t>
            </a:r>
            <a:endParaRPr/>
          </a:p>
        </p:txBody>
      </p:sp>
      <p:sp>
        <p:nvSpPr>
          <p:cNvPr id="623" name="Google Shape;623;p31"/>
          <p:cNvSpPr/>
          <p:nvPr/>
        </p:nvSpPr>
        <p:spPr>
          <a:xfrm>
            <a:off x="5804306" y="5934456"/>
            <a:ext cx="1440180"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Record &amp; Playback</a:t>
            </a:r>
            <a:endParaRPr/>
          </a:p>
        </p:txBody>
      </p:sp>
      <p:sp>
        <p:nvSpPr>
          <p:cNvPr id="624" name="Google Shape;624;p31"/>
          <p:cNvSpPr/>
          <p:nvPr/>
        </p:nvSpPr>
        <p:spPr>
          <a:xfrm>
            <a:off x="4368698" y="5586984"/>
            <a:ext cx="896112"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Checkpoint</a:t>
            </a:r>
            <a:endParaRPr/>
          </a:p>
        </p:txBody>
      </p:sp>
      <p:cxnSp>
        <p:nvCxnSpPr>
          <p:cNvPr id="625" name="Google Shape;625;p31"/>
          <p:cNvCxnSpPr/>
          <p:nvPr/>
        </p:nvCxnSpPr>
        <p:spPr>
          <a:xfrm>
            <a:off x="8005877" y="1828800"/>
            <a:ext cx="0" cy="443484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626" name="Google Shape;626;p31"/>
          <p:cNvSpPr/>
          <p:nvPr/>
        </p:nvSpPr>
        <p:spPr>
          <a:xfrm>
            <a:off x="8188757" y="1828800"/>
            <a:ext cx="345429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31"/>
          <p:cNvSpPr txBox="1"/>
          <p:nvPr/>
        </p:nvSpPr>
        <p:spPr>
          <a:xfrm>
            <a:off x="8188757" y="19933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50">
                <a:solidFill>
                  <a:srgbClr val="0B3A6E"/>
                </a:solidFill>
                <a:latin typeface="Consolas"/>
                <a:ea typeface="Consolas"/>
                <a:cs typeface="Consolas"/>
                <a:sym typeface="Consolas"/>
              </a:rPr>
              <a:t>PW-3  ·  4:06</a:t>
            </a:r>
            <a:endParaRPr/>
          </a:p>
        </p:txBody>
      </p:sp>
      <p:sp>
        <p:nvSpPr>
          <p:cNvPr id="628" name="Google Shape;628;p31"/>
          <p:cNvSpPr txBox="1"/>
          <p:nvPr/>
        </p:nvSpPr>
        <p:spPr>
          <a:xfrm>
            <a:off x="8188757" y="2286000"/>
            <a:ext cx="3454298"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Data-driven + visual + accessibility</a:t>
            </a:r>
            <a:endParaRPr/>
          </a:p>
        </p:txBody>
      </p:sp>
      <p:sp>
        <p:nvSpPr>
          <p:cNvPr id="629" name="Google Shape;629;p31"/>
          <p:cNvSpPr txBox="1"/>
          <p:nvPr/>
        </p:nvSpPr>
        <p:spPr>
          <a:xfrm>
            <a:off x="8188757" y="29077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0B3A6E"/>
                </a:solidFill>
                <a:latin typeface="Arial"/>
                <a:ea typeface="Arial"/>
                <a:cs typeface="Arial"/>
                <a:sym typeface="Arial"/>
              </a:rPr>
              <a:t>▶ </a:t>
            </a:r>
            <a:r>
              <a:rPr b="1" lang="en-US" sz="1200" u="sng">
                <a:solidFill>
                  <a:srgbClr val="0B3A6E"/>
                </a:solidFill>
                <a:latin typeface="Arial"/>
                <a:ea typeface="Arial"/>
                <a:cs typeface="Arial"/>
                <a:sym typeface="Arial"/>
                <a:hlinkClick r:id="rId5">
                  <a:extLst>
                    <a:ext uri="{A12FA001-AC4F-418D-AE19-62706E023703}">
                      <ahyp:hlinkClr val="tx"/>
                    </a:ext>
                  </a:extLst>
                </a:hlinkClick>
              </a:rPr>
              <a:t>youtu.be/E4NwNmcJ3EI</a:t>
            </a:r>
            <a:endParaRPr/>
          </a:p>
        </p:txBody>
      </p:sp>
      <p:sp>
        <p:nvSpPr>
          <p:cNvPr id="630" name="Google Shape;630;p31"/>
          <p:cNvSpPr txBox="1"/>
          <p:nvPr/>
        </p:nvSpPr>
        <p:spPr>
          <a:xfrm>
            <a:off x="8188757" y="3291840"/>
            <a:ext cx="3454298"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a:t>
            </a:r>
            <a:r>
              <a:rPr b="0" i="0" lang="en-US" sz="1050">
                <a:solidFill>
                  <a:srgbClr val="222222"/>
                </a:solidFill>
                <a:latin typeface="Consolas"/>
                <a:ea typeface="Consolas"/>
                <a:cs typeface="Consolas"/>
                <a:sym typeface="Consolas"/>
              </a:rPr>
              <a:t>data/pages.json</a:t>
            </a:r>
            <a:r>
              <a:rPr b="0" i="0" lang="en-US" sz="1150">
                <a:solidFill>
                  <a:srgbClr val="222222"/>
                </a:solidFill>
                <a:latin typeface="Arial"/>
                <a:ea typeface="Arial"/>
                <a:cs typeface="Arial"/>
                <a:sym typeface="Arial"/>
              </a:rPr>
              <a:t> × 3 viewport — 1 test, 15 vòng</a:t>
            </a:r>
            <a:endParaRPr/>
          </a:p>
        </p:txBody>
      </p:sp>
      <p:sp>
        <p:nvSpPr>
          <p:cNvPr id="631" name="Google Shape;631;p31"/>
          <p:cNvSpPr txBox="1"/>
          <p:nvPr/>
        </p:nvSpPr>
        <p:spPr>
          <a:xfrm>
            <a:off x="8188757" y="3803904"/>
            <a:ext cx="3454298"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a:t>
            </a:r>
            <a:r>
              <a:rPr b="0" i="0" lang="en-US" sz="1050">
                <a:solidFill>
                  <a:srgbClr val="222222"/>
                </a:solidFill>
                <a:latin typeface="Consolas"/>
                <a:ea typeface="Consolas"/>
                <a:cs typeface="Consolas"/>
                <a:sym typeface="Consolas"/>
              </a:rPr>
              <a:t>expect.soft</a:t>
            </a:r>
            <a:r>
              <a:rPr b="0" i="0" lang="en-US" sz="1150">
                <a:solidFill>
                  <a:srgbClr val="222222"/>
                </a:solidFill>
                <a:latin typeface="Arial"/>
                <a:ea typeface="Arial"/>
                <a:cs typeface="Arial"/>
                <a:sym typeface="Arial"/>
              </a:rPr>
              <a:t>: h1 · alt · screenshot · axe</a:t>
            </a:r>
            <a:endParaRPr/>
          </a:p>
        </p:txBody>
      </p:sp>
      <p:sp>
        <p:nvSpPr>
          <p:cNvPr id="632" name="Google Shape;632;p31"/>
          <p:cNvSpPr txBox="1"/>
          <p:nvPr/>
        </p:nvSpPr>
        <p:spPr>
          <a:xfrm>
            <a:off x="8188757" y="4315968"/>
            <a:ext cx="3454298"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Report nhiều fail, mỗi fail ↔ một lỗi ground truth</a:t>
            </a:r>
            <a:endParaRPr/>
          </a:p>
        </p:txBody>
      </p:sp>
      <p:sp>
        <p:nvSpPr>
          <p:cNvPr id="633" name="Google Shape;633;p31"/>
          <p:cNvSpPr txBox="1"/>
          <p:nvPr/>
        </p:nvSpPr>
        <p:spPr>
          <a:xfrm>
            <a:off x="8188757" y="4828032"/>
            <a:ext cx="3454298"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Không đánh giá được "dễ dùng"; screenshot lệch font giữa máy</a:t>
            </a:r>
            <a:endParaRPr/>
          </a:p>
        </p:txBody>
      </p:sp>
      <p:sp>
        <p:nvSpPr>
          <p:cNvPr id="634" name="Google Shape;634;p31"/>
          <p:cNvSpPr/>
          <p:nvPr/>
        </p:nvSpPr>
        <p:spPr>
          <a:xfrm>
            <a:off x="8188757" y="5934456"/>
            <a:ext cx="740664"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Phức tạp</a:t>
            </a:r>
            <a:endParaRPr/>
          </a:p>
        </p:txBody>
      </p:sp>
      <p:sp>
        <p:nvSpPr>
          <p:cNvPr id="635" name="Google Shape;635;p31"/>
          <p:cNvSpPr/>
          <p:nvPr/>
        </p:nvSpPr>
        <p:spPr>
          <a:xfrm>
            <a:off x="9002573" y="5934456"/>
            <a:ext cx="973836"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Data-driven</a:t>
            </a:r>
            <a:endParaRPr/>
          </a:p>
        </p:txBody>
      </p:sp>
      <p:sp>
        <p:nvSpPr>
          <p:cNvPr id="636" name="Google Shape;636;p31"/>
          <p:cNvSpPr/>
          <p:nvPr/>
        </p:nvSpPr>
        <p:spPr>
          <a:xfrm>
            <a:off x="8188757" y="5586984"/>
            <a:ext cx="1595628" cy="274320"/>
          </a:xfrm>
          <a:prstGeom prst="roundRect">
            <a:avLst>
              <a:gd fmla="val 16667" name="adj"/>
            </a:avLst>
          </a:prstGeom>
          <a:solidFill>
            <a:srgbClr val="FBEAE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C62828"/>
                </a:solidFill>
                <a:latin typeface="Arial"/>
                <a:ea typeface="Arial"/>
                <a:cs typeface="Arial"/>
                <a:sym typeface="Arial"/>
              </a:rPr>
              <a:t>Ca không xử lý được</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2"/>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Điểm yếu của Playwright — ca không xử lý được</a:t>
            </a:r>
            <a:endParaRPr/>
          </a:p>
        </p:txBody>
      </p:sp>
      <p:sp>
        <p:nvSpPr>
          <p:cNvPr id="643" name="Google Shape;643;p32"/>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06</a:t>
            </a:r>
            <a:endParaRPr/>
          </a:p>
        </p:txBody>
      </p:sp>
      <p:sp>
        <p:nvSpPr>
          <p:cNvPr id="644" name="Google Shape;644;p32"/>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32</a:t>
            </a:r>
            <a:endParaRPr/>
          </a:p>
        </p:txBody>
      </p:sp>
      <p:graphicFrame>
        <p:nvGraphicFramePr>
          <p:cNvPr id="645" name="Google Shape;645;p32"/>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3883050"/>
                <a:gridCol w="7211375"/>
              </a:tblGrid>
              <a:tr h="512075">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Điểm yếu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Ví dụ trên EShop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Không đánh giá được "dễ dùng"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Không biết người dùng có tìm thấy ô mã giảm giá không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Screenshot dễ báo nhầm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Khác font, hệ điều hành → baseline lệch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axe chỉ bắt một phần lỗi a11y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Vẫn phải kiểm bàn phím, screen reader bằng tay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Locator phụ thuộc chữ</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EShop không có </a:t>
                      </a:r>
                      <a:r>
                        <a:rPr b="0" i="0" lang="en-US" sz="1300" u="none" cap="none" strike="noStrike">
                          <a:solidFill>
                            <a:srgbClr val="222222"/>
                          </a:solidFill>
                          <a:latin typeface="Consolas"/>
                          <a:ea typeface="Consolas"/>
                          <a:cs typeface="Consolas"/>
                          <a:sym typeface="Consolas"/>
                        </a:rPr>
                        <a:t>data-testid</a:t>
                      </a:r>
                      <a:r>
                        <a:rPr b="0" i="0" lang="en-US" sz="1400" u="none" cap="none" strike="noStrike">
                          <a:solidFill>
                            <a:srgbClr val="222222"/>
                          </a:solidFill>
                          <a:latin typeface="Arial"/>
                          <a:ea typeface="Arial"/>
                          <a:cs typeface="Arial"/>
                          <a:sym typeface="Arial"/>
                        </a:rPr>
                        <a:t>, đổi nhãn là test gãy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Cần biết lập trình JS/TS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Tester không code khó tự viết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646" name="Google Shape;646;p32"/>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32"/>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32"/>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rgbClr val="111111"/>
                </a:solidFill>
                <a:latin typeface="Arial"/>
                <a:ea typeface="Arial"/>
                <a:cs typeface="Arial"/>
                <a:sym typeface="Arial"/>
              </a:rPr>
              <a:t>Playwright trả lời "đúng đặc tả không"; câu "dùng được không" cần người dùng thật → </a:t>
            </a:r>
            <a:r>
              <a:rPr b="1" i="0" lang="en-US" sz="1400">
                <a:solidFill>
                  <a:srgbClr val="111111"/>
                </a:solidFill>
                <a:latin typeface="Arial"/>
                <a:ea typeface="Arial"/>
                <a:cs typeface="Arial"/>
                <a:sym typeface="Arial"/>
              </a:rPr>
              <a:t>UXtweak + Clarity</a:t>
            </a:r>
            <a:r>
              <a:rPr b="0" i="0" lang="en-US" sz="1400">
                <a:solidFill>
                  <a:srgbClr val="111111"/>
                </a:solidFill>
                <a:latin typeface="Arial"/>
                <a:ea typeface="Arial"/>
                <a:cs typeface="Arial"/>
                <a:sym typeface="Arial"/>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cxnSp>
        <p:nvCxnSpPr>
          <p:cNvPr id="654" name="Google Shape;654;p33"/>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655" name="Google Shape;655;p33"/>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656" name="Google Shape;656;p33"/>
          <p:cNvSpPr txBox="1"/>
          <p:nvPr/>
        </p:nvSpPr>
        <p:spPr>
          <a:xfrm>
            <a:off x="548640" y="640080"/>
            <a:ext cx="36576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600">
                <a:solidFill>
                  <a:srgbClr val="C8CBD0"/>
                </a:solidFill>
                <a:latin typeface="Arial"/>
                <a:ea typeface="Arial"/>
                <a:cs typeface="Arial"/>
                <a:sym typeface="Arial"/>
              </a:rPr>
              <a:t>07</a:t>
            </a:r>
            <a:endParaRPr/>
          </a:p>
        </p:txBody>
      </p:sp>
      <p:sp>
        <p:nvSpPr>
          <p:cNvPr id="657" name="Google Shape;657;p33"/>
          <p:cNvSpPr txBox="1"/>
          <p:nvPr/>
        </p:nvSpPr>
        <p:spPr>
          <a:xfrm>
            <a:off x="548640" y="2148840"/>
            <a:ext cx="1078992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a:solidFill>
                  <a:srgbClr val="111111"/>
                </a:solidFill>
                <a:latin typeface="Arial"/>
                <a:ea typeface="Arial"/>
                <a:cs typeface="Arial"/>
                <a:sym typeface="Arial"/>
              </a:rPr>
              <a:t>UXtweak &amp; Microsoft Clarity</a:t>
            </a:r>
            <a:endParaRPr/>
          </a:p>
        </p:txBody>
      </p:sp>
      <p:cxnSp>
        <p:nvCxnSpPr>
          <p:cNvPr id="658" name="Google Shape;658;p33"/>
          <p:cNvCxnSpPr/>
          <p:nvPr/>
        </p:nvCxnSpPr>
        <p:spPr>
          <a:xfrm>
            <a:off x="548640" y="306324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659" name="Google Shape;659;p33"/>
          <p:cNvSpPr txBox="1"/>
          <p:nvPr/>
        </p:nvSpPr>
        <p:spPr>
          <a:xfrm>
            <a:off x="548640" y="333756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01</a:t>
            </a:r>
            <a:endParaRPr/>
          </a:p>
        </p:txBody>
      </p:sp>
      <p:sp>
        <p:nvSpPr>
          <p:cNvPr id="660" name="Google Shape;660;p33"/>
          <p:cNvSpPr txBox="1"/>
          <p:nvPr/>
        </p:nvSpPr>
        <p:spPr>
          <a:xfrm>
            <a:off x="1188720" y="333756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UXtweak &amp; Clarity là gì, thuật ngữ chính</a:t>
            </a:r>
            <a:endParaRPr/>
          </a:p>
        </p:txBody>
      </p:sp>
      <p:sp>
        <p:nvSpPr>
          <p:cNvPr id="661" name="Google Shape;661;p33"/>
          <p:cNvSpPr txBox="1"/>
          <p:nvPr/>
        </p:nvSpPr>
        <p:spPr>
          <a:xfrm>
            <a:off x="548640" y="384048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02</a:t>
            </a:r>
            <a:endParaRPr/>
          </a:p>
        </p:txBody>
      </p:sp>
      <p:sp>
        <p:nvSpPr>
          <p:cNvPr id="662" name="Google Shape;662;p33"/>
          <p:cNvSpPr txBox="1"/>
          <p:nvPr/>
        </p:nvSpPr>
        <p:spPr>
          <a:xfrm>
            <a:off x="1188720" y="384048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Study của nhóm trên EShop</a:t>
            </a:r>
            <a:endParaRPr/>
          </a:p>
        </p:txBody>
      </p:sp>
      <p:sp>
        <p:nvSpPr>
          <p:cNvPr id="663" name="Google Shape;663;p33"/>
          <p:cNvSpPr txBox="1"/>
          <p:nvPr/>
        </p:nvSpPr>
        <p:spPr>
          <a:xfrm>
            <a:off x="548640" y="434340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03</a:t>
            </a:r>
            <a:endParaRPr/>
          </a:p>
        </p:txBody>
      </p:sp>
      <p:sp>
        <p:nvSpPr>
          <p:cNvPr id="664" name="Google Shape;664;p33"/>
          <p:cNvSpPr txBox="1"/>
          <p:nvPr/>
        </p:nvSpPr>
        <p:spPr>
          <a:xfrm>
            <a:off x="1188720" y="434340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3 demo + tóm tắt 3 video</a:t>
            </a:r>
            <a:endParaRPr/>
          </a:p>
        </p:txBody>
      </p:sp>
      <p:sp>
        <p:nvSpPr>
          <p:cNvPr id="665" name="Google Shape;665;p33"/>
          <p:cNvSpPr txBox="1"/>
          <p:nvPr/>
        </p:nvSpPr>
        <p:spPr>
          <a:xfrm>
            <a:off x="548640" y="484632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04</a:t>
            </a:r>
            <a:endParaRPr/>
          </a:p>
        </p:txBody>
      </p:sp>
      <p:sp>
        <p:nvSpPr>
          <p:cNvPr id="666" name="Google Shape;666;p33"/>
          <p:cNvSpPr txBox="1"/>
          <p:nvPr/>
        </p:nvSpPr>
        <p:spPr>
          <a:xfrm>
            <a:off x="1188720" y="484632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Điểm yếu (và lý do đổi từ Maze)</a:t>
            </a:r>
            <a:endParaRPr/>
          </a:p>
        </p:txBody>
      </p:sp>
      <p:sp>
        <p:nvSpPr>
          <p:cNvPr id="667" name="Google Shape;667;p33"/>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34"/>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UXtweak &amp; Microsoft Clarity là gì?</a:t>
            </a:r>
            <a:endParaRPr/>
          </a:p>
        </p:txBody>
      </p:sp>
      <p:sp>
        <p:nvSpPr>
          <p:cNvPr id="674" name="Google Shape;674;p34"/>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07</a:t>
            </a:r>
            <a:endParaRPr/>
          </a:p>
        </p:txBody>
      </p:sp>
      <p:sp>
        <p:nvSpPr>
          <p:cNvPr id="675" name="Google Shape;675;p34"/>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34</a:t>
            </a:r>
            <a:endParaRPr/>
          </a:p>
        </p:txBody>
      </p:sp>
      <p:sp>
        <p:nvSpPr>
          <p:cNvPr id="676" name="Google Shape;676;p34"/>
          <p:cNvSpPr/>
          <p:nvPr/>
        </p:nvSpPr>
        <p:spPr>
          <a:xfrm>
            <a:off x="548640" y="1115568"/>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34"/>
          <p:cNvSpPr/>
          <p:nvPr/>
        </p:nvSpPr>
        <p:spPr>
          <a:xfrm>
            <a:off x="548640" y="1115568"/>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34"/>
          <p:cNvSpPr txBox="1"/>
          <p:nvPr/>
        </p:nvSpPr>
        <p:spPr>
          <a:xfrm>
            <a:off x="749808" y="1298448"/>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UXtweak · Website Testing</a:t>
            </a:r>
            <a:endParaRPr/>
          </a:p>
        </p:txBody>
      </p:sp>
      <p:sp>
        <p:nvSpPr>
          <p:cNvPr id="679" name="Google Shape;679;p34"/>
          <p:cNvSpPr txBox="1"/>
          <p:nvPr/>
        </p:nvSpPr>
        <p:spPr>
          <a:xfrm>
            <a:off x="749808" y="1737360"/>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a:solidFill>
                  <a:srgbClr val="222222"/>
                </a:solidFill>
                <a:latin typeface="Arial"/>
                <a:ea typeface="Arial"/>
                <a:cs typeface="Arial"/>
                <a:sym typeface="Arial"/>
              </a:rPr>
              <a:t>Usability testing </a:t>
            </a:r>
            <a:r>
              <a:rPr b="1" i="0" lang="en-US" sz="1350">
                <a:solidFill>
                  <a:srgbClr val="222222"/>
                </a:solidFill>
                <a:latin typeface="Arial"/>
                <a:ea typeface="Arial"/>
                <a:cs typeface="Arial"/>
                <a:sym typeface="Arial"/>
              </a:rPr>
              <a:t>từ xa, không điều phối</a:t>
            </a:r>
            <a:r>
              <a:rPr b="0" i="0" lang="en-US" sz="1350">
                <a:solidFill>
                  <a:srgbClr val="222222"/>
                </a:solidFill>
                <a:latin typeface="Arial"/>
                <a:ea typeface="Arial"/>
                <a:cs typeface="Arial"/>
                <a:sym typeface="Arial"/>
              </a:rPr>
              <a:t> — người tham gia tự làm qua link.</a:t>
            </a:r>
            <a:endParaRPr/>
          </a:p>
        </p:txBody>
      </p:sp>
      <p:sp>
        <p:nvSpPr>
          <p:cNvPr id="680" name="Google Shape;680;p34"/>
          <p:cNvSpPr/>
          <p:nvPr/>
        </p:nvSpPr>
        <p:spPr>
          <a:xfrm>
            <a:off x="4338218" y="1115568"/>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1" name="Google Shape;681;p34"/>
          <p:cNvSpPr/>
          <p:nvPr/>
        </p:nvSpPr>
        <p:spPr>
          <a:xfrm>
            <a:off x="4338218" y="1115568"/>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2" name="Google Shape;682;p34"/>
          <p:cNvSpPr txBox="1"/>
          <p:nvPr/>
        </p:nvSpPr>
        <p:spPr>
          <a:xfrm>
            <a:off x="4539386" y="1298448"/>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Study</a:t>
            </a:r>
            <a:endParaRPr/>
          </a:p>
        </p:txBody>
      </p:sp>
      <p:sp>
        <p:nvSpPr>
          <p:cNvPr id="683" name="Google Shape;683;p34"/>
          <p:cNvSpPr txBox="1"/>
          <p:nvPr/>
        </p:nvSpPr>
        <p:spPr>
          <a:xfrm>
            <a:off x="4539386" y="1737360"/>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a:solidFill>
                  <a:srgbClr val="222222"/>
                </a:solidFill>
                <a:latin typeface="Arial"/>
                <a:ea typeface="Arial"/>
                <a:cs typeface="Arial"/>
                <a:sym typeface="Arial"/>
              </a:rPr>
              <a:t>Lời chào + </a:t>
            </a:r>
            <a:r>
              <a:rPr b="1" i="0" lang="en-US" sz="1350">
                <a:solidFill>
                  <a:srgbClr val="222222"/>
                </a:solidFill>
                <a:latin typeface="Arial"/>
                <a:ea typeface="Arial"/>
                <a:cs typeface="Arial"/>
                <a:sym typeface="Arial"/>
              </a:rPr>
              <a:t>Task</a:t>
            </a:r>
            <a:r>
              <a:rPr b="0" i="0" lang="en-US" sz="1350">
                <a:solidFill>
                  <a:srgbClr val="222222"/>
                </a:solidFill>
                <a:latin typeface="Arial"/>
                <a:ea typeface="Arial"/>
                <a:cs typeface="Arial"/>
                <a:sym typeface="Arial"/>
              </a:rPr>
              <a:t> trên web thật (qua UXtweak Snippet) + </a:t>
            </a:r>
            <a:r>
              <a:rPr b="1" i="0" lang="en-US" sz="1350">
                <a:solidFill>
                  <a:srgbClr val="222222"/>
                </a:solidFill>
                <a:latin typeface="Arial"/>
                <a:ea typeface="Arial"/>
                <a:cs typeface="Arial"/>
                <a:sym typeface="Arial"/>
              </a:rPr>
              <a:t>Questionnaire</a:t>
            </a:r>
            <a:r>
              <a:rPr b="0" i="0" lang="en-US" sz="1350">
                <a:solidFill>
                  <a:srgbClr val="222222"/>
                </a:solidFill>
                <a:latin typeface="Arial"/>
                <a:ea typeface="Arial"/>
                <a:cs typeface="Arial"/>
                <a:sym typeface="Arial"/>
              </a:rPr>
              <a:t> SEQ, SUS.</a:t>
            </a:r>
            <a:endParaRPr/>
          </a:p>
        </p:txBody>
      </p:sp>
      <p:sp>
        <p:nvSpPr>
          <p:cNvPr id="684" name="Google Shape;684;p34"/>
          <p:cNvSpPr/>
          <p:nvPr/>
        </p:nvSpPr>
        <p:spPr>
          <a:xfrm>
            <a:off x="8127797" y="1115568"/>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34"/>
          <p:cNvSpPr/>
          <p:nvPr/>
        </p:nvSpPr>
        <p:spPr>
          <a:xfrm>
            <a:off x="8127797" y="1115568"/>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34"/>
          <p:cNvSpPr txBox="1"/>
          <p:nvPr/>
        </p:nvSpPr>
        <p:spPr>
          <a:xfrm>
            <a:off x="8328965" y="1298448"/>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Success URL &amp; Optimal Path</a:t>
            </a:r>
            <a:endParaRPr/>
          </a:p>
        </p:txBody>
      </p:sp>
      <p:sp>
        <p:nvSpPr>
          <p:cNvPr id="687" name="Google Shape;687;p34"/>
          <p:cNvSpPr txBox="1"/>
          <p:nvPr/>
        </p:nvSpPr>
        <p:spPr>
          <a:xfrm>
            <a:off x="8328965" y="1737360"/>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a:solidFill>
                  <a:srgbClr val="222222"/>
                </a:solidFill>
                <a:latin typeface="Arial"/>
                <a:ea typeface="Arial"/>
                <a:cs typeface="Arial"/>
                <a:sym typeface="Arial"/>
              </a:rPr>
              <a:t>Trang đích </a:t>
            </a:r>
            <a:r>
              <a:rPr b="0" i="0" lang="en-US" sz="1250">
                <a:solidFill>
                  <a:srgbClr val="222222"/>
                </a:solidFill>
                <a:latin typeface="Consolas"/>
                <a:ea typeface="Consolas"/>
                <a:cs typeface="Consolas"/>
                <a:sym typeface="Consolas"/>
              </a:rPr>
              <a:t>/checkout</a:t>
            </a:r>
            <a:r>
              <a:rPr b="0" i="0" lang="en-US" sz="1350">
                <a:solidFill>
                  <a:srgbClr val="222222"/>
                </a:solidFill>
                <a:latin typeface="Arial"/>
                <a:ea typeface="Arial"/>
                <a:cs typeface="Arial"/>
                <a:sym typeface="Arial"/>
              </a:rPr>
              <a:t>, đường tối ưu 4 trang → Direct · Indirect · Skip, tính </a:t>
            </a:r>
            <a:r>
              <a:rPr b="1" i="0" lang="en-US" sz="1350">
                <a:solidFill>
                  <a:srgbClr val="222222"/>
                </a:solidFill>
                <a:latin typeface="Arial"/>
                <a:ea typeface="Arial"/>
                <a:cs typeface="Arial"/>
                <a:sym typeface="Arial"/>
              </a:rPr>
              <a:t>Lostness</a:t>
            </a:r>
            <a:r>
              <a:rPr b="0" i="0" lang="en-US" sz="1350">
                <a:solidFill>
                  <a:srgbClr val="222222"/>
                </a:solidFill>
                <a:latin typeface="Arial"/>
                <a:ea typeface="Arial"/>
                <a:cs typeface="Arial"/>
                <a:sym typeface="Arial"/>
              </a:rPr>
              <a:t>.</a:t>
            </a:r>
            <a:endParaRPr/>
          </a:p>
        </p:txBody>
      </p:sp>
      <p:sp>
        <p:nvSpPr>
          <p:cNvPr id="688" name="Google Shape;688;p34"/>
          <p:cNvSpPr/>
          <p:nvPr/>
        </p:nvSpPr>
        <p:spPr>
          <a:xfrm>
            <a:off x="548640" y="3803904"/>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p34"/>
          <p:cNvSpPr/>
          <p:nvPr/>
        </p:nvSpPr>
        <p:spPr>
          <a:xfrm>
            <a:off x="548640" y="3803904"/>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34"/>
          <p:cNvSpPr txBox="1"/>
          <p:nvPr/>
        </p:nvSpPr>
        <p:spPr>
          <a:xfrm>
            <a:off x="749808" y="3986784"/>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Session Replay</a:t>
            </a:r>
            <a:endParaRPr/>
          </a:p>
        </p:txBody>
      </p:sp>
      <p:sp>
        <p:nvSpPr>
          <p:cNvPr id="691" name="Google Shape;691;p34"/>
          <p:cNvSpPr txBox="1"/>
          <p:nvPr/>
        </p:nvSpPr>
        <p:spPr>
          <a:xfrm>
            <a:off x="749808" y="4425696"/>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a:solidFill>
                  <a:srgbClr val="222222"/>
                </a:solidFill>
                <a:latin typeface="Arial"/>
                <a:ea typeface="Arial"/>
                <a:cs typeface="Arial"/>
                <a:sym typeface="Arial"/>
              </a:rPr>
              <a:t>Quay lại màn hình, hành trình URL và thao tác chuột của người tham gia.</a:t>
            </a:r>
            <a:endParaRPr/>
          </a:p>
        </p:txBody>
      </p:sp>
      <p:sp>
        <p:nvSpPr>
          <p:cNvPr id="692" name="Google Shape;692;p34"/>
          <p:cNvSpPr/>
          <p:nvPr/>
        </p:nvSpPr>
        <p:spPr>
          <a:xfrm>
            <a:off x="4338218" y="3803904"/>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p34"/>
          <p:cNvSpPr/>
          <p:nvPr/>
        </p:nvSpPr>
        <p:spPr>
          <a:xfrm>
            <a:off x="4338218" y="3803904"/>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34"/>
          <p:cNvSpPr txBox="1"/>
          <p:nvPr/>
        </p:nvSpPr>
        <p:spPr>
          <a:xfrm>
            <a:off x="4539386" y="3986784"/>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Microsoft Clarity</a:t>
            </a:r>
            <a:endParaRPr/>
          </a:p>
        </p:txBody>
      </p:sp>
      <p:sp>
        <p:nvSpPr>
          <p:cNvPr id="695" name="Google Shape;695;p34"/>
          <p:cNvSpPr txBox="1"/>
          <p:nvPr/>
        </p:nvSpPr>
        <p:spPr>
          <a:xfrm>
            <a:off x="4539386" y="4425696"/>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a:solidFill>
                  <a:srgbClr val="222222"/>
                </a:solidFill>
                <a:latin typeface="Arial"/>
                <a:ea typeface="Arial"/>
                <a:cs typeface="Arial"/>
                <a:sym typeface="Arial"/>
              </a:rPr>
              <a:t>Nhúng song song, miễn phí: </a:t>
            </a:r>
            <a:r>
              <a:rPr b="1" i="0" lang="en-US" sz="1350">
                <a:solidFill>
                  <a:srgbClr val="222222"/>
                </a:solidFill>
                <a:latin typeface="Arial"/>
                <a:ea typeface="Arial"/>
                <a:cs typeface="Arial"/>
                <a:sym typeface="Arial"/>
              </a:rPr>
              <a:t>Click Heatmap</a:t>
            </a:r>
            <a:r>
              <a:rPr b="0" i="0" lang="en-US" sz="1350">
                <a:solidFill>
                  <a:srgbClr val="222222"/>
                </a:solidFill>
                <a:latin typeface="Arial"/>
                <a:ea typeface="Arial"/>
                <a:cs typeface="Arial"/>
                <a:sym typeface="Arial"/>
              </a:rPr>
              <a:t>, phát hiện </a:t>
            </a:r>
            <a:r>
              <a:rPr b="1" i="0" lang="en-US" sz="1350">
                <a:solidFill>
                  <a:srgbClr val="222222"/>
                </a:solidFill>
                <a:latin typeface="Arial"/>
                <a:ea typeface="Arial"/>
                <a:cs typeface="Arial"/>
                <a:sym typeface="Arial"/>
              </a:rPr>
              <a:t>Rage Click / Dead Click</a:t>
            </a:r>
            <a:r>
              <a:rPr b="0" i="0" lang="en-US" sz="1350">
                <a:solidFill>
                  <a:srgbClr val="222222"/>
                </a:solidFill>
                <a:latin typeface="Arial"/>
                <a:ea typeface="Arial"/>
                <a:cs typeface="Arial"/>
                <a:sym typeface="Arial"/>
              </a:rPr>
              <a:t>.</a:t>
            </a:r>
            <a:endParaRPr/>
          </a:p>
        </p:txBody>
      </p:sp>
      <p:sp>
        <p:nvSpPr>
          <p:cNvPr id="696" name="Google Shape;696;p34"/>
          <p:cNvSpPr/>
          <p:nvPr/>
        </p:nvSpPr>
        <p:spPr>
          <a:xfrm>
            <a:off x="8127797" y="3803904"/>
            <a:ext cx="3515258" cy="2459736"/>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34"/>
          <p:cNvSpPr/>
          <p:nvPr/>
        </p:nvSpPr>
        <p:spPr>
          <a:xfrm>
            <a:off x="8127797" y="3803904"/>
            <a:ext cx="351525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34"/>
          <p:cNvSpPr txBox="1"/>
          <p:nvPr/>
        </p:nvSpPr>
        <p:spPr>
          <a:xfrm>
            <a:off x="8328965" y="3986784"/>
            <a:ext cx="311292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Vì sao nhúng cả hai</a:t>
            </a:r>
            <a:endParaRPr/>
          </a:p>
        </p:txBody>
      </p:sp>
      <p:sp>
        <p:nvSpPr>
          <p:cNvPr id="699" name="Google Shape;699;p34"/>
          <p:cNvSpPr txBox="1"/>
          <p:nvPr/>
        </p:nvSpPr>
        <p:spPr>
          <a:xfrm>
            <a:off x="8328965" y="4425696"/>
            <a:ext cx="3112922" cy="17282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a:solidFill>
                  <a:srgbClr val="222222"/>
                </a:solidFill>
                <a:latin typeface="Arial"/>
                <a:ea typeface="Arial"/>
                <a:cs typeface="Arial"/>
                <a:sym typeface="Arial"/>
              </a:rPr>
              <a:t>Gói Free UXtweak chỉ 1 study; người tham gia làm 1 lần là có đủ dữ liệu cả hai bên.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35"/>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Study của nhóm: mua hàng có mã giảm giá</a:t>
            </a:r>
            <a:endParaRPr/>
          </a:p>
        </p:txBody>
      </p:sp>
      <p:sp>
        <p:nvSpPr>
          <p:cNvPr id="706" name="Google Shape;706;p35"/>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07</a:t>
            </a:r>
            <a:endParaRPr/>
          </a:p>
        </p:txBody>
      </p:sp>
      <p:sp>
        <p:nvSpPr>
          <p:cNvPr id="707" name="Google Shape;707;p35"/>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35</a:t>
            </a:r>
            <a:endParaRPr/>
          </a:p>
        </p:txBody>
      </p:sp>
      <p:sp>
        <p:nvSpPr>
          <p:cNvPr id="708" name="Google Shape;708;p35"/>
          <p:cNvSpPr/>
          <p:nvPr/>
        </p:nvSpPr>
        <p:spPr>
          <a:xfrm>
            <a:off x="548640" y="1115568"/>
            <a:ext cx="2533574"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a:solidFill>
                  <a:srgbClr val="111111"/>
                </a:solidFill>
                <a:latin typeface="Arial"/>
                <a:ea typeface="Arial"/>
                <a:cs typeface="Arial"/>
                <a:sym typeface="Arial"/>
              </a:rPr>
              <a:t>Welcome</a:t>
            </a:r>
            <a:endParaRPr/>
          </a:p>
        </p:txBody>
      </p:sp>
      <p:sp>
        <p:nvSpPr>
          <p:cNvPr id="709" name="Google Shape;709;p35"/>
          <p:cNvSpPr txBox="1"/>
          <p:nvPr/>
        </p:nvSpPr>
        <p:spPr>
          <a:xfrm>
            <a:off x="3082214" y="1115568"/>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a:solidFill>
                  <a:srgbClr val="0B3A6E"/>
                </a:solidFill>
                <a:latin typeface="Arial"/>
                <a:ea typeface="Arial"/>
                <a:cs typeface="Arial"/>
                <a:sym typeface="Arial"/>
              </a:rPr>
              <a:t>→</a:t>
            </a:r>
            <a:endParaRPr/>
          </a:p>
        </p:txBody>
      </p:sp>
      <p:sp>
        <p:nvSpPr>
          <p:cNvPr id="710" name="Google Shape;710;p35"/>
          <p:cNvSpPr/>
          <p:nvPr/>
        </p:nvSpPr>
        <p:spPr>
          <a:xfrm>
            <a:off x="3402254" y="1115568"/>
            <a:ext cx="2533574"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a:solidFill>
                  <a:srgbClr val="111111"/>
                </a:solidFill>
                <a:latin typeface="Arial"/>
                <a:ea typeface="Arial"/>
                <a:cs typeface="Arial"/>
                <a:sym typeface="Arial"/>
              </a:rPr>
              <a:t>Task 1: mua phụ kiện + VIP100</a:t>
            </a:r>
            <a:endParaRPr/>
          </a:p>
        </p:txBody>
      </p:sp>
      <p:sp>
        <p:nvSpPr>
          <p:cNvPr id="711" name="Google Shape;711;p35"/>
          <p:cNvSpPr txBox="1"/>
          <p:nvPr/>
        </p:nvSpPr>
        <p:spPr>
          <a:xfrm>
            <a:off x="5935828" y="1115568"/>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a:solidFill>
                  <a:srgbClr val="0B3A6E"/>
                </a:solidFill>
                <a:latin typeface="Arial"/>
                <a:ea typeface="Arial"/>
                <a:cs typeface="Arial"/>
                <a:sym typeface="Arial"/>
              </a:rPr>
              <a:t>→</a:t>
            </a:r>
            <a:endParaRPr/>
          </a:p>
        </p:txBody>
      </p:sp>
      <p:sp>
        <p:nvSpPr>
          <p:cNvPr id="712" name="Google Shape;712;p35"/>
          <p:cNvSpPr/>
          <p:nvPr/>
        </p:nvSpPr>
        <p:spPr>
          <a:xfrm>
            <a:off x="6255868" y="1115568"/>
            <a:ext cx="2533574"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a:solidFill>
                  <a:srgbClr val="111111"/>
                </a:solidFill>
                <a:latin typeface="Arial"/>
                <a:ea typeface="Arial"/>
                <a:cs typeface="Arial"/>
                <a:sym typeface="Arial"/>
              </a:rPr>
              <a:t>SEQ (1–7)</a:t>
            </a:r>
            <a:endParaRPr/>
          </a:p>
        </p:txBody>
      </p:sp>
      <p:sp>
        <p:nvSpPr>
          <p:cNvPr id="713" name="Google Shape;713;p35"/>
          <p:cNvSpPr txBox="1"/>
          <p:nvPr/>
        </p:nvSpPr>
        <p:spPr>
          <a:xfrm>
            <a:off x="8789441" y="1115568"/>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a:solidFill>
                  <a:srgbClr val="0B3A6E"/>
                </a:solidFill>
                <a:latin typeface="Arial"/>
                <a:ea typeface="Arial"/>
                <a:cs typeface="Arial"/>
                <a:sym typeface="Arial"/>
              </a:rPr>
              <a:t>→</a:t>
            </a:r>
            <a:endParaRPr/>
          </a:p>
        </p:txBody>
      </p:sp>
      <p:sp>
        <p:nvSpPr>
          <p:cNvPr id="714" name="Google Shape;714;p35"/>
          <p:cNvSpPr/>
          <p:nvPr/>
        </p:nvSpPr>
        <p:spPr>
          <a:xfrm>
            <a:off x="9109481" y="1115568"/>
            <a:ext cx="2533574"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a:solidFill>
                  <a:srgbClr val="111111"/>
                </a:solidFill>
                <a:latin typeface="Arial"/>
                <a:ea typeface="Arial"/>
                <a:cs typeface="Arial"/>
                <a:sym typeface="Arial"/>
              </a:rPr>
              <a:t>SUS (10 câu)</a:t>
            </a:r>
            <a:endParaRPr/>
          </a:p>
        </p:txBody>
      </p:sp>
      <p:sp>
        <p:nvSpPr>
          <p:cNvPr id="715" name="Google Shape;715;p35"/>
          <p:cNvSpPr/>
          <p:nvPr/>
        </p:nvSpPr>
        <p:spPr>
          <a:xfrm>
            <a:off x="548640" y="1847088"/>
            <a:ext cx="11094415" cy="868680"/>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35"/>
          <p:cNvSpPr/>
          <p:nvPr/>
        </p:nvSpPr>
        <p:spPr>
          <a:xfrm>
            <a:off x="548640" y="1847088"/>
            <a:ext cx="64008" cy="868680"/>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35"/>
          <p:cNvSpPr txBox="1"/>
          <p:nvPr/>
        </p:nvSpPr>
        <p:spPr>
          <a:xfrm>
            <a:off x="822960" y="1847088"/>
            <a:ext cx="10637215" cy="8686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50">
                <a:solidFill>
                  <a:srgbClr val="111111"/>
                </a:solidFill>
                <a:latin typeface="Arial"/>
                <a:ea typeface="Arial"/>
                <a:cs typeface="Arial"/>
                <a:sym typeface="Arial"/>
              </a:rPr>
              <a:t>"Bạn có ngân sách tối đa 5.000.000 ₫ và muốn mua một món phụ kiện cho máy tính. Hãy tìm sản phẩm phù hợp, thêm vào giỏ và hoàn tất đặt hàng có dùng mã giảm giá VIP100."</a:t>
            </a:r>
            <a:endParaRPr/>
          </a:p>
        </p:txBody>
      </p:sp>
      <p:sp>
        <p:nvSpPr>
          <p:cNvPr id="718" name="Google Shape;718;p35"/>
          <p:cNvSpPr txBox="1"/>
          <p:nvPr/>
        </p:nvSpPr>
        <p:spPr>
          <a:xfrm>
            <a:off x="548640" y="2990088"/>
            <a:ext cx="11094415" cy="2103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222222"/>
                </a:solidFill>
                <a:latin typeface="Arial"/>
                <a:ea typeface="Arial"/>
                <a:cs typeface="Arial"/>
                <a:sym typeface="Arial"/>
              </a:rPr>
              <a:t>•  5 người tham gia ngoài nhóm, mỗi người một tài khoản độc lập </a:t>
            </a:r>
            <a:r>
              <a:rPr b="0" i="0" lang="en-US" sz="1400">
                <a:solidFill>
                  <a:srgbClr val="222222"/>
                </a:solidFill>
                <a:latin typeface="Consolas"/>
                <a:ea typeface="Consolas"/>
                <a:cs typeface="Consolas"/>
                <a:sym typeface="Consolas"/>
              </a:rPr>
              <a:t>p1</a:t>
            </a:r>
            <a:r>
              <a:rPr b="0" i="0" lang="en-US" sz="1500">
                <a:solidFill>
                  <a:srgbClr val="222222"/>
                </a:solidFill>
                <a:latin typeface="Arial"/>
                <a:ea typeface="Arial"/>
                <a:cs typeface="Arial"/>
                <a:sym typeface="Arial"/>
              </a:rPr>
              <a:t>…</a:t>
            </a:r>
            <a:r>
              <a:rPr b="0" i="0" lang="en-US" sz="1400">
                <a:solidFill>
                  <a:srgbClr val="222222"/>
                </a:solidFill>
                <a:latin typeface="Consolas"/>
                <a:ea typeface="Consolas"/>
                <a:cs typeface="Consolas"/>
                <a:sym typeface="Consolas"/>
              </a:rPr>
              <a:t>p5@eshop.com</a:t>
            </a:r>
            <a:r>
              <a:rPr b="0" i="0" lang="en-US" sz="1500">
                <a:solidFill>
                  <a:srgbClr val="222222"/>
                </a:solidFill>
                <a:latin typeface="Arial"/>
                <a:ea typeface="Arial"/>
                <a:cs typeface="Arial"/>
                <a:sym typeface="Arial"/>
              </a:rPr>
              <a:t> (</a:t>
            </a:r>
            <a:r>
              <a:rPr b="1" i="0" lang="en-US" sz="1500">
                <a:solidFill>
                  <a:srgbClr val="222222"/>
                </a:solidFill>
                <a:latin typeface="Arial"/>
                <a:ea typeface="Arial"/>
                <a:cs typeface="Arial"/>
                <a:sym typeface="Arial"/>
              </a:rPr>
              <a:t>Data-driven</a:t>
            </a:r>
            <a:r>
              <a:rPr b="0" i="0" lang="en-US" sz="1500">
                <a:solidFill>
                  <a:srgbClr val="222222"/>
                </a:solidFill>
                <a:latin typeface="Arial"/>
                <a:ea typeface="Arial"/>
                <a:cs typeface="Arial"/>
                <a:sym typeface="Arial"/>
              </a:rPr>
              <a:t>)</a:t>
            </a:r>
            <a:endParaRPr/>
          </a:p>
          <a:p>
            <a:pPr indent="0" lvl="0" marL="0" marR="0" rtl="0" algn="l">
              <a:spcBef>
                <a:spcPts val="1200"/>
              </a:spcBef>
              <a:spcAft>
                <a:spcPts val="0"/>
              </a:spcAft>
              <a:buNone/>
            </a:pPr>
            <a:r>
              <a:rPr b="0" i="0" lang="en-US" sz="1500">
                <a:solidFill>
                  <a:srgbClr val="222222"/>
                </a:solidFill>
                <a:latin typeface="Arial"/>
                <a:ea typeface="Arial"/>
                <a:cs typeface="Arial"/>
                <a:sym typeface="Arial"/>
              </a:rPr>
              <a:t>•  Đường đi tối ưu 4 trang: </a:t>
            </a:r>
            <a:r>
              <a:rPr b="0" i="0" lang="en-US" sz="1400">
                <a:solidFill>
                  <a:srgbClr val="222222"/>
                </a:solidFill>
                <a:latin typeface="Consolas"/>
                <a:ea typeface="Consolas"/>
                <a:cs typeface="Consolas"/>
                <a:sym typeface="Consolas"/>
              </a:rPr>
              <a:t>/</a:t>
            </a:r>
            <a:r>
              <a:rPr b="0" i="0" lang="en-US" sz="1500">
                <a:solidFill>
                  <a:srgbClr val="222222"/>
                </a:solidFill>
                <a:latin typeface="Arial"/>
                <a:ea typeface="Arial"/>
                <a:cs typeface="Arial"/>
                <a:sym typeface="Arial"/>
              </a:rPr>
              <a:t> → </a:t>
            </a:r>
            <a:r>
              <a:rPr b="0" i="0" lang="en-US" sz="1400">
                <a:solidFill>
                  <a:srgbClr val="222222"/>
                </a:solidFill>
                <a:latin typeface="Consolas"/>
                <a:ea typeface="Consolas"/>
                <a:cs typeface="Consolas"/>
                <a:sym typeface="Consolas"/>
              </a:rPr>
              <a:t>/product/5</a:t>
            </a:r>
            <a:r>
              <a:rPr b="0" i="0" lang="en-US" sz="1500">
                <a:solidFill>
                  <a:srgbClr val="222222"/>
                </a:solidFill>
                <a:latin typeface="Arial"/>
                <a:ea typeface="Arial"/>
                <a:cs typeface="Arial"/>
                <a:sym typeface="Arial"/>
              </a:rPr>
              <a:t> → </a:t>
            </a:r>
            <a:r>
              <a:rPr b="0" i="0" lang="en-US" sz="1400">
                <a:solidFill>
                  <a:srgbClr val="222222"/>
                </a:solidFill>
                <a:latin typeface="Consolas"/>
                <a:ea typeface="Consolas"/>
                <a:cs typeface="Consolas"/>
                <a:sym typeface="Consolas"/>
              </a:rPr>
              <a:t>/cart</a:t>
            </a:r>
            <a:r>
              <a:rPr b="0" i="0" lang="en-US" sz="1500">
                <a:solidFill>
                  <a:srgbClr val="222222"/>
                </a:solidFill>
                <a:latin typeface="Arial"/>
                <a:ea typeface="Arial"/>
                <a:cs typeface="Arial"/>
                <a:sym typeface="Arial"/>
              </a:rPr>
              <a:t> → </a:t>
            </a:r>
            <a:r>
              <a:rPr b="0" i="0" lang="en-US" sz="1400">
                <a:solidFill>
                  <a:srgbClr val="222222"/>
                </a:solidFill>
                <a:latin typeface="Consolas"/>
                <a:ea typeface="Consolas"/>
                <a:cs typeface="Consolas"/>
                <a:sym typeface="Consolas"/>
              </a:rPr>
              <a:t>/checkout</a:t>
            </a:r>
            <a:endParaRPr/>
          </a:p>
          <a:p>
            <a:pPr indent="0" lvl="0" marL="0" marR="0" rtl="0" algn="l">
              <a:spcBef>
                <a:spcPts val="1200"/>
              </a:spcBef>
              <a:spcAft>
                <a:spcPts val="0"/>
              </a:spcAft>
              <a:buNone/>
            </a:pPr>
            <a:r>
              <a:rPr b="0" i="0" lang="en-US" sz="1500">
                <a:solidFill>
                  <a:srgbClr val="222222"/>
                </a:solidFill>
                <a:latin typeface="Arial"/>
                <a:ea typeface="Arial"/>
                <a:cs typeface="Arial"/>
                <a:sym typeface="Arial"/>
              </a:rPr>
              <a:t>•  Kịch bản </a:t>
            </a:r>
            <a:r>
              <a:rPr b="1" i="0" lang="en-US" sz="1500">
                <a:solidFill>
                  <a:srgbClr val="222222"/>
                </a:solidFill>
                <a:latin typeface="Arial"/>
                <a:ea typeface="Arial"/>
                <a:cs typeface="Arial"/>
                <a:sym typeface="Arial"/>
              </a:rPr>
              <a:t>không lộ tên nút</a:t>
            </a:r>
            <a:r>
              <a:rPr b="0" i="0" lang="en-US" sz="1500">
                <a:solidFill>
                  <a:srgbClr val="222222"/>
                </a:solidFill>
                <a:latin typeface="Arial"/>
                <a:ea typeface="Arial"/>
                <a:cs typeface="Arial"/>
                <a:sym typeface="Arial"/>
              </a:rPr>
              <a:t>; chọn </a:t>
            </a:r>
            <a:r>
              <a:rPr b="0" i="0" lang="en-US" sz="1400">
                <a:solidFill>
                  <a:srgbClr val="222222"/>
                </a:solidFill>
                <a:latin typeface="Consolas"/>
                <a:ea typeface="Consolas"/>
                <a:cs typeface="Consolas"/>
                <a:sym typeface="Consolas"/>
              </a:rPr>
              <a:t>VIP100</a:t>
            </a:r>
            <a:r>
              <a:rPr b="0" i="0" lang="en-US" sz="1500">
                <a:solidFill>
                  <a:srgbClr val="222222"/>
                </a:solidFill>
                <a:latin typeface="Arial"/>
                <a:ea typeface="Arial"/>
                <a:cs typeface="Arial"/>
                <a:sym typeface="Arial"/>
              </a:rPr>
              <a:t> (giảm cố định 100.000 ₫) vì </a:t>
            </a:r>
            <a:r>
              <a:rPr b="0" i="0" lang="en-US" sz="1400">
                <a:solidFill>
                  <a:srgbClr val="222222"/>
                </a:solidFill>
                <a:latin typeface="Consolas"/>
                <a:ea typeface="Consolas"/>
                <a:cs typeface="Consolas"/>
                <a:sym typeface="Consolas"/>
              </a:rPr>
              <a:t>SAVE10</a:t>
            </a:r>
            <a:r>
              <a:rPr b="0" i="0" lang="en-US" sz="1500">
                <a:solidFill>
                  <a:srgbClr val="222222"/>
                </a:solidFill>
                <a:latin typeface="Arial"/>
                <a:ea typeface="Arial"/>
                <a:cs typeface="Arial"/>
                <a:sym typeface="Arial"/>
              </a:rPr>
              <a:t> cố ý tính % sai, gây nhiễu</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36"/>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Tóm tắt 3 video demo UXtweak + Clarity</a:t>
            </a:r>
            <a:endParaRPr/>
          </a:p>
        </p:txBody>
      </p:sp>
      <p:sp>
        <p:nvSpPr>
          <p:cNvPr id="725" name="Google Shape;725;p36"/>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5F6368"/>
                </a:solidFill>
                <a:latin typeface="Arial"/>
                <a:ea typeface="Arial"/>
                <a:cs typeface="Arial"/>
                <a:sym typeface="Arial"/>
              </a:rPr>
              <a:t>Ánh xạ bộ ba: Session Replay &amp; Heatmap ≈ Record &amp; Playback · nhiều người cùng study ≈ Data-driven · Success URL ≈ Checkpoint.</a:t>
            </a:r>
            <a:endParaRPr/>
          </a:p>
        </p:txBody>
      </p:sp>
      <p:sp>
        <p:nvSpPr>
          <p:cNvPr id="726" name="Google Shape;726;p36"/>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07</a:t>
            </a:r>
            <a:endParaRPr/>
          </a:p>
        </p:txBody>
      </p:sp>
      <p:sp>
        <p:nvSpPr>
          <p:cNvPr id="727" name="Google Shape;727;p36"/>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36</a:t>
            </a:r>
            <a:endParaRPr/>
          </a:p>
        </p:txBody>
      </p:sp>
      <p:sp>
        <p:nvSpPr>
          <p:cNvPr id="728" name="Google Shape;728;p36"/>
          <p:cNvSpPr/>
          <p:nvPr/>
        </p:nvSpPr>
        <p:spPr>
          <a:xfrm>
            <a:off x="548640" y="1828800"/>
            <a:ext cx="345429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36"/>
          <p:cNvSpPr txBox="1"/>
          <p:nvPr/>
        </p:nvSpPr>
        <p:spPr>
          <a:xfrm>
            <a:off x="548640" y="19933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50">
                <a:solidFill>
                  <a:srgbClr val="0B3A6E"/>
                </a:solidFill>
                <a:latin typeface="Consolas"/>
                <a:ea typeface="Consolas"/>
                <a:cs typeface="Consolas"/>
                <a:sym typeface="Consolas"/>
              </a:rPr>
              <a:t>UX-1  ·  2:30</a:t>
            </a:r>
            <a:endParaRPr/>
          </a:p>
        </p:txBody>
      </p:sp>
      <p:sp>
        <p:nvSpPr>
          <p:cNvPr id="730" name="Google Shape;730;p36"/>
          <p:cNvSpPr txBox="1"/>
          <p:nvPr/>
        </p:nvSpPr>
        <p:spPr>
          <a:xfrm>
            <a:off x="548640" y="2286000"/>
            <a:ext cx="3454298"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Cài đặt snippet &amp; xác thực</a:t>
            </a:r>
            <a:endParaRPr/>
          </a:p>
        </p:txBody>
      </p:sp>
      <p:sp>
        <p:nvSpPr>
          <p:cNvPr id="731" name="Google Shape;731;p36"/>
          <p:cNvSpPr txBox="1"/>
          <p:nvPr/>
        </p:nvSpPr>
        <p:spPr>
          <a:xfrm>
            <a:off x="548628" y="3310128"/>
            <a:ext cx="3454200" cy="17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Tạo study UXtweak + project Clarity</a:t>
            </a:r>
            <a:endParaRPr/>
          </a:p>
        </p:txBody>
      </p:sp>
      <p:sp>
        <p:nvSpPr>
          <p:cNvPr id="732" name="Google Shape;732;p36"/>
          <p:cNvSpPr txBox="1"/>
          <p:nvPr/>
        </p:nvSpPr>
        <p:spPr>
          <a:xfrm>
            <a:off x="548628" y="3749040"/>
            <a:ext cx="3454200" cy="17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Gắn 2 snippet vào </a:t>
            </a:r>
            <a:r>
              <a:rPr b="0" i="0" lang="en-US" sz="1050">
                <a:solidFill>
                  <a:srgbClr val="222222"/>
                </a:solidFill>
                <a:latin typeface="Consolas"/>
                <a:ea typeface="Consolas"/>
                <a:cs typeface="Consolas"/>
                <a:sym typeface="Consolas"/>
              </a:rPr>
              <a:t>index.html</a:t>
            </a:r>
            <a:r>
              <a:rPr b="0" i="0" lang="en-US" sz="1150">
                <a:solidFill>
                  <a:srgbClr val="222222"/>
                </a:solidFill>
                <a:latin typeface="Arial"/>
                <a:ea typeface="Arial"/>
                <a:cs typeface="Arial"/>
                <a:sym typeface="Arial"/>
              </a:rPr>
              <a:t>, deploy Vercel</a:t>
            </a:r>
            <a:endParaRPr/>
          </a:p>
        </p:txBody>
      </p:sp>
      <p:sp>
        <p:nvSpPr>
          <p:cNvPr id="733" name="Google Shape;733;p36"/>
          <p:cNvSpPr txBox="1"/>
          <p:nvPr/>
        </p:nvSpPr>
        <p:spPr>
          <a:xfrm>
            <a:off x="548628" y="4187952"/>
            <a:ext cx="3454200" cy="17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Xác thực kết nối trên dashboard</a:t>
            </a:r>
            <a:endParaRPr/>
          </a:p>
        </p:txBody>
      </p:sp>
      <p:sp>
        <p:nvSpPr>
          <p:cNvPr id="734" name="Google Shape;734;p36"/>
          <p:cNvSpPr/>
          <p:nvPr/>
        </p:nvSpPr>
        <p:spPr>
          <a:xfrm>
            <a:off x="548628" y="5353806"/>
            <a:ext cx="507600" cy="27420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Setup</a:t>
            </a:r>
            <a:endParaRPr/>
          </a:p>
        </p:txBody>
      </p:sp>
      <p:cxnSp>
        <p:nvCxnSpPr>
          <p:cNvPr id="735" name="Google Shape;735;p36"/>
          <p:cNvCxnSpPr/>
          <p:nvPr/>
        </p:nvCxnSpPr>
        <p:spPr>
          <a:xfrm>
            <a:off x="4185818" y="1828800"/>
            <a:ext cx="0" cy="443484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736" name="Google Shape;736;p36"/>
          <p:cNvSpPr/>
          <p:nvPr/>
        </p:nvSpPr>
        <p:spPr>
          <a:xfrm>
            <a:off x="4368698" y="1828800"/>
            <a:ext cx="345429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36"/>
          <p:cNvSpPr txBox="1"/>
          <p:nvPr/>
        </p:nvSpPr>
        <p:spPr>
          <a:xfrm>
            <a:off x="4368698" y="19933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50">
                <a:solidFill>
                  <a:srgbClr val="0B3A6E"/>
                </a:solidFill>
                <a:latin typeface="Consolas"/>
                <a:ea typeface="Consolas"/>
                <a:cs typeface="Consolas"/>
                <a:sym typeface="Consolas"/>
              </a:rPr>
              <a:t>UX-2  ·  3:00</a:t>
            </a:r>
            <a:endParaRPr/>
          </a:p>
        </p:txBody>
      </p:sp>
      <p:sp>
        <p:nvSpPr>
          <p:cNvPr id="738" name="Google Shape;738;p36"/>
          <p:cNvSpPr txBox="1"/>
          <p:nvPr/>
        </p:nvSpPr>
        <p:spPr>
          <a:xfrm>
            <a:off x="4368698" y="2286000"/>
            <a:ext cx="3454298"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Task + SEQ + Session Replay</a:t>
            </a:r>
            <a:endParaRPr/>
          </a:p>
        </p:txBody>
      </p:sp>
      <p:sp>
        <p:nvSpPr>
          <p:cNvPr id="739" name="Google Shape;739;p36"/>
          <p:cNvSpPr txBox="1"/>
          <p:nvPr/>
        </p:nvSpPr>
        <p:spPr>
          <a:xfrm>
            <a:off x="4368686" y="3310128"/>
            <a:ext cx="3454200" cy="17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Tạo Task, Success URL </a:t>
            </a:r>
            <a:r>
              <a:rPr b="0" i="0" lang="en-US" sz="1050">
                <a:solidFill>
                  <a:srgbClr val="222222"/>
                </a:solidFill>
                <a:latin typeface="Consolas"/>
                <a:ea typeface="Consolas"/>
                <a:cs typeface="Consolas"/>
                <a:sym typeface="Consolas"/>
              </a:rPr>
              <a:t>/checkout</a:t>
            </a:r>
            <a:r>
              <a:rPr b="0" i="0" lang="en-US" sz="1150">
                <a:solidFill>
                  <a:srgbClr val="222222"/>
                </a:solidFill>
                <a:latin typeface="Arial"/>
                <a:ea typeface="Arial"/>
                <a:cs typeface="Arial"/>
                <a:sym typeface="Arial"/>
              </a:rPr>
              <a:t>, câu SEQ</a:t>
            </a:r>
            <a:endParaRPr/>
          </a:p>
        </p:txBody>
      </p:sp>
      <p:sp>
        <p:nvSpPr>
          <p:cNvPr id="740" name="Google Shape;740;p36"/>
          <p:cNvSpPr txBox="1"/>
          <p:nvPr/>
        </p:nvSpPr>
        <p:spPr>
          <a:xfrm>
            <a:off x="4368686" y="3749040"/>
            <a:ext cx="3454200" cy="17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Chạy thử 1 lượt như người tham gia</a:t>
            </a:r>
            <a:endParaRPr/>
          </a:p>
        </p:txBody>
      </p:sp>
      <p:sp>
        <p:nvSpPr>
          <p:cNvPr id="741" name="Google Shape;741;p36"/>
          <p:cNvSpPr txBox="1"/>
          <p:nvPr/>
        </p:nvSpPr>
        <p:spPr>
          <a:xfrm>
            <a:off x="4368686" y="4187952"/>
            <a:ext cx="3454200" cy="17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Xem Session Replay của lượt đó</a:t>
            </a:r>
            <a:endParaRPr/>
          </a:p>
        </p:txBody>
      </p:sp>
      <p:sp>
        <p:nvSpPr>
          <p:cNvPr id="742" name="Google Shape;742;p36"/>
          <p:cNvSpPr/>
          <p:nvPr/>
        </p:nvSpPr>
        <p:spPr>
          <a:xfrm>
            <a:off x="4368686" y="5353806"/>
            <a:ext cx="1362600" cy="27420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Khái niệm cơ bản</a:t>
            </a:r>
            <a:endParaRPr/>
          </a:p>
        </p:txBody>
      </p:sp>
      <p:sp>
        <p:nvSpPr>
          <p:cNvPr id="743" name="Google Shape;743;p36"/>
          <p:cNvSpPr/>
          <p:nvPr/>
        </p:nvSpPr>
        <p:spPr>
          <a:xfrm>
            <a:off x="5804294" y="5353806"/>
            <a:ext cx="896100" cy="27420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Checkpoint</a:t>
            </a:r>
            <a:endParaRPr/>
          </a:p>
        </p:txBody>
      </p:sp>
      <p:cxnSp>
        <p:nvCxnSpPr>
          <p:cNvPr id="744" name="Google Shape;744;p36"/>
          <p:cNvCxnSpPr/>
          <p:nvPr/>
        </p:nvCxnSpPr>
        <p:spPr>
          <a:xfrm>
            <a:off x="8005877" y="1828800"/>
            <a:ext cx="0" cy="443484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745" name="Google Shape;745;p36"/>
          <p:cNvSpPr/>
          <p:nvPr/>
        </p:nvSpPr>
        <p:spPr>
          <a:xfrm>
            <a:off x="8188757" y="1828800"/>
            <a:ext cx="345429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46" name="Google Shape;746;p36"/>
          <p:cNvSpPr txBox="1"/>
          <p:nvPr/>
        </p:nvSpPr>
        <p:spPr>
          <a:xfrm>
            <a:off x="8188757" y="19933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50">
                <a:solidFill>
                  <a:srgbClr val="0B3A6E"/>
                </a:solidFill>
                <a:latin typeface="Consolas"/>
                <a:ea typeface="Consolas"/>
                <a:cs typeface="Consolas"/>
                <a:sym typeface="Consolas"/>
              </a:rPr>
              <a:t>UX-3  ·  4:15</a:t>
            </a:r>
            <a:endParaRPr/>
          </a:p>
        </p:txBody>
      </p:sp>
      <p:sp>
        <p:nvSpPr>
          <p:cNvPr id="747" name="Google Shape;747;p36"/>
          <p:cNvSpPr txBox="1"/>
          <p:nvPr/>
        </p:nvSpPr>
        <p:spPr>
          <a:xfrm>
            <a:off x="8188757" y="2286000"/>
            <a:ext cx="3454298"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Study ~5 người + SUS + Heatmap</a:t>
            </a:r>
            <a:endParaRPr/>
          </a:p>
        </p:txBody>
      </p:sp>
      <p:sp>
        <p:nvSpPr>
          <p:cNvPr id="748" name="Google Shape;748;p36"/>
          <p:cNvSpPr txBox="1"/>
          <p:nvPr/>
        </p:nvSpPr>
        <p:spPr>
          <a:xfrm>
            <a:off x="8188745" y="3310128"/>
            <a:ext cx="3454200" cy="17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Đủ luồng Welcome + Task + SEQ + SUS 10 câu</a:t>
            </a:r>
            <a:endParaRPr/>
          </a:p>
        </p:txBody>
      </p:sp>
      <p:sp>
        <p:nvSpPr>
          <p:cNvPr id="749" name="Google Shape;749;p36"/>
          <p:cNvSpPr txBox="1"/>
          <p:nvPr/>
        </p:nvSpPr>
        <p:spPr>
          <a:xfrm>
            <a:off x="8188745" y="3749040"/>
            <a:ext cx="3454200" cy="17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Gửi link </a:t>
            </a:r>
            <a:r>
              <a:rPr b="0" i="0" lang="en-US" sz="1050">
                <a:solidFill>
                  <a:srgbClr val="222222"/>
                </a:solidFill>
                <a:latin typeface="Consolas"/>
                <a:ea typeface="Consolas"/>
                <a:cs typeface="Consolas"/>
                <a:sym typeface="Consolas"/>
              </a:rPr>
              <a:t>p1</a:t>
            </a:r>
            <a:r>
              <a:rPr b="0" i="0" lang="en-US" sz="1150">
                <a:solidFill>
                  <a:srgbClr val="222222"/>
                </a:solidFill>
                <a:latin typeface="Arial"/>
                <a:ea typeface="Arial"/>
                <a:cs typeface="Arial"/>
                <a:sym typeface="Arial"/>
              </a:rPr>
              <a:t>…</a:t>
            </a:r>
            <a:r>
              <a:rPr b="0" i="0" lang="en-US" sz="1050">
                <a:solidFill>
                  <a:srgbClr val="222222"/>
                </a:solidFill>
                <a:latin typeface="Consolas"/>
                <a:ea typeface="Consolas"/>
                <a:cs typeface="Consolas"/>
                <a:sym typeface="Consolas"/>
              </a:rPr>
              <a:t>p5</a:t>
            </a:r>
            <a:r>
              <a:rPr b="0" i="0" lang="en-US" sz="1150">
                <a:solidFill>
                  <a:srgbClr val="222222"/>
                </a:solidFill>
                <a:latin typeface="Arial"/>
                <a:ea typeface="Arial"/>
                <a:cs typeface="Arial"/>
                <a:sym typeface="Arial"/>
              </a:rPr>
              <a:t>, đọc báo cáo UXtweak</a:t>
            </a:r>
            <a:endParaRPr/>
          </a:p>
        </p:txBody>
      </p:sp>
      <p:sp>
        <p:nvSpPr>
          <p:cNvPr id="750" name="Google Shape;750;p36"/>
          <p:cNvSpPr txBox="1"/>
          <p:nvPr/>
        </p:nvSpPr>
        <p:spPr>
          <a:xfrm>
            <a:off x="8188745" y="4187952"/>
            <a:ext cx="3454200" cy="17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Heatmap / Rage Click ở nút "Thêm vào giỏ" (G10)</a:t>
            </a:r>
            <a:endParaRPr/>
          </a:p>
        </p:txBody>
      </p:sp>
      <p:sp>
        <p:nvSpPr>
          <p:cNvPr id="751" name="Google Shape;751;p36"/>
          <p:cNvSpPr txBox="1"/>
          <p:nvPr/>
        </p:nvSpPr>
        <p:spPr>
          <a:xfrm>
            <a:off x="8188745" y="4626864"/>
            <a:ext cx="3454200" cy="17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  Biết người dùng kẹt ở đâu, không hỏi được vì sao</a:t>
            </a:r>
            <a:endParaRPr/>
          </a:p>
        </p:txBody>
      </p:sp>
      <p:sp>
        <p:nvSpPr>
          <p:cNvPr id="752" name="Google Shape;752;p36"/>
          <p:cNvSpPr/>
          <p:nvPr/>
        </p:nvSpPr>
        <p:spPr>
          <a:xfrm>
            <a:off x="8188745" y="5353806"/>
            <a:ext cx="740700" cy="27420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Phức tạp</a:t>
            </a:r>
            <a:endParaRPr/>
          </a:p>
        </p:txBody>
      </p:sp>
      <p:sp>
        <p:nvSpPr>
          <p:cNvPr id="753" name="Google Shape;753;p36"/>
          <p:cNvSpPr/>
          <p:nvPr/>
        </p:nvSpPr>
        <p:spPr>
          <a:xfrm>
            <a:off x="9002561" y="5353806"/>
            <a:ext cx="973800" cy="27420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Data-driven</a:t>
            </a:r>
            <a:endParaRPr/>
          </a:p>
        </p:txBody>
      </p:sp>
      <p:sp>
        <p:nvSpPr>
          <p:cNvPr id="754" name="Google Shape;754;p36"/>
          <p:cNvSpPr/>
          <p:nvPr/>
        </p:nvSpPr>
        <p:spPr>
          <a:xfrm>
            <a:off x="8188745" y="5006334"/>
            <a:ext cx="1595700" cy="274200"/>
          </a:xfrm>
          <a:prstGeom prst="roundRect">
            <a:avLst>
              <a:gd fmla="val 16667" name="adj"/>
            </a:avLst>
          </a:prstGeom>
          <a:solidFill>
            <a:srgbClr val="FBEAE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C62828"/>
                </a:solidFill>
                <a:latin typeface="Arial"/>
                <a:ea typeface="Arial"/>
                <a:cs typeface="Arial"/>
                <a:sym typeface="Arial"/>
              </a:rPr>
              <a:t>Ca không xử lý được</a:t>
            </a:r>
            <a:endParaRPr/>
          </a:p>
        </p:txBody>
      </p:sp>
      <p:sp>
        <p:nvSpPr>
          <p:cNvPr id="9000" name="UX link 1"/>
          <p:cNvSpPr txBox="1"/>
          <p:nvPr/>
        </p:nvSpPr>
        <p:spPr>
          <a:xfrm>
            <a:off x="548640" y="29077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0B3A6E"/>
                </a:solidFill>
                <a:latin typeface="Arial"/>
                <a:ea typeface="Arial"/>
                <a:cs typeface="Arial"/>
                <a:sym typeface="Arial"/>
              </a:rPr>
              <a:t>▶ </a:t>
            </a:r>
            <a:r>
              <a:rPr b="1" lang="en-US" sz="1200" u="sng">
                <a:solidFill>
                  <a:srgbClr val="0B3A6E"/>
                </a:solidFill>
                <a:latin typeface="Arial"/>
                <a:ea typeface="Arial"/>
                <a:cs typeface="Arial"/>
                <a:sym typeface="Arial"/>
                <a:hlinkClick r:id="rId10">
                  <a:extLst>
                    <a:ext uri="{A12FA001-AC4F-418D-AE19-62706E023703}">
                      <ahyp:hlinkClr val="tx"/>
                    </a:ext>
                  </a:extLst>
                </a:hlinkClick>
              </a:rPr>
              <a:t>youtu.be/OuBjSEdTORQ</a:t>
            </a:r>
            <a:endParaRPr/>
          </a:p>
        </p:txBody>
      </p:sp>
      <p:sp>
        <p:nvSpPr>
          <p:cNvPr id="9001" name="UX link 2"/>
          <p:cNvSpPr txBox="1"/>
          <p:nvPr/>
        </p:nvSpPr>
        <p:spPr>
          <a:xfrm>
            <a:off x="4361688" y="29077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0B3A6E"/>
                </a:solidFill>
                <a:latin typeface="Arial"/>
                <a:ea typeface="Arial"/>
                <a:cs typeface="Arial"/>
                <a:sym typeface="Arial"/>
              </a:rPr>
              <a:t>▶ </a:t>
            </a:r>
            <a:r>
              <a:rPr b="1" lang="en-US" sz="1200" u="sng">
                <a:solidFill>
                  <a:srgbClr val="0B3A6E"/>
                </a:solidFill>
                <a:latin typeface="Arial"/>
                <a:ea typeface="Arial"/>
                <a:cs typeface="Arial"/>
                <a:sym typeface="Arial"/>
                <a:hlinkClick r:id="rId11">
                  <a:extLst>
                    <a:ext uri="{A12FA001-AC4F-418D-AE19-62706E023703}">
                      <ahyp:hlinkClr val="tx"/>
                    </a:ext>
                  </a:extLst>
                </a:hlinkClick>
              </a:rPr>
              <a:t>youtu.be/Nq31Rxb6lIk</a:t>
            </a:r>
            <a:endParaRPr/>
          </a:p>
        </p:txBody>
      </p:sp>
      <p:sp>
        <p:nvSpPr>
          <p:cNvPr id="9002" name="UX link 3"/>
          <p:cNvSpPr txBox="1"/>
          <p:nvPr/>
        </p:nvSpPr>
        <p:spPr>
          <a:xfrm>
            <a:off x="8183880" y="29077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0B3A6E"/>
                </a:solidFill>
                <a:latin typeface="Arial"/>
                <a:ea typeface="Arial"/>
                <a:cs typeface="Arial"/>
                <a:sym typeface="Arial"/>
              </a:rPr>
              <a:t>▶ </a:t>
            </a:r>
            <a:r>
              <a:rPr b="1" lang="en-US" sz="1200" u="sng">
                <a:solidFill>
                  <a:srgbClr val="0B3A6E"/>
                </a:solidFill>
                <a:latin typeface="Arial"/>
                <a:ea typeface="Arial"/>
                <a:cs typeface="Arial"/>
                <a:sym typeface="Arial"/>
                <a:hlinkClick r:id="rId12">
                  <a:extLst>
                    <a:ext uri="{A12FA001-AC4F-418D-AE19-62706E023703}">
                      <ahyp:hlinkClr val="tx"/>
                    </a:ext>
                  </a:extLst>
                </a:hlinkClick>
              </a:rPr>
              <a:t>youtu.be/7HmEv2DnVJw</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37"/>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Kết quả study</a:t>
            </a:r>
            <a:endParaRPr/>
          </a:p>
        </p:txBody>
      </p:sp>
      <p:sp>
        <p:nvSpPr>
          <p:cNvPr id="761" name="Google Shape;761;p37"/>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07</a:t>
            </a:r>
            <a:endParaRPr/>
          </a:p>
        </p:txBody>
      </p:sp>
      <p:sp>
        <p:nvSpPr>
          <p:cNvPr id="762" name="Google Shape;762;p37"/>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37</a:t>
            </a:r>
            <a:endParaRPr/>
          </a:p>
        </p:txBody>
      </p:sp>
      <p:graphicFrame>
        <p:nvGraphicFramePr>
          <p:cNvPr id="763" name="Google Shape;763;p37"/>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5547200"/>
                <a:gridCol w="2773600"/>
                <a:gridCol w="2773600"/>
              </a:tblGrid>
              <a:tr h="512075">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Chỉ số</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Công cụ</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Kết quả</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Task success (direct / indirect / bỏ cuộc)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UXtweak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(đang thu thập)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Lostness &amp; Rage Click tại nút "Thêm vào giỏ"</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UXtweak + Clarity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(đang thu thập)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Thời gian hoàn thành trung bình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UXtweak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(đang thu thập)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SEQ trung bình (1–7, mốc ~5,5)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UXtweak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(đang thu thập)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SUS trung bình (0–100, mốc 68)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UXtweak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(đang thu thập)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764" name="Google Shape;764;p37"/>
          <p:cNvSpPr txBox="1"/>
          <p:nvPr/>
        </p:nvSpPr>
        <p:spPr>
          <a:xfrm>
            <a:off x="548640" y="525780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5F6368"/>
                </a:solidFill>
                <a:latin typeface="Arial"/>
                <a:ea typeface="Arial"/>
                <a:cs typeface="Arial"/>
                <a:sym typeface="Arial"/>
              </a:rPr>
              <a:t>Kèm ảnh Click Heatmap / Rage Click (Clarity) và Session Replay (UXtweak) trong </a:t>
            </a:r>
            <a:r>
              <a:rPr b="0" i="0" lang="en-US" sz="1000">
                <a:solidFill>
                  <a:srgbClr val="5F6368"/>
                </a:solidFill>
                <a:latin typeface="Consolas"/>
                <a:ea typeface="Consolas"/>
                <a:cs typeface="Consolas"/>
                <a:sym typeface="Consolas"/>
              </a:rPr>
              <a:t>evidence/maze/ (tên thư mục giữ từ Proposal)</a:t>
            </a:r>
            <a:r>
              <a:rPr b="0" i="0" lang="en-US" sz="1100">
                <a:solidFill>
                  <a:srgbClr val="5F6368"/>
                </a:solidFill>
                <a:latin typeface="Arial"/>
                <a:ea typeface="Arial"/>
                <a:cs typeface="Arial"/>
                <a:sym typeface="Arial"/>
              </a:rPr>
              <a:t>.</a:t>
            </a:r>
            <a:endParaRPr/>
          </a:p>
        </p:txBody>
      </p:sp>
      <p:sp>
        <p:nvSpPr>
          <p:cNvPr id="765" name="Google Shape;765;p37"/>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37"/>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7" name="Google Shape;767;p37"/>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rgbClr val="111111"/>
                </a:solidFill>
                <a:latin typeface="Arial"/>
                <a:ea typeface="Arial"/>
                <a:cs typeface="Arial"/>
                <a:sym typeface="Arial"/>
              </a:rPr>
              <a:t>Giả thuyết: người tham gia kẹt ở </a:t>
            </a:r>
            <a:r>
              <a:rPr b="1" i="0" lang="en-US" sz="1400">
                <a:solidFill>
                  <a:srgbClr val="111111"/>
                </a:solidFill>
                <a:latin typeface="Arial"/>
                <a:ea typeface="Arial"/>
                <a:cs typeface="Arial"/>
                <a:sym typeface="Arial"/>
              </a:rPr>
              <a:t>G10 + G08</a:t>
            </a:r>
            <a:r>
              <a:rPr b="0" i="0" lang="en-US" sz="1400">
                <a:solidFill>
                  <a:srgbClr val="111111"/>
                </a:solidFill>
                <a:latin typeface="Arial"/>
                <a:ea typeface="Arial"/>
                <a:cs typeface="Arial"/>
                <a:sym typeface="Arial"/>
              </a:rPr>
              <a:t> (Rage Click) và khựng lại ở ô tổng tiền sửa được (</a:t>
            </a:r>
            <a:r>
              <a:rPr b="1" i="0" lang="en-US" sz="1400">
                <a:solidFill>
                  <a:srgbClr val="111111"/>
                </a:solidFill>
                <a:latin typeface="Arial"/>
                <a:ea typeface="Arial"/>
                <a:cs typeface="Arial"/>
                <a:sym typeface="Arial"/>
              </a:rPr>
              <a:t>G06</a:t>
            </a:r>
            <a:r>
              <a:rPr b="0" i="0" lang="en-US" sz="1400">
                <a:solidFill>
                  <a:srgbClr val="111111"/>
                </a:solidFill>
                <a:latin typeface="Arial"/>
                <a:ea typeface="Arial"/>
                <a:cs typeface="Arial"/>
                <a:sym typeface="Arial"/>
              </a:rPr>
              <a: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38"/>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Điểm yếu của bộ công cụ (và lý do đổi từ Maze)</a:t>
            </a:r>
            <a:endParaRPr/>
          </a:p>
        </p:txBody>
      </p:sp>
      <p:sp>
        <p:nvSpPr>
          <p:cNvPr id="774" name="Google Shape;774;p38"/>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07</a:t>
            </a:r>
            <a:endParaRPr/>
          </a:p>
        </p:txBody>
      </p:sp>
      <p:sp>
        <p:nvSpPr>
          <p:cNvPr id="775" name="Google Shape;775;p38"/>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38</a:t>
            </a:r>
            <a:endParaRPr/>
          </a:p>
        </p:txBody>
      </p:sp>
      <p:graphicFrame>
        <p:nvGraphicFramePr>
          <p:cNvPr id="776" name="Google Shape;776;p38"/>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4807575"/>
                <a:gridCol w="6286825"/>
              </a:tblGrid>
              <a:tr h="5486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Giới hạn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Ảnh hưởng &amp; cách nhóm xử lý</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300" u="none" cap="none" strike="noStrike">
                          <a:solidFill>
                            <a:srgbClr val="222222"/>
                          </a:solidFill>
                          <a:latin typeface="Arial"/>
                          <a:ea typeface="Arial"/>
                          <a:cs typeface="Arial"/>
                          <a:sym typeface="Arial"/>
                        </a:rPr>
                        <a:t>Maze</a:t>
                      </a:r>
                      <a:r>
                        <a:rPr b="0" i="0" lang="en-US" sz="1300" u="none" cap="none" strike="noStrike">
                          <a:solidFill>
                            <a:srgbClr val="222222"/>
                          </a:solidFill>
                          <a:latin typeface="Arial"/>
                          <a:ea typeface="Arial"/>
                          <a:cs typeface="Arial"/>
                          <a:sym typeface="Arial"/>
                        </a:rPr>
                        <a:t> khóa Live Website Testing ở bản Free (~$99/tháng)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Chuyển sang phương án dự phòng </a:t>
                      </a:r>
                      <a:r>
                        <a:rPr b="1" i="0" lang="en-US" sz="1300" u="none" cap="none" strike="noStrike">
                          <a:solidFill>
                            <a:srgbClr val="222222"/>
                          </a:solidFill>
                          <a:latin typeface="Arial"/>
                          <a:ea typeface="Arial"/>
                          <a:cs typeface="Arial"/>
                          <a:sym typeface="Arial"/>
                        </a:rPr>
                        <a:t>UXtweak</a:t>
                      </a:r>
                      <a:r>
                        <a:rPr b="0" i="0" lang="en-US" sz="1300" u="none" cap="none" strike="noStrike">
                          <a:solidFill>
                            <a:srgbClr val="222222"/>
                          </a:solidFill>
                          <a:latin typeface="Arial"/>
                          <a:ea typeface="Arial"/>
                          <a:cs typeface="Arial"/>
                          <a:sym typeface="Arial"/>
                        </a:rPr>
                        <a:t> đã đăng ký trong Proposal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UXtweak Free: 1 study, 1 task, lưu 14 ngày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Gom 10 câu SUS vào 1 </a:t>
                      </a:r>
                      <a:r>
                        <a:rPr b="0" i="0" lang="en-US" sz="1200" u="none" cap="none" strike="noStrike">
                          <a:solidFill>
                            <a:srgbClr val="222222"/>
                          </a:solidFill>
                          <a:latin typeface="Consolas"/>
                          <a:ea typeface="Consolas"/>
                          <a:cs typeface="Consolas"/>
                          <a:sym typeface="Consolas"/>
                        </a:rPr>
                        <a:t>Radio button grid</a:t>
                      </a:r>
                      <a:r>
                        <a:rPr b="0" i="0" lang="en-US" sz="1300" u="none" cap="none" strike="noStrike">
                          <a:solidFill>
                            <a:srgbClr val="222222"/>
                          </a:solidFill>
                          <a:latin typeface="Arial"/>
                          <a:ea typeface="Arial"/>
                          <a:cs typeface="Arial"/>
                          <a:sym typeface="Arial"/>
                        </a:rPr>
                        <a:t>; nhúng thêm Clarity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Clarity trễ ~20–30 phút, dễ bị AdBlock chặn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Nhắc người tham gia tắt AdBlock trên domain EShop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Cần URL public để chạy từ xa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Đổi 13 chỗ </a:t>
                      </a:r>
                      <a:r>
                        <a:rPr b="0" i="0" lang="en-US" sz="1200" u="none" cap="none" strike="noStrike">
                          <a:solidFill>
                            <a:srgbClr val="222222"/>
                          </a:solidFill>
                          <a:latin typeface="Consolas"/>
                          <a:ea typeface="Consolas"/>
                          <a:cs typeface="Consolas"/>
                          <a:sym typeface="Consolas"/>
                        </a:rPr>
                        <a:t>localhost:3000</a:t>
                      </a:r>
                      <a:r>
                        <a:rPr b="0" i="0" lang="en-US" sz="1300" u="none" cap="none" strike="noStrike">
                          <a:solidFill>
                            <a:srgbClr val="222222"/>
                          </a:solidFill>
                          <a:latin typeface="Arial"/>
                          <a:ea typeface="Arial"/>
                          <a:cs typeface="Arial"/>
                          <a:sym typeface="Arial"/>
                        </a:rPr>
                        <a:t> → </a:t>
                      </a:r>
                      <a:r>
                        <a:rPr b="0" i="0" lang="en-US" sz="1200" u="none" cap="none" strike="noStrike">
                          <a:solidFill>
                            <a:srgbClr val="222222"/>
                          </a:solidFill>
                          <a:latin typeface="Consolas"/>
                          <a:ea typeface="Consolas"/>
                          <a:cs typeface="Consolas"/>
                          <a:sym typeface="Consolas"/>
                        </a:rPr>
                        <a:t>VITE_API_URL</a:t>
                      </a:r>
                      <a:r>
                        <a:rPr b="0" i="0" lang="en-US" sz="1300" u="none" cap="none" strike="noStrike">
                          <a:solidFill>
                            <a:srgbClr val="222222"/>
                          </a:solidFill>
                          <a:latin typeface="Arial"/>
                          <a:ea typeface="Arial"/>
                          <a:cs typeface="Arial"/>
                          <a:sym typeface="Arial"/>
                        </a:rPr>
                        <a:t>, deploy Vercel + Render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Unmoderated, cỡ mẫu nhỏ (5–6 người)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Biết kẹt ở đâu nhưng khó biết vì sao; SUS chỉ để tham khảo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777" name="Google Shape;777;p38"/>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78" name="Google Shape;778;p38"/>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79" name="Google Shape;779;p38"/>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rgbClr val="111111"/>
                </a:solidFill>
                <a:latin typeface="Arial"/>
                <a:ea typeface="Arial"/>
                <a:cs typeface="Arial"/>
                <a:sym typeface="Arial"/>
              </a:rPr>
              <a:t>UXtweak + Clarity cho thấy người dùng kẹt ở </a:t>
            </a:r>
            <a:r>
              <a:rPr b="1" i="0" lang="en-US" sz="1400">
                <a:solidFill>
                  <a:srgbClr val="111111"/>
                </a:solidFill>
                <a:latin typeface="Arial"/>
                <a:ea typeface="Arial"/>
                <a:cs typeface="Arial"/>
                <a:sym typeface="Arial"/>
              </a:rPr>
              <a:t>đâu</a:t>
            </a:r>
            <a:r>
              <a:rPr b="0" i="0" lang="en-US" sz="1400">
                <a:solidFill>
                  <a:srgbClr val="111111"/>
                </a:solidFill>
                <a:latin typeface="Arial"/>
                <a:ea typeface="Arial"/>
                <a:cs typeface="Arial"/>
                <a:sym typeface="Arial"/>
              </a:rPr>
              <a:t>; muốn biết </a:t>
            </a:r>
            <a:r>
              <a:rPr b="1" i="0" lang="en-US" sz="1400">
                <a:solidFill>
                  <a:srgbClr val="111111"/>
                </a:solidFill>
                <a:latin typeface="Arial"/>
                <a:ea typeface="Arial"/>
                <a:cs typeface="Arial"/>
                <a:sym typeface="Arial"/>
              </a:rPr>
              <a:t>vì sao</a:t>
            </a:r>
            <a:r>
              <a:rPr b="0" i="0" lang="en-US" sz="1400">
                <a:solidFill>
                  <a:srgbClr val="111111"/>
                </a:solidFill>
                <a:latin typeface="Arial"/>
                <a:ea typeface="Arial"/>
                <a:cs typeface="Arial"/>
                <a:sym typeface="Arial"/>
              </a:rPr>
              <a:t> vẫn cần heuristic evaluation → Phần 08.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cxnSp>
        <p:nvCxnSpPr>
          <p:cNvPr id="785" name="Google Shape;785;p39"/>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786" name="Google Shape;786;p39"/>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787" name="Google Shape;787;p39"/>
          <p:cNvSpPr txBox="1"/>
          <p:nvPr/>
        </p:nvSpPr>
        <p:spPr>
          <a:xfrm>
            <a:off x="548640" y="640080"/>
            <a:ext cx="36576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600">
                <a:solidFill>
                  <a:srgbClr val="C8CBD0"/>
                </a:solidFill>
                <a:latin typeface="Arial"/>
                <a:ea typeface="Arial"/>
                <a:cs typeface="Arial"/>
                <a:sym typeface="Arial"/>
              </a:rPr>
              <a:t>08</a:t>
            </a:r>
            <a:endParaRPr/>
          </a:p>
        </p:txBody>
      </p:sp>
      <p:sp>
        <p:nvSpPr>
          <p:cNvPr id="788" name="Google Shape;788;p39"/>
          <p:cNvSpPr txBox="1"/>
          <p:nvPr/>
        </p:nvSpPr>
        <p:spPr>
          <a:xfrm>
            <a:off x="548640" y="2148840"/>
            <a:ext cx="1078992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a:solidFill>
                  <a:srgbClr val="111111"/>
                </a:solidFill>
                <a:latin typeface="Arial"/>
                <a:ea typeface="Arial"/>
                <a:cs typeface="Arial"/>
                <a:sym typeface="Arial"/>
              </a:rPr>
              <a:t>Ứng dụng AI: Heuristic Reviewer Skill</a:t>
            </a:r>
            <a:endParaRPr/>
          </a:p>
        </p:txBody>
      </p:sp>
      <p:cxnSp>
        <p:nvCxnSpPr>
          <p:cNvPr id="789" name="Google Shape;789;p39"/>
          <p:cNvCxnSpPr/>
          <p:nvPr/>
        </p:nvCxnSpPr>
        <p:spPr>
          <a:xfrm>
            <a:off x="548640" y="306324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790" name="Google Shape;790;p39"/>
          <p:cNvSpPr txBox="1"/>
          <p:nvPr/>
        </p:nvSpPr>
        <p:spPr>
          <a:xfrm>
            <a:off x="548640" y="333756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01</a:t>
            </a:r>
            <a:endParaRPr/>
          </a:p>
        </p:txBody>
      </p:sp>
      <p:sp>
        <p:nvSpPr>
          <p:cNvPr id="791" name="Google Shape;791;p39"/>
          <p:cNvSpPr txBox="1"/>
          <p:nvPr/>
        </p:nvSpPr>
        <p:spPr>
          <a:xfrm>
            <a:off x="1188720" y="333756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Bài báo gốc (CHI 2024) và nhóm làm khác ở đâu</a:t>
            </a:r>
            <a:endParaRPr/>
          </a:p>
        </p:txBody>
      </p:sp>
      <p:sp>
        <p:nvSpPr>
          <p:cNvPr id="792" name="Google Shape;792;p39"/>
          <p:cNvSpPr txBox="1"/>
          <p:nvPr/>
        </p:nvSpPr>
        <p:spPr>
          <a:xfrm>
            <a:off x="548640" y="384048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02</a:t>
            </a:r>
            <a:endParaRPr/>
          </a:p>
        </p:txBody>
      </p:sp>
      <p:sp>
        <p:nvSpPr>
          <p:cNvPr id="793" name="Google Shape;793;p39"/>
          <p:cNvSpPr txBox="1"/>
          <p:nvPr/>
        </p:nvSpPr>
        <p:spPr>
          <a:xfrm>
            <a:off x="1188720" y="384048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Kiến trúc Skill và rubric chống bịa</a:t>
            </a:r>
            <a:endParaRPr/>
          </a:p>
        </p:txBody>
      </p:sp>
      <p:sp>
        <p:nvSpPr>
          <p:cNvPr id="794" name="Google Shape;794;p39"/>
          <p:cNvSpPr txBox="1"/>
          <p:nvPr/>
        </p:nvSpPr>
        <p:spPr>
          <a:xfrm>
            <a:off x="548640" y="434340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03</a:t>
            </a:r>
            <a:endParaRPr/>
          </a:p>
        </p:txBody>
      </p:sp>
      <p:sp>
        <p:nvSpPr>
          <p:cNvPr id="795" name="Google Shape;795;p39"/>
          <p:cNvSpPr txBox="1"/>
          <p:nvPr/>
        </p:nvSpPr>
        <p:spPr>
          <a:xfrm>
            <a:off x="1188720" y="434340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3 demo + tóm tắt 3 video</a:t>
            </a:r>
            <a:endParaRPr/>
          </a:p>
        </p:txBody>
      </p:sp>
      <p:sp>
        <p:nvSpPr>
          <p:cNvPr id="796" name="Google Shape;796;p39"/>
          <p:cNvSpPr txBox="1"/>
          <p:nvPr/>
        </p:nvSpPr>
        <p:spPr>
          <a:xfrm>
            <a:off x="548640" y="484632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04</a:t>
            </a:r>
            <a:endParaRPr/>
          </a:p>
        </p:txBody>
      </p:sp>
      <p:sp>
        <p:nvSpPr>
          <p:cNvPr id="797" name="Google Shape;797;p39"/>
          <p:cNvSpPr txBox="1"/>
          <p:nvPr/>
        </p:nvSpPr>
        <p:spPr>
          <a:xfrm>
            <a:off x="1188720" y="484632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Kết quả người vs AI và giới hạn</a:t>
            </a:r>
            <a:endParaRPr/>
          </a:p>
        </p:txBody>
      </p:sp>
      <p:sp>
        <p:nvSpPr>
          <p:cNvPr id="798" name="Google Shape;798;p39"/>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40"/>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Bài chính: LLM đánh giá heuristic (CHI 2024)</a:t>
            </a:r>
            <a:endParaRPr/>
          </a:p>
        </p:txBody>
      </p:sp>
      <p:sp>
        <p:nvSpPr>
          <p:cNvPr id="805" name="Google Shape;805;p40"/>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5F6368"/>
                </a:solidFill>
                <a:latin typeface="Arial"/>
                <a:ea typeface="Arial"/>
                <a:cs typeface="Arial"/>
                <a:sym typeface="Arial"/>
              </a:rPr>
              <a:t>Duan, Warner, Li &amp; Hartmann — plugin Figma gửi cấu trúc giao diện (JSON) + 10 heuristic cho GPT-4, so với 12 chuyên gia.</a:t>
            </a:r>
            <a:endParaRPr/>
          </a:p>
        </p:txBody>
      </p:sp>
      <p:sp>
        <p:nvSpPr>
          <p:cNvPr id="806" name="Google Shape;806;p40"/>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08</a:t>
            </a:r>
            <a:endParaRPr/>
          </a:p>
        </p:txBody>
      </p:sp>
      <p:sp>
        <p:nvSpPr>
          <p:cNvPr id="807" name="Google Shape;807;p40"/>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40</a:t>
            </a:r>
            <a:endParaRPr/>
          </a:p>
        </p:txBody>
      </p:sp>
      <p:sp>
        <p:nvSpPr>
          <p:cNvPr id="808" name="Google Shape;808;p40"/>
          <p:cNvSpPr txBox="1"/>
          <p:nvPr/>
        </p:nvSpPr>
        <p:spPr>
          <a:xfrm>
            <a:off x="548640" y="1874520"/>
            <a:ext cx="3423818"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a:solidFill>
                  <a:srgbClr val="0B3A6E"/>
                </a:solidFill>
                <a:latin typeface="Arial"/>
                <a:ea typeface="Arial"/>
                <a:cs typeface="Arial"/>
                <a:sym typeface="Arial"/>
              </a:rPr>
              <a:t>62 / 29 / 9 %</a:t>
            </a:r>
            <a:endParaRPr/>
          </a:p>
        </p:txBody>
      </p:sp>
      <p:sp>
        <p:nvSpPr>
          <p:cNvPr id="809" name="Google Shape;809;p40"/>
          <p:cNvSpPr txBox="1"/>
          <p:nvPr/>
        </p:nvSpPr>
        <p:spPr>
          <a:xfrm>
            <a:off x="548640" y="2743200"/>
            <a:ext cx="3423818"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222222"/>
                </a:solidFill>
                <a:latin typeface="Arial"/>
                <a:ea typeface="Arial"/>
                <a:cs typeface="Arial"/>
                <a:sym typeface="Arial"/>
              </a:rPr>
              <a:t>Lỗi chỉ người thấy / cả hai / chỉ AI thấy</a:t>
            </a:r>
            <a:endParaRPr/>
          </a:p>
        </p:txBody>
      </p:sp>
      <p:cxnSp>
        <p:nvCxnSpPr>
          <p:cNvPr id="810" name="Google Shape;810;p40"/>
          <p:cNvCxnSpPr/>
          <p:nvPr/>
        </p:nvCxnSpPr>
        <p:spPr>
          <a:xfrm>
            <a:off x="4182770" y="1874520"/>
            <a:ext cx="0" cy="155448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811" name="Google Shape;811;p40"/>
          <p:cNvSpPr txBox="1"/>
          <p:nvPr/>
        </p:nvSpPr>
        <p:spPr>
          <a:xfrm>
            <a:off x="4383938" y="1874520"/>
            <a:ext cx="3423818"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a:solidFill>
                  <a:srgbClr val="0B3A6E"/>
                </a:solidFill>
                <a:latin typeface="Arial"/>
                <a:ea typeface="Arial"/>
                <a:cs typeface="Arial"/>
                <a:sym typeface="Arial"/>
              </a:rPr>
              <a:t>0,60  vs  0,83</a:t>
            </a:r>
            <a:endParaRPr/>
          </a:p>
        </p:txBody>
      </p:sp>
      <p:sp>
        <p:nvSpPr>
          <p:cNvPr id="812" name="Google Shape;812;p40"/>
          <p:cNvSpPr txBox="1"/>
          <p:nvPr/>
        </p:nvSpPr>
        <p:spPr>
          <a:xfrm>
            <a:off x="4383938" y="2743200"/>
            <a:ext cx="3423818"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222222"/>
                </a:solidFill>
                <a:latin typeface="Arial"/>
                <a:ea typeface="Arial"/>
                <a:cs typeface="Arial"/>
                <a:sym typeface="Arial"/>
              </a:rPr>
              <a:t>Precision: AI so với chuyên gia</a:t>
            </a:r>
            <a:endParaRPr/>
          </a:p>
        </p:txBody>
      </p:sp>
      <p:cxnSp>
        <p:nvCxnSpPr>
          <p:cNvPr id="813" name="Google Shape;813;p40"/>
          <p:cNvCxnSpPr/>
          <p:nvPr/>
        </p:nvCxnSpPr>
        <p:spPr>
          <a:xfrm>
            <a:off x="8018069" y="1874520"/>
            <a:ext cx="0" cy="155448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814" name="Google Shape;814;p40"/>
          <p:cNvSpPr txBox="1"/>
          <p:nvPr/>
        </p:nvSpPr>
        <p:spPr>
          <a:xfrm>
            <a:off x="8219237" y="1874520"/>
            <a:ext cx="3423818"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a:solidFill>
                  <a:srgbClr val="0B3A6E"/>
                </a:solidFill>
                <a:latin typeface="Arial"/>
                <a:ea typeface="Arial"/>
                <a:cs typeface="Arial"/>
                <a:sym typeface="Arial"/>
              </a:rPr>
              <a:t>0,38  vs  0,34</a:t>
            </a:r>
            <a:endParaRPr/>
          </a:p>
        </p:txBody>
      </p:sp>
      <p:sp>
        <p:nvSpPr>
          <p:cNvPr id="815" name="Google Shape;815;p40"/>
          <p:cNvSpPr txBox="1"/>
          <p:nvPr/>
        </p:nvSpPr>
        <p:spPr>
          <a:xfrm>
            <a:off x="8219237" y="2743200"/>
            <a:ext cx="3423818"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222222"/>
                </a:solidFill>
                <a:latin typeface="Arial"/>
                <a:ea typeface="Arial"/>
                <a:cs typeface="Arial"/>
                <a:sym typeface="Arial"/>
              </a:rPr>
              <a:t>Recall: AI so với một chuyên gia</a:t>
            </a:r>
            <a:endParaRPr/>
          </a:p>
        </p:txBody>
      </p:sp>
      <p:cxnSp>
        <p:nvCxnSpPr>
          <p:cNvPr id="816" name="Google Shape;816;p40"/>
          <p:cNvCxnSpPr/>
          <p:nvPr/>
        </p:nvCxnSpPr>
        <p:spPr>
          <a:xfrm>
            <a:off x="548640" y="3657599"/>
            <a:ext cx="11094415" cy="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817" name="Google Shape;817;p40"/>
          <p:cNvSpPr txBox="1"/>
          <p:nvPr/>
        </p:nvSpPr>
        <p:spPr>
          <a:xfrm>
            <a:off x="548640" y="3840480"/>
            <a:ext cx="11094415" cy="11887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222222"/>
                </a:solidFill>
                <a:latin typeface="Arial"/>
                <a:ea typeface="Arial"/>
                <a:cs typeface="Arial"/>
                <a:sym typeface="Arial"/>
              </a:rPr>
              <a:t>Giới hạn:</a:t>
            </a:r>
            <a:r>
              <a:rPr b="0" i="0" lang="en-US" sz="1500">
                <a:solidFill>
                  <a:srgbClr val="222222"/>
                </a:solidFill>
                <a:latin typeface="Arial"/>
                <a:ea typeface="Arial"/>
                <a:cs typeface="Arial"/>
                <a:sym typeface="Arial"/>
              </a:rPr>
              <a:t> không thấy hình hiển thị thật · áp dụng nguyên tắc quá mức · chất lượng giảm qua các vòng sửa.</a:t>
            </a:r>
            <a:endParaRPr/>
          </a:p>
          <a:p>
            <a:pPr indent="0" lvl="0" marL="0" marR="0" rtl="0" algn="l">
              <a:spcBef>
                <a:spcPts val="1000"/>
              </a:spcBef>
              <a:spcAft>
                <a:spcPts val="0"/>
              </a:spcAft>
              <a:buNone/>
            </a:pPr>
            <a:r>
              <a:rPr b="0" i="0" lang="en-US" sz="1500">
                <a:solidFill>
                  <a:srgbClr val="222222"/>
                </a:solidFill>
                <a:latin typeface="Arial"/>
                <a:ea typeface="Arial"/>
                <a:cs typeface="Arial"/>
                <a:sym typeface="Arial"/>
              </a:rPr>
              <a:t>Còn 7 bài rank A*/A/Q1 khác (GPTDroid, AutoE2E, UICrit…): Phụ lục và </a:t>
            </a:r>
            <a:r>
              <a:rPr b="0" i="0" lang="en-US" sz="1400">
                <a:solidFill>
                  <a:srgbClr val="222222"/>
                </a:solidFill>
                <a:latin typeface="Consolas"/>
                <a:ea typeface="Consolas"/>
                <a:cs typeface="Consolas"/>
                <a:sym typeface="Consolas"/>
              </a:rPr>
              <a:t>docs/khao-sat/bai-bao.md</a:t>
            </a:r>
            <a:r>
              <a:rPr b="0" i="0" lang="en-US" sz="1500">
                <a:solidFill>
                  <a:srgbClr val="222222"/>
                </a:solidFill>
                <a:latin typeface="Arial"/>
                <a:ea typeface="Arial"/>
                <a:cs typeface="Arial"/>
                <a:sym typeface="Arial"/>
              </a:rPr>
              <a:t>.</a:t>
            </a:r>
            <a:endParaRPr/>
          </a:p>
        </p:txBody>
      </p:sp>
      <p:sp>
        <p:nvSpPr>
          <p:cNvPr id="818" name="Google Shape;818;p40"/>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40"/>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40"/>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rgbClr val="111111"/>
                </a:solidFill>
                <a:latin typeface="Arial"/>
                <a:ea typeface="Arial"/>
                <a:cs typeface="Arial"/>
                <a:sym typeface="Arial"/>
              </a:rPr>
              <a:t>Plugin gốc không công bố mã nguồn → nhóm </a:t>
            </a:r>
            <a:r>
              <a:rPr b="1" i="0" lang="en-US" sz="1400">
                <a:solidFill>
                  <a:srgbClr val="111111"/>
                </a:solidFill>
                <a:latin typeface="Arial"/>
                <a:ea typeface="Arial"/>
                <a:cs typeface="Arial"/>
                <a:sym typeface="Arial"/>
              </a:rPr>
              <a:t>tự hiện thực lại phương pháp</a:t>
            </a:r>
            <a:r>
              <a:rPr b="0" i="0" lang="en-US" sz="1400">
                <a:solidFill>
                  <a:srgbClr val="111111"/>
                </a:solidFill>
                <a:latin typeface="Arial"/>
                <a:ea typeface="Arial"/>
                <a:cs typeface="Arial"/>
                <a:sym typeface="Arial"/>
              </a:rPr>
              <a:t> thành Agent Skill, cho AI xem </a:t>
            </a:r>
            <a:r>
              <a:rPr b="1" i="0" lang="en-US" sz="1400">
                <a:solidFill>
                  <a:srgbClr val="111111"/>
                </a:solidFill>
                <a:latin typeface="Arial"/>
                <a:ea typeface="Arial"/>
                <a:cs typeface="Arial"/>
                <a:sym typeface="Arial"/>
              </a:rPr>
              <a:t>ảnh chụp màn hình thật</a:t>
            </a:r>
            <a:r>
              <a:rPr b="0" i="0" lang="en-US" sz="1400">
                <a:solidFill>
                  <a:srgbClr val="111111"/>
                </a:solidFill>
                <a:latin typeface="Arial"/>
                <a:ea typeface="Arial"/>
                <a:cs typeface="Arial"/>
                <a:sym typeface="Arial"/>
              </a:rPr>
              <a:t> và đo lại trên EShop.</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41"/>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Nhóm làm khác ở đâu?</a:t>
            </a:r>
            <a:endParaRPr/>
          </a:p>
        </p:txBody>
      </p:sp>
      <p:sp>
        <p:nvSpPr>
          <p:cNvPr id="827" name="Google Shape;827;p41"/>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08</a:t>
            </a:r>
            <a:endParaRPr/>
          </a:p>
        </p:txBody>
      </p:sp>
      <p:sp>
        <p:nvSpPr>
          <p:cNvPr id="828" name="Google Shape;828;p41"/>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41</a:t>
            </a:r>
            <a:endParaRPr/>
          </a:p>
        </p:txBody>
      </p:sp>
      <p:cxnSp>
        <p:nvCxnSpPr>
          <p:cNvPr id="829" name="Google Shape;829;p41"/>
          <p:cNvCxnSpPr/>
          <p:nvPr/>
        </p:nvCxnSpPr>
        <p:spPr>
          <a:xfrm>
            <a:off x="6095848" y="1115568"/>
            <a:ext cx="0" cy="4416552"/>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830" name="Google Shape;830;p41"/>
          <p:cNvSpPr txBox="1"/>
          <p:nvPr/>
        </p:nvSpPr>
        <p:spPr>
          <a:xfrm>
            <a:off x="548640" y="1115568"/>
            <a:ext cx="5272888"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5F6368"/>
                </a:solidFill>
                <a:latin typeface="Arial"/>
                <a:ea typeface="Arial"/>
                <a:cs typeface="Arial"/>
                <a:sym typeface="Arial"/>
              </a:rPr>
              <a:t>Baseline</a:t>
            </a:r>
            <a:endParaRPr/>
          </a:p>
        </p:txBody>
      </p:sp>
      <p:sp>
        <p:nvSpPr>
          <p:cNvPr id="831" name="Google Shape;831;p41"/>
          <p:cNvSpPr txBox="1"/>
          <p:nvPr/>
        </p:nvSpPr>
        <p:spPr>
          <a:xfrm>
            <a:off x="548640" y="1554480"/>
            <a:ext cx="5272888"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5F6368"/>
                </a:solidFill>
                <a:latin typeface="Arial"/>
                <a:ea typeface="Arial"/>
                <a:cs typeface="Arial"/>
                <a:sym typeface="Arial"/>
              </a:rPr>
              <a:t>CHI 2024 · GPT-4 · skill cộng đồng (Anthropic, Vercel)</a:t>
            </a:r>
            <a:endParaRPr/>
          </a:p>
        </p:txBody>
      </p:sp>
      <p:sp>
        <p:nvSpPr>
          <p:cNvPr id="832" name="Google Shape;832;p41"/>
          <p:cNvSpPr txBox="1"/>
          <p:nvPr/>
        </p:nvSpPr>
        <p:spPr>
          <a:xfrm>
            <a:off x="548640" y="2075688"/>
            <a:ext cx="5272888" cy="34107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5F6368"/>
                </a:solidFill>
                <a:latin typeface="Arial"/>
                <a:ea typeface="Arial"/>
                <a:cs typeface="Arial"/>
                <a:sym typeface="Arial"/>
              </a:rPr>
              <a:t>Đầu vào: JSON mô tả mockup hoặc code nguồn (</a:t>
            </a:r>
            <a:r>
              <a:rPr b="0" i="0" lang="en-US" sz="1400">
                <a:solidFill>
                  <a:srgbClr val="5F6368"/>
                </a:solidFill>
                <a:latin typeface="Consolas"/>
                <a:ea typeface="Consolas"/>
                <a:cs typeface="Consolas"/>
                <a:sym typeface="Consolas"/>
              </a:rPr>
              <a:t>Cart.jsx</a:t>
            </a:r>
            <a:r>
              <a:rPr b="0" i="0" lang="en-US" sz="1500">
                <a:solidFill>
                  <a:srgbClr val="5F6368"/>
                </a:solidFill>
                <a:latin typeface="Arial"/>
                <a:ea typeface="Arial"/>
                <a:cs typeface="Arial"/>
                <a:sym typeface="Arial"/>
              </a:rPr>
              <a:t>)</a:t>
            </a:r>
            <a:endParaRPr/>
          </a:p>
          <a:p>
            <a:pPr indent="0" lvl="0" marL="0" marR="0" rtl="0" algn="l">
              <a:spcBef>
                <a:spcPts val="900"/>
              </a:spcBef>
              <a:spcAft>
                <a:spcPts val="0"/>
              </a:spcAft>
              <a:buNone/>
            </a:pPr>
            <a:r>
              <a:rPr b="0" i="0" lang="en-US" sz="1500">
                <a:solidFill>
                  <a:srgbClr val="5F6368"/>
                </a:solidFill>
                <a:latin typeface="Arial"/>
                <a:ea typeface="Arial"/>
                <a:cs typeface="Arial"/>
                <a:sym typeface="Arial"/>
              </a:rPr>
              <a:t>Tiêu chí: quy tắc web chung, WCAG</a:t>
            </a:r>
            <a:endParaRPr/>
          </a:p>
          <a:p>
            <a:pPr indent="0" lvl="0" marL="0" marR="0" rtl="0" algn="l">
              <a:spcBef>
                <a:spcPts val="900"/>
              </a:spcBef>
              <a:spcAft>
                <a:spcPts val="0"/>
              </a:spcAft>
              <a:buNone/>
            </a:pPr>
            <a:r>
              <a:rPr b="0" i="0" lang="en-US" sz="1500">
                <a:solidFill>
                  <a:srgbClr val="5F6368"/>
                </a:solidFill>
                <a:latin typeface="Arial"/>
                <a:ea typeface="Arial"/>
                <a:cs typeface="Arial"/>
                <a:sym typeface="Arial"/>
              </a:rPr>
              <a:t>Không đo độ chính xác của AI so với người</a:t>
            </a:r>
            <a:endParaRPr/>
          </a:p>
          <a:p>
            <a:pPr indent="0" lvl="0" marL="0" marR="0" rtl="0" algn="l">
              <a:spcBef>
                <a:spcPts val="900"/>
              </a:spcBef>
              <a:spcAft>
                <a:spcPts val="0"/>
              </a:spcAft>
              <a:buNone/>
            </a:pPr>
            <a:r>
              <a:rPr b="0" i="0" lang="en-US" sz="1500">
                <a:solidFill>
                  <a:srgbClr val="5F6368"/>
                </a:solidFill>
                <a:latin typeface="Arial"/>
                <a:ea typeface="Arial"/>
                <a:cs typeface="Arial"/>
                <a:sym typeface="Arial"/>
              </a:rPr>
              <a:t>Hạn chế chính: </a:t>
            </a:r>
            <a:r>
              <a:rPr b="1" i="0" lang="en-US" sz="1500">
                <a:solidFill>
                  <a:srgbClr val="5F6368"/>
                </a:solidFill>
                <a:latin typeface="Arial"/>
                <a:ea typeface="Arial"/>
                <a:cs typeface="Arial"/>
                <a:sym typeface="Arial"/>
              </a:rPr>
              <a:t>AI không nhìn thấy giao diện thật</a:t>
            </a:r>
            <a:endParaRPr/>
          </a:p>
        </p:txBody>
      </p:sp>
      <p:sp>
        <p:nvSpPr>
          <p:cNvPr id="833" name="Google Shape;833;p41"/>
          <p:cNvSpPr txBox="1"/>
          <p:nvPr/>
        </p:nvSpPr>
        <p:spPr>
          <a:xfrm>
            <a:off x="6370168" y="1115568"/>
            <a:ext cx="5272888"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111111"/>
                </a:solidFill>
                <a:latin typeface="Arial"/>
                <a:ea typeface="Arial"/>
                <a:cs typeface="Arial"/>
                <a:sym typeface="Arial"/>
              </a:rPr>
              <a:t>Nhóm 09</a:t>
            </a:r>
            <a:endParaRPr/>
          </a:p>
        </p:txBody>
      </p:sp>
      <p:sp>
        <p:nvSpPr>
          <p:cNvPr id="834" name="Google Shape;834;p41"/>
          <p:cNvSpPr txBox="1"/>
          <p:nvPr/>
        </p:nvSpPr>
        <p:spPr>
          <a:xfrm>
            <a:off x="6370168" y="1554480"/>
            <a:ext cx="5272888"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0B3A6E"/>
                </a:solidFill>
                <a:latin typeface="Arial"/>
                <a:ea typeface="Arial"/>
                <a:cs typeface="Arial"/>
                <a:sym typeface="Arial"/>
              </a:rPr>
              <a:t>Skill </a:t>
            </a:r>
            <a:r>
              <a:rPr b="1" i="0" lang="en-US" sz="1300">
                <a:solidFill>
                  <a:srgbClr val="0B3A6E"/>
                </a:solidFill>
                <a:latin typeface="Consolas"/>
                <a:ea typeface="Consolas"/>
                <a:cs typeface="Consolas"/>
                <a:sym typeface="Consolas"/>
              </a:rPr>
              <a:t>nielsen-heuristic-reviewer</a:t>
            </a:r>
            <a:endParaRPr/>
          </a:p>
        </p:txBody>
      </p:sp>
      <p:sp>
        <p:nvSpPr>
          <p:cNvPr id="835" name="Google Shape;835;p41"/>
          <p:cNvSpPr txBox="1"/>
          <p:nvPr/>
        </p:nvSpPr>
        <p:spPr>
          <a:xfrm>
            <a:off x="6370168" y="2075688"/>
            <a:ext cx="5272888" cy="34107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222222"/>
                </a:solidFill>
                <a:latin typeface="Arial"/>
                <a:ea typeface="Arial"/>
                <a:cs typeface="Arial"/>
                <a:sym typeface="Arial"/>
              </a:rPr>
              <a:t>Đầu vào: </a:t>
            </a:r>
            <a:r>
              <a:rPr b="1" i="0" lang="en-US" sz="1500">
                <a:solidFill>
                  <a:srgbClr val="222222"/>
                </a:solidFill>
                <a:latin typeface="Arial"/>
                <a:ea typeface="Arial"/>
                <a:cs typeface="Arial"/>
                <a:sym typeface="Arial"/>
              </a:rPr>
              <a:t>ảnh chụp màn hình thực tế</a:t>
            </a:r>
            <a:r>
              <a:rPr b="0" i="0" lang="en-US" sz="1500">
                <a:solidFill>
                  <a:srgbClr val="222222"/>
                </a:solidFill>
                <a:latin typeface="Arial"/>
                <a:ea typeface="Arial"/>
                <a:cs typeface="Arial"/>
                <a:sym typeface="Arial"/>
              </a:rPr>
              <a:t> từng bước của luồng</a:t>
            </a:r>
            <a:endParaRPr/>
          </a:p>
          <a:p>
            <a:pPr indent="0" lvl="0" marL="0" marR="0" rtl="0" algn="l">
              <a:spcBef>
                <a:spcPts val="900"/>
              </a:spcBef>
              <a:spcAft>
                <a:spcPts val="0"/>
              </a:spcAft>
              <a:buNone/>
            </a:pPr>
            <a:r>
              <a:rPr b="0" i="0" lang="en-US" sz="1500">
                <a:solidFill>
                  <a:srgbClr val="222222"/>
                </a:solidFill>
                <a:latin typeface="Arial"/>
                <a:ea typeface="Arial"/>
                <a:cs typeface="Arial"/>
                <a:sym typeface="Arial"/>
              </a:rPr>
              <a:t>Tiêu chí: </a:t>
            </a:r>
            <a:r>
              <a:rPr b="1" i="0" lang="en-US" sz="1500">
                <a:solidFill>
                  <a:srgbClr val="222222"/>
                </a:solidFill>
                <a:latin typeface="Arial"/>
                <a:ea typeface="Arial"/>
                <a:cs typeface="Arial"/>
                <a:sym typeface="Arial"/>
              </a:rPr>
              <a:t>10 heuristic Nielsen + severity 0–4</a:t>
            </a:r>
            <a:endParaRPr/>
          </a:p>
          <a:p>
            <a:pPr indent="0" lvl="0" marL="0" marR="0" rtl="0" algn="l">
              <a:spcBef>
                <a:spcPts val="900"/>
              </a:spcBef>
              <a:spcAft>
                <a:spcPts val="0"/>
              </a:spcAft>
              <a:buNone/>
            </a:pPr>
            <a:r>
              <a:rPr b="0" i="0" lang="en-US" sz="1500">
                <a:solidFill>
                  <a:srgbClr val="222222"/>
                </a:solidFill>
                <a:latin typeface="Arial"/>
                <a:ea typeface="Arial"/>
                <a:cs typeface="Arial"/>
                <a:sym typeface="Arial"/>
              </a:rPr>
              <a:t>Đo </a:t>
            </a:r>
            <a:r>
              <a:rPr b="1" i="0" lang="en-US" sz="1500">
                <a:solidFill>
                  <a:srgbClr val="222222"/>
                </a:solidFill>
                <a:latin typeface="Arial"/>
                <a:ea typeface="Arial"/>
                <a:cs typeface="Arial"/>
                <a:sym typeface="Arial"/>
              </a:rPr>
              <a:t>người vs AI</a:t>
            </a:r>
            <a:r>
              <a:rPr b="0" i="0" lang="en-US" sz="1500">
                <a:solidFill>
                  <a:srgbClr val="222222"/>
                </a:solidFill>
                <a:latin typeface="Arial"/>
                <a:ea typeface="Arial"/>
                <a:cs typeface="Arial"/>
                <a:sym typeface="Arial"/>
              </a:rPr>
              <a:t>: precision, recall, lệch severity, độ ổn định</a:t>
            </a:r>
            <a:endParaRPr/>
          </a:p>
          <a:p>
            <a:pPr indent="0" lvl="0" marL="0" marR="0" rtl="0" algn="l">
              <a:spcBef>
                <a:spcPts val="900"/>
              </a:spcBef>
              <a:spcAft>
                <a:spcPts val="0"/>
              </a:spcAft>
              <a:buNone/>
            </a:pPr>
            <a:r>
              <a:rPr b="0" i="0" lang="en-US" sz="1500">
                <a:solidFill>
                  <a:srgbClr val="222222"/>
                </a:solidFill>
                <a:latin typeface="Arial"/>
                <a:ea typeface="Arial"/>
                <a:cs typeface="Arial"/>
                <a:sym typeface="Arial"/>
              </a:rPr>
              <a:t>Tái sử dụng: đổi </a:t>
            </a:r>
            <a:r>
              <a:rPr b="0" i="0" lang="en-US" sz="1400">
                <a:solidFill>
                  <a:srgbClr val="222222"/>
                </a:solidFill>
                <a:latin typeface="Consolas"/>
                <a:ea typeface="Consolas"/>
                <a:cs typeface="Consolas"/>
                <a:sym typeface="Consolas"/>
              </a:rPr>
              <a:t>config.json</a:t>
            </a:r>
            <a:r>
              <a:rPr b="0" i="0" lang="en-US" sz="1500">
                <a:solidFill>
                  <a:srgbClr val="222222"/>
                </a:solidFill>
                <a:latin typeface="Arial"/>
                <a:ea typeface="Arial"/>
                <a:cs typeface="Arial"/>
                <a:sym typeface="Arial"/>
              </a:rPr>
              <a:t> là chạy website khác (TodoMVC)</a:t>
            </a:r>
            <a:endParaRPr/>
          </a:p>
        </p:txBody>
      </p:sp>
      <p:sp>
        <p:nvSpPr>
          <p:cNvPr id="836" name="Google Shape;836;p41"/>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37" name="Google Shape;837;p41"/>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38" name="Google Shape;838;p41"/>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rgbClr val="111111"/>
                </a:solidFill>
                <a:latin typeface="Arial"/>
                <a:ea typeface="Arial"/>
                <a:cs typeface="Arial"/>
                <a:sym typeface="Arial"/>
              </a:rPr>
              <a:t>Chưa thấy skill phổ biến nào chấm heuristic theo Nielsen </a:t>
            </a:r>
            <a:r>
              <a:rPr b="1" i="0" lang="en-US" sz="1400">
                <a:solidFill>
                  <a:srgbClr val="111111"/>
                </a:solidFill>
                <a:latin typeface="Arial"/>
                <a:ea typeface="Arial"/>
                <a:cs typeface="Arial"/>
                <a:sym typeface="Arial"/>
              </a:rPr>
              <a:t>và</a:t>
            </a:r>
            <a:r>
              <a:rPr b="0" i="0" lang="en-US" sz="1400">
                <a:solidFill>
                  <a:srgbClr val="111111"/>
                </a:solidFill>
                <a:latin typeface="Arial"/>
                <a:ea typeface="Arial"/>
                <a:cs typeface="Arial"/>
                <a:sym typeface="Arial"/>
              </a:rPr>
              <a:t> đo độ chính xác thực nghiệm so với người.</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42"/>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Kiến trúc Skill </a:t>
            </a:r>
            <a:r>
              <a:rPr b="1" i="0" lang="en-US" sz="2900">
                <a:solidFill>
                  <a:srgbClr val="111111"/>
                </a:solidFill>
                <a:latin typeface="Consolas"/>
                <a:ea typeface="Consolas"/>
                <a:cs typeface="Consolas"/>
                <a:sym typeface="Consolas"/>
              </a:rPr>
              <a:t>nielsen-heuristic-reviewer</a:t>
            </a:r>
            <a:endParaRPr/>
          </a:p>
        </p:txBody>
      </p:sp>
      <p:sp>
        <p:nvSpPr>
          <p:cNvPr id="845" name="Google Shape;845;p42"/>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08</a:t>
            </a:r>
            <a:endParaRPr/>
          </a:p>
        </p:txBody>
      </p:sp>
      <p:sp>
        <p:nvSpPr>
          <p:cNvPr id="846" name="Google Shape;846;p42"/>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42</a:t>
            </a:r>
            <a:endParaRPr/>
          </a:p>
        </p:txBody>
      </p:sp>
      <p:sp>
        <p:nvSpPr>
          <p:cNvPr id="847" name="Google Shape;847;p42"/>
          <p:cNvSpPr/>
          <p:nvPr/>
        </p:nvSpPr>
        <p:spPr>
          <a:xfrm>
            <a:off x="548640" y="1024128"/>
            <a:ext cx="1582369"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a:solidFill>
                  <a:srgbClr val="111111"/>
                </a:solidFill>
                <a:latin typeface="Arial"/>
                <a:ea typeface="Arial"/>
                <a:cs typeface="Arial"/>
                <a:sym typeface="Arial"/>
              </a:rPr>
              <a:t>Chụp ảnh</a:t>
            </a:r>
            <a:endParaRPr/>
          </a:p>
        </p:txBody>
      </p:sp>
      <p:sp>
        <p:nvSpPr>
          <p:cNvPr id="848" name="Google Shape;848;p42"/>
          <p:cNvSpPr txBox="1"/>
          <p:nvPr/>
        </p:nvSpPr>
        <p:spPr>
          <a:xfrm>
            <a:off x="2131009" y="1024128"/>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a:solidFill>
                  <a:srgbClr val="0B3A6E"/>
                </a:solidFill>
                <a:latin typeface="Arial"/>
                <a:ea typeface="Arial"/>
                <a:cs typeface="Arial"/>
                <a:sym typeface="Arial"/>
              </a:rPr>
              <a:t>→</a:t>
            </a:r>
            <a:endParaRPr/>
          </a:p>
        </p:txBody>
      </p:sp>
      <p:sp>
        <p:nvSpPr>
          <p:cNvPr id="849" name="Google Shape;849;p42"/>
          <p:cNvSpPr/>
          <p:nvPr/>
        </p:nvSpPr>
        <p:spPr>
          <a:xfrm>
            <a:off x="2451049" y="1024128"/>
            <a:ext cx="1582369"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a:solidFill>
                  <a:srgbClr val="111111"/>
                </a:solidFill>
                <a:latin typeface="Arial"/>
                <a:ea typeface="Arial"/>
                <a:cs typeface="Arial"/>
                <a:sym typeface="Arial"/>
              </a:rPr>
              <a:t>Subagent chấm</a:t>
            </a:r>
            <a:endParaRPr/>
          </a:p>
        </p:txBody>
      </p:sp>
      <p:sp>
        <p:nvSpPr>
          <p:cNvPr id="850" name="Google Shape;850;p42"/>
          <p:cNvSpPr txBox="1"/>
          <p:nvPr/>
        </p:nvSpPr>
        <p:spPr>
          <a:xfrm>
            <a:off x="4033418" y="1024128"/>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a:solidFill>
                  <a:srgbClr val="0B3A6E"/>
                </a:solidFill>
                <a:latin typeface="Arial"/>
                <a:ea typeface="Arial"/>
                <a:cs typeface="Arial"/>
                <a:sym typeface="Arial"/>
              </a:rPr>
              <a:t>→</a:t>
            </a:r>
            <a:endParaRPr/>
          </a:p>
        </p:txBody>
      </p:sp>
      <p:sp>
        <p:nvSpPr>
          <p:cNvPr id="851" name="Google Shape;851;p42"/>
          <p:cNvSpPr/>
          <p:nvPr/>
        </p:nvSpPr>
        <p:spPr>
          <a:xfrm>
            <a:off x="4353458" y="1024128"/>
            <a:ext cx="1582369"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a:solidFill>
                  <a:srgbClr val="111111"/>
                </a:solidFill>
                <a:latin typeface="Arial"/>
                <a:ea typeface="Arial"/>
                <a:cs typeface="Arial"/>
                <a:sym typeface="Arial"/>
              </a:rPr>
              <a:t>Kiểm schema</a:t>
            </a:r>
            <a:endParaRPr/>
          </a:p>
        </p:txBody>
      </p:sp>
      <p:sp>
        <p:nvSpPr>
          <p:cNvPr id="852" name="Google Shape;852;p42"/>
          <p:cNvSpPr txBox="1"/>
          <p:nvPr/>
        </p:nvSpPr>
        <p:spPr>
          <a:xfrm>
            <a:off x="5935828" y="1024128"/>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a:solidFill>
                  <a:srgbClr val="0B3A6E"/>
                </a:solidFill>
                <a:latin typeface="Arial"/>
                <a:ea typeface="Arial"/>
                <a:cs typeface="Arial"/>
                <a:sym typeface="Arial"/>
              </a:rPr>
              <a:t>→</a:t>
            </a:r>
            <a:endParaRPr/>
          </a:p>
        </p:txBody>
      </p:sp>
      <p:sp>
        <p:nvSpPr>
          <p:cNvPr id="853" name="Google Shape;853;p42"/>
          <p:cNvSpPr/>
          <p:nvPr/>
        </p:nvSpPr>
        <p:spPr>
          <a:xfrm>
            <a:off x="6255868" y="1024128"/>
            <a:ext cx="1582369"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a:solidFill>
                  <a:srgbClr val="111111"/>
                </a:solidFill>
                <a:latin typeface="Arial"/>
                <a:ea typeface="Arial"/>
                <a:cs typeface="Arial"/>
                <a:sym typeface="Arial"/>
              </a:rPr>
              <a:t>Subagent gán nhãn</a:t>
            </a:r>
            <a:endParaRPr/>
          </a:p>
        </p:txBody>
      </p:sp>
      <p:sp>
        <p:nvSpPr>
          <p:cNvPr id="854" name="Google Shape;854;p42"/>
          <p:cNvSpPr txBox="1"/>
          <p:nvPr/>
        </p:nvSpPr>
        <p:spPr>
          <a:xfrm>
            <a:off x="7838237" y="1024128"/>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a:solidFill>
                  <a:srgbClr val="0B3A6E"/>
                </a:solidFill>
                <a:latin typeface="Arial"/>
                <a:ea typeface="Arial"/>
                <a:cs typeface="Arial"/>
                <a:sym typeface="Arial"/>
              </a:rPr>
              <a:t>→</a:t>
            </a:r>
            <a:endParaRPr/>
          </a:p>
        </p:txBody>
      </p:sp>
      <p:sp>
        <p:nvSpPr>
          <p:cNvPr id="855" name="Google Shape;855;p42"/>
          <p:cNvSpPr/>
          <p:nvPr/>
        </p:nvSpPr>
        <p:spPr>
          <a:xfrm>
            <a:off x="8158277" y="1024128"/>
            <a:ext cx="1582369"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a:solidFill>
                  <a:srgbClr val="111111"/>
                </a:solidFill>
                <a:latin typeface="Arial"/>
                <a:ea typeface="Arial"/>
                <a:cs typeface="Arial"/>
                <a:sym typeface="Arial"/>
              </a:rPr>
              <a:t>Người duyệt</a:t>
            </a:r>
            <a:endParaRPr/>
          </a:p>
        </p:txBody>
      </p:sp>
      <p:sp>
        <p:nvSpPr>
          <p:cNvPr id="856" name="Google Shape;856;p42"/>
          <p:cNvSpPr txBox="1"/>
          <p:nvPr/>
        </p:nvSpPr>
        <p:spPr>
          <a:xfrm>
            <a:off x="9740646" y="1024128"/>
            <a:ext cx="32004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800">
                <a:solidFill>
                  <a:srgbClr val="0B3A6E"/>
                </a:solidFill>
                <a:latin typeface="Arial"/>
                <a:ea typeface="Arial"/>
                <a:cs typeface="Arial"/>
                <a:sym typeface="Arial"/>
              </a:rPr>
              <a:t>→</a:t>
            </a:r>
            <a:endParaRPr/>
          </a:p>
        </p:txBody>
      </p:sp>
      <p:sp>
        <p:nvSpPr>
          <p:cNvPr id="857" name="Google Shape;857;p42"/>
          <p:cNvSpPr/>
          <p:nvPr/>
        </p:nvSpPr>
        <p:spPr>
          <a:xfrm>
            <a:off x="10060686" y="1024128"/>
            <a:ext cx="1582369" cy="502920"/>
          </a:xfrm>
          <a:prstGeom prst="rect">
            <a:avLst/>
          </a:prstGeom>
          <a:solidFill>
            <a:srgbClr val="FFFFFF"/>
          </a:solidFill>
          <a:ln cap="flat" cmpd="sng" w="15875">
            <a:solidFill>
              <a:srgbClr val="11111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1" i="0" lang="en-US" sz="1300">
                <a:solidFill>
                  <a:srgbClr val="111111"/>
                </a:solidFill>
                <a:latin typeface="Arial"/>
                <a:ea typeface="Arial"/>
                <a:cs typeface="Arial"/>
                <a:sym typeface="Arial"/>
              </a:rPr>
              <a:t>Tính chỉ số</a:t>
            </a:r>
            <a:endParaRPr/>
          </a:p>
        </p:txBody>
      </p:sp>
      <p:graphicFrame>
        <p:nvGraphicFramePr>
          <p:cNvPr id="858" name="Google Shape;858;p42"/>
          <p:cNvGraphicFramePr/>
          <p:nvPr/>
        </p:nvGraphicFramePr>
        <p:xfrm>
          <a:off x="548640" y="1847088"/>
          <a:ext cx="3000000" cy="3000000"/>
        </p:xfrm>
        <a:graphic>
          <a:graphicData uri="http://schemas.openxmlformats.org/drawingml/2006/table">
            <a:tbl>
              <a:tblPr>
                <a:noFill/>
                <a:tableStyleId>{A41EB096-C0D3-46DF-A04B-B11FC471E439}</a:tableStyleId>
              </a:tblPr>
              <a:tblGrid>
                <a:gridCol w="3698150"/>
                <a:gridCol w="7396275"/>
              </a:tblGrid>
              <a:tr h="45720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Thành phần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Việc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None/>
                      </a:pPr>
                      <a:r>
                        <a:rPr b="0" i="0" lang="en-US" sz="1200" u="none" cap="none" strike="noStrike">
                          <a:solidFill>
                            <a:srgbClr val="222222"/>
                          </a:solidFill>
                          <a:latin typeface="Consolas"/>
                          <a:ea typeface="Consolas"/>
                          <a:cs typeface="Consolas"/>
                          <a:sym typeface="Consolas"/>
                        </a:rPr>
                        <a:t>SKILL.md</a:t>
                      </a:r>
                      <a:r>
                        <a:rPr b="0" i="0" lang="en-US" sz="1300" u="none" cap="none" strike="noStrike">
                          <a:solidFill>
                            <a:srgbClr val="222222"/>
                          </a:solidFill>
                          <a:latin typeface="Arial"/>
                          <a:ea typeface="Arial"/>
                          <a:cs typeface="Arial"/>
                          <a:sym typeface="Arial"/>
                        </a:rPr>
                        <a:t> · </a:t>
                      </a:r>
                      <a:r>
                        <a:rPr b="0" i="0" lang="en-US" sz="1200" u="none" cap="none" strike="noStrike">
                          <a:solidFill>
                            <a:srgbClr val="222222"/>
                          </a:solidFill>
                          <a:latin typeface="Consolas"/>
                          <a:ea typeface="Consolas"/>
                          <a:cs typeface="Consolas"/>
                          <a:sym typeface="Consolas"/>
                        </a:rPr>
                        <a:t>config.json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Quy trình cho agent; URL, trang, viewport, cách dựng trạng thái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None/>
                      </a:pPr>
                      <a:r>
                        <a:rPr b="0" i="0" lang="en-US" sz="1200" u="none" cap="none" strike="noStrike">
                          <a:solidFill>
                            <a:srgbClr val="222222"/>
                          </a:solidFill>
                          <a:latin typeface="Consolas"/>
                          <a:ea typeface="Consolas"/>
                          <a:cs typeface="Consolas"/>
                          <a:sym typeface="Consolas"/>
                        </a:rPr>
                        <a:t>capture.js</a:t>
                      </a:r>
                      <a:r>
                        <a:rPr b="0" i="0" lang="en-US" sz="1300" u="none" cap="none" strike="noStrike">
                          <a:solidFill>
                            <a:srgbClr val="222222"/>
                          </a:solidFill>
                          <a:latin typeface="Arial"/>
                          <a:ea typeface="Arial"/>
                          <a:cs typeface="Arial"/>
                          <a:sym typeface="Arial"/>
                        </a:rPr>
                        <a:t> · </a:t>
                      </a:r>
                      <a:r>
                        <a:rPr b="0" i="0" lang="en-US" sz="1200" u="none" cap="none" strike="noStrike">
                          <a:solidFill>
                            <a:srgbClr val="222222"/>
                          </a:solidFill>
                          <a:latin typeface="Consolas"/>
                          <a:ea typeface="Consolas"/>
                          <a:cs typeface="Consolas"/>
                          <a:sym typeface="Consolas"/>
                        </a:rPr>
                        <a:t>setups.js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Đăng nhập, thêm giỏ (xử lý G10), chụp từng trang × viewport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Subagent </a:t>
                      </a:r>
                      <a:r>
                        <a:rPr b="0" i="0" lang="en-US" sz="1200" u="none" cap="none" strike="noStrike">
                          <a:solidFill>
                            <a:srgbClr val="222222"/>
                          </a:solidFill>
                          <a:latin typeface="Consolas"/>
                          <a:ea typeface="Consolas"/>
                          <a:cs typeface="Consolas"/>
                          <a:sym typeface="Consolas"/>
                        </a:rPr>
                        <a:t>heuristic-reviewer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Tự xem ảnh, chấm H1–H10; </a:t>
                      </a:r>
                      <a:r>
                        <a:rPr b="1" i="0" lang="en-US" sz="1300" u="none" cap="none" strike="noStrike">
                          <a:solidFill>
                            <a:srgbClr val="222222"/>
                          </a:solidFill>
                          <a:latin typeface="Arial"/>
                          <a:ea typeface="Arial"/>
                          <a:cs typeface="Arial"/>
                          <a:sym typeface="Arial"/>
                        </a:rPr>
                        <a:t>chỉ được đọc ảnh và rubric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None/>
                      </a:pPr>
                      <a:r>
                        <a:rPr b="0" i="0" lang="en-US" sz="1200" u="none" cap="none" strike="noStrike">
                          <a:solidFill>
                            <a:srgbClr val="222222"/>
                          </a:solidFill>
                          <a:latin typeface="Consolas"/>
                          <a:ea typeface="Consolas"/>
                          <a:cs typeface="Consolas"/>
                          <a:sym typeface="Consolas"/>
                        </a:rPr>
                        <a:t>validate.js</a:t>
                      </a:r>
                      <a:r>
                        <a:rPr b="0" i="0" lang="en-US" sz="1300" u="none" cap="none" strike="noStrike">
                          <a:solidFill>
                            <a:srgbClr val="222222"/>
                          </a:solidFill>
                          <a:latin typeface="Arial"/>
                          <a:ea typeface="Arial"/>
                          <a:cs typeface="Arial"/>
                          <a:sym typeface="Arial"/>
                        </a:rPr>
                        <a:t> · </a:t>
                      </a:r>
                      <a:r>
                        <a:rPr b="0" i="0" lang="en-US" sz="1200" u="none" cap="none" strike="noStrike">
                          <a:solidFill>
                            <a:srgbClr val="222222"/>
                          </a:solidFill>
                          <a:latin typeface="Consolas"/>
                          <a:ea typeface="Consolas"/>
                          <a:cs typeface="Consolas"/>
                          <a:sym typeface="Consolas"/>
                        </a:rPr>
                        <a:t>report.js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Kiểm JSON theo </a:t>
                      </a:r>
                      <a:r>
                        <a:rPr b="0" i="0" lang="en-US" sz="1200" u="none" cap="none" strike="noStrike">
                          <a:solidFill>
                            <a:srgbClr val="222222"/>
                          </a:solidFill>
                          <a:latin typeface="Consolas"/>
                          <a:ea typeface="Consolas"/>
                          <a:cs typeface="Consolas"/>
                          <a:sym typeface="Consolas"/>
                        </a:rPr>
                        <a:t>schema.json</a:t>
                      </a:r>
                      <a:r>
                        <a:rPr b="0" i="0" lang="en-US" sz="1300" u="none" cap="none" strike="noStrike">
                          <a:solidFill>
                            <a:srgbClr val="222222"/>
                          </a:solidFill>
                          <a:latin typeface="Arial"/>
                          <a:ea typeface="Arial"/>
                          <a:cs typeface="Arial"/>
                          <a:sym typeface="Arial"/>
                        </a:rPr>
                        <a:t>; gộp báo cáo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Subagent </a:t>
                      </a:r>
                      <a:r>
                        <a:rPr b="0" i="0" lang="en-US" sz="1200" u="none" cap="none" strike="noStrike">
                          <a:solidFill>
                            <a:srgbClr val="222222"/>
                          </a:solidFill>
                          <a:latin typeface="Consolas"/>
                          <a:ea typeface="Consolas"/>
                          <a:cs typeface="Consolas"/>
                          <a:sym typeface="Consolas"/>
                        </a:rPr>
                        <a:t>finding-labeler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Gán nhãn nháp: khớp G01–G11, lỗi mới, hay báo nhầm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None/>
                      </a:pPr>
                      <a:r>
                        <a:rPr b="0" i="0" lang="en-US" sz="1200" u="none" cap="none" strike="noStrike">
                          <a:solidFill>
                            <a:srgbClr val="222222"/>
                          </a:solidFill>
                          <a:latin typeface="Consolas"/>
                          <a:ea typeface="Consolas"/>
                          <a:cs typeface="Consolas"/>
                          <a:sym typeface="Consolas"/>
                        </a:rPr>
                        <a:t>labels.csv</a:t>
                      </a:r>
                      <a:r>
                        <a:rPr b="0" i="0" lang="en-US" sz="1300" u="none" cap="none" strike="noStrike">
                          <a:solidFill>
                            <a:srgbClr val="222222"/>
                          </a:solidFill>
                          <a:latin typeface="Arial"/>
                          <a:ea typeface="Arial"/>
                          <a:cs typeface="Arial"/>
                          <a:sym typeface="Arial"/>
                        </a:rPr>
                        <a:t> · </a:t>
                      </a:r>
                      <a:r>
                        <a:rPr b="0" i="0" lang="en-US" sz="1200" u="none" cap="none" strike="noStrike">
                          <a:solidFill>
                            <a:srgbClr val="222222"/>
                          </a:solidFill>
                          <a:latin typeface="Consolas"/>
                          <a:ea typeface="Consolas"/>
                          <a:cs typeface="Consolas"/>
                          <a:sym typeface="Consolas"/>
                        </a:rPr>
                        <a:t>compare.js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Người duyệt nhãn; tính precision, recall, lệch severity, độ ổn định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43"/>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Rubric trong Skill: ép AI không bịa</a:t>
            </a:r>
            <a:endParaRPr/>
          </a:p>
        </p:txBody>
      </p:sp>
      <p:sp>
        <p:nvSpPr>
          <p:cNvPr id="865" name="Google Shape;865;p43"/>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08</a:t>
            </a:r>
            <a:endParaRPr/>
          </a:p>
        </p:txBody>
      </p:sp>
      <p:sp>
        <p:nvSpPr>
          <p:cNvPr id="866" name="Google Shape;866;p43"/>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43</a:t>
            </a:r>
            <a:endParaRPr/>
          </a:p>
        </p:txBody>
      </p:sp>
      <p:sp>
        <p:nvSpPr>
          <p:cNvPr id="867" name="Google Shape;867;p43"/>
          <p:cNvSpPr txBox="1"/>
          <p:nvPr/>
        </p:nvSpPr>
        <p:spPr>
          <a:xfrm>
            <a:off x="548640" y="1115568"/>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01</a:t>
            </a:r>
            <a:endParaRPr/>
          </a:p>
        </p:txBody>
      </p:sp>
      <p:sp>
        <p:nvSpPr>
          <p:cNvPr id="868" name="Google Shape;868;p43"/>
          <p:cNvSpPr txBox="1"/>
          <p:nvPr/>
        </p:nvSpPr>
        <p:spPr>
          <a:xfrm>
            <a:off x="1325880" y="1161288"/>
            <a:ext cx="521208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Chỉ báo vấn đề </a:t>
            </a:r>
            <a:r>
              <a:rPr b="1" i="0" lang="en-US" sz="1600">
                <a:solidFill>
                  <a:srgbClr val="222222"/>
                </a:solidFill>
                <a:latin typeface="Arial"/>
                <a:ea typeface="Arial"/>
                <a:cs typeface="Arial"/>
                <a:sym typeface="Arial"/>
              </a:rPr>
              <a:t>nhìn thấy trên ảnh</a:t>
            </a:r>
            <a:r>
              <a:rPr b="0" i="0" lang="en-US" sz="1600">
                <a:solidFill>
                  <a:srgbClr val="222222"/>
                </a:solidFill>
                <a:latin typeface="Arial"/>
                <a:ea typeface="Arial"/>
                <a:cs typeface="Arial"/>
                <a:sym typeface="Arial"/>
              </a:rPr>
              <a:t>, không đoán chức năng ẩn</a:t>
            </a:r>
            <a:endParaRPr/>
          </a:p>
        </p:txBody>
      </p:sp>
      <p:cxnSp>
        <p:nvCxnSpPr>
          <p:cNvPr id="869" name="Google Shape;869;p43"/>
          <p:cNvCxnSpPr/>
          <p:nvPr/>
        </p:nvCxnSpPr>
        <p:spPr>
          <a:xfrm>
            <a:off x="548640" y="1755648"/>
            <a:ext cx="6035040"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870" name="Google Shape;870;p43"/>
          <p:cNvSpPr txBox="1"/>
          <p:nvPr/>
        </p:nvSpPr>
        <p:spPr>
          <a:xfrm>
            <a:off x="548640" y="1828800"/>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02</a:t>
            </a:r>
            <a:endParaRPr/>
          </a:p>
        </p:txBody>
      </p:sp>
      <p:sp>
        <p:nvSpPr>
          <p:cNvPr id="871" name="Google Shape;871;p43"/>
          <p:cNvSpPr txBox="1"/>
          <p:nvPr/>
        </p:nvSpPr>
        <p:spPr>
          <a:xfrm>
            <a:off x="1325880" y="1874520"/>
            <a:ext cx="521208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Mỗi vấn đề đủ 6 trường: </a:t>
            </a:r>
            <a:r>
              <a:rPr b="1" i="0" lang="en-US" sz="1600">
                <a:solidFill>
                  <a:srgbClr val="222222"/>
                </a:solidFill>
                <a:latin typeface="Arial"/>
                <a:ea typeface="Arial"/>
                <a:cs typeface="Arial"/>
                <a:sym typeface="Arial"/>
              </a:rPr>
              <a:t>H1–H10 · phần tử · vị trí · severity · cách sửa</a:t>
            </a:r>
            <a:endParaRPr/>
          </a:p>
        </p:txBody>
      </p:sp>
      <p:cxnSp>
        <p:nvCxnSpPr>
          <p:cNvPr id="872" name="Google Shape;872;p43"/>
          <p:cNvCxnSpPr/>
          <p:nvPr/>
        </p:nvCxnSpPr>
        <p:spPr>
          <a:xfrm>
            <a:off x="548640" y="2468880"/>
            <a:ext cx="6035040"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873" name="Google Shape;873;p43"/>
          <p:cNvSpPr txBox="1"/>
          <p:nvPr/>
        </p:nvSpPr>
        <p:spPr>
          <a:xfrm>
            <a:off x="548640" y="2542032"/>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03</a:t>
            </a:r>
            <a:endParaRPr/>
          </a:p>
        </p:txBody>
      </p:sp>
      <p:sp>
        <p:nvSpPr>
          <p:cNvPr id="874" name="Google Shape;874;p43"/>
          <p:cNvSpPr txBox="1"/>
          <p:nvPr/>
        </p:nvSpPr>
        <p:spPr>
          <a:xfrm>
            <a:off x="1325880" y="2587752"/>
            <a:ext cx="521208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Không báo trùng, tối đa 5 vấn đề mỗi ảnh</a:t>
            </a:r>
            <a:endParaRPr/>
          </a:p>
        </p:txBody>
      </p:sp>
      <p:cxnSp>
        <p:nvCxnSpPr>
          <p:cNvPr id="875" name="Google Shape;875;p43"/>
          <p:cNvCxnSpPr/>
          <p:nvPr/>
        </p:nvCxnSpPr>
        <p:spPr>
          <a:xfrm>
            <a:off x="548640" y="3182112"/>
            <a:ext cx="6035040"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876" name="Google Shape;876;p43"/>
          <p:cNvSpPr txBox="1"/>
          <p:nvPr/>
        </p:nvSpPr>
        <p:spPr>
          <a:xfrm>
            <a:off x="548640" y="3255264"/>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04</a:t>
            </a:r>
            <a:endParaRPr/>
          </a:p>
        </p:txBody>
      </p:sp>
      <p:sp>
        <p:nvSpPr>
          <p:cNvPr id="877" name="Google Shape;877;p43"/>
          <p:cNvSpPr txBox="1"/>
          <p:nvPr/>
        </p:nvSpPr>
        <p:spPr>
          <a:xfrm>
            <a:off x="1325880" y="3300984"/>
            <a:ext cx="521208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Rubric </a:t>
            </a:r>
            <a:r>
              <a:rPr b="1" i="0" lang="en-US" sz="1600">
                <a:solidFill>
                  <a:srgbClr val="222222"/>
                </a:solidFill>
                <a:latin typeface="Arial"/>
                <a:ea typeface="Arial"/>
                <a:cs typeface="Arial"/>
                <a:sym typeface="Arial"/>
              </a:rPr>
              <a:t>không có ví dụ nào từ EShop</a:t>
            </a:r>
            <a:r>
              <a:rPr b="0" i="0" lang="en-US" sz="1600">
                <a:solidFill>
                  <a:srgbClr val="222222"/>
                </a:solidFill>
                <a:latin typeface="Arial"/>
                <a:ea typeface="Arial"/>
                <a:cs typeface="Arial"/>
                <a:sym typeface="Arial"/>
              </a:rPr>
              <a:t> → không mớm đáp án</a:t>
            </a:r>
            <a:endParaRPr/>
          </a:p>
        </p:txBody>
      </p:sp>
      <p:cxnSp>
        <p:nvCxnSpPr>
          <p:cNvPr id="878" name="Google Shape;878;p43"/>
          <p:cNvCxnSpPr/>
          <p:nvPr/>
        </p:nvCxnSpPr>
        <p:spPr>
          <a:xfrm>
            <a:off x="548640" y="3895344"/>
            <a:ext cx="6035040"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879" name="Google Shape;879;p43"/>
          <p:cNvSpPr txBox="1"/>
          <p:nvPr/>
        </p:nvSpPr>
        <p:spPr>
          <a:xfrm>
            <a:off x="548640" y="3968496"/>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05</a:t>
            </a:r>
            <a:endParaRPr/>
          </a:p>
        </p:txBody>
      </p:sp>
      <p:sp>
        <p:nvSpPr>
          <p:cNvPr id="880" name="Google Shape;880;p43"/>
          <p:cNvSpPr txBox="1"/>
          <p:nvPr/>
        </p:nvSpPr>
        <p:spPr>
          <a:xfrm>
            <a:off x="1325880" y="4014216"/>
            <a:ext cx="521208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Sai schema → </a:t>
            </a:r>
            <a:r>
              <a:rPr b="0" i="0" lang="en-US" sz="1500">
                <a:solidFill>
                  <a:srgbClr val="222222"/>
                </a:solidFill>
                <a:latin typeface="Consolas"/>
                <a:ea typeface="Consolas"/>
                <a:cs typeface="Consolas"/>
                <a:sym typeface="Consolas"/>
              </a:rPr>
              <a:t>validate.js</a:t>
            </a:r>
            <a:r>
              <a:rPr b="0" i="0" lang="en-US" sz="1600">
                <a:solidFill>
                  <a:srgbClr val="222222"/>
                </a:solidFill>
                <a:latin typeface="Arial"/>
                <a:ea typeface="Arial"/>
                <a:cs typeface="Arial"/>
                <a:sym typeface="Arial"/>
              </a:rPr>
              <a:t> báo lỗi, gọi lại subagent</a:t>
            </a:r>
            <a:endParaRPr/>
          </a:p>
        </p:txBody>
      </p:sp>
      <p:cxnSp>
        <p:nvCxnSpPr>
          <p:cNvPr id="881" name="Google Shape;881;p43"/>
          <p:cNvCxnSpPr/>
          <p:nvPr/>
        </p:nvCxnSpPr>
        <p:spPr>
          <a:xfrm>
            <a:off x="548640" y="4608576"/>
            <a:ext cx="6035040"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882" name="Google Shape;882;p43"/>
          <p:cNvSpPr/>
          <p:nvPr/>
        </p:nvSpPr>
        <p:spPr>
          <a:xfrm>
            <a:off x="6949440" y="1115568"/>
            <a:ext cx="4693615" cy="3291840"/>
          </a:xfrm>
          <a:prstGeom prst="rect">
            <a:avLst/>
          </a:prstGeom>
          <a:solidFill>
            <a:srgbClr val="F1F3F6"/>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3" name="Google Shape;883;p43"/>
          <p:cNvSpPr/>
          <p:nvPr/>
        </p:nvSpPr>
        <p:spPr>
          <a:xfrm>
            <a:off x="6949440" y="1115568"/>
            <a:ext cx="4693615"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4" name="Google Shape;884;p43"/>
          <p:cNvSpPr txBox="1"/>
          <p:nvPr/>
        </p:nvSpPr>
        <p:spPr>
          <a:xfrm>
            <a:off x="7178040" y="1344168"/>
            <a:ext cx="423641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5F6368"/>
                </a:solidFill>
                <a:latin typeface="Arial"/>
                <a:ea typeface="Arial"/>
                <a:cs typeface="Arial"/>
                <a:sym typeface="Arial"/>
              </a:rPr>
              <a:t>Một phát hiện hợp lệ (schema.json)</a:t>
            </a:r>
            <a:endParaRPr/>
          </a:p>
        </p:txBody>
      </p:sp>
      <p:sp>
        <p:nvSpPr>
          <p:cNvPr id="885" name="Google Shape;885;p43"/>
          <p:cNvSpPr txBox="1"/>
          <p:nvPr/>
        </p:nvSpPr>
        <p:spPr>
          <a:xfrm>
            <a:off x="7178040" y="1755648"/>
            <a:ext cx="4236415" cy="2560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a:solidFill>
                  <a:srgbClr val="111111"/>
                </a:solidFill>
                <a:latin typeface="Consolas"/>
                <a:ea typeface="Consolas"/>
                <a:cs typeface="Consolas"/>
                <a:sym typeface="Consolas"/>
              </a:rPr>
              <a:t>{</a:t>
            </a:r>
            <a:endParaRPr/>
          </a:p>
          <a:p>
            <a:pPr indent="0" lvl="0" marL="0" marR="0" rtl="0" algn="l">
              <a:spcBef>
                <a:spcPts val="200"/>
              </a:spcBef>
              <a:spcAft>
                <a:spcPts val="0"/>
              </a:spcAft>
              <a:buNone/>
            </a:pPr>
            <a:r>
              <a:rPr b="0" i="0" lang="en-US" sz="1300">
                <a:solidFill>
                  <a:srgbClr val="111111"/>
                </a:solidFill>
                <a:latin typeface="Consolas"/>
                <a:ea typeface="Consolas"/>
                <a:cs typeface="Consolas"/>
                <a:sym typeface="Consolas"/>
              </a:rPr>
              <a:t>  "heuristic": "H3",</a:t>
            </a:r>
            <a:endParaRPr/>
          </a:p>
          <a:p>
            <a:pPr indent="0" lvl="0" marL="0" marR="0" rtl="0" algn="l">
              <a:spcBef>
                <a:spcPts val="200"/>
              </a:spcBef>
              <a:spcAft>
                <a:spcPts val="0"/>
              </a:spcAft>
              <a:buNone/>
            </a:pPr>
            <a:r>
              <a:rPr b="0" i="0" lang="en-US" sz="1300">
                <a:solidFill>
                  <a:srgbClr val="111111"/>
                </a:solidFill>
                <a:latin typeface="Consolas"/>
                <a:ea typeface="Consolas"/>
                <a:cs typeface="Consolas"/>
                <a:sym typeface="Consolas"/>
              </a:rPr>
              <a:t>  "element": "Nút Xóa",</a:t>
            </a:r>
            <a:endParaRPr/>
          </a:p>
          <a:p>
            <a:pPr indent="0" lvl="0" marL="0" marR="0" rtl="0" algn="l">
              <a:spcBef>
                <a:spcPts val="200"/>
              </a:spcBef>
              <a:spcAft>
                <a:spcPts val="0"/>
              </a:spcAft>
              <a:buNone/>
            </a:pPr>
            <a:r>
              <a:rPr b="0" i="0" lang="en-US" sz="1300">
                <a:solidFill>
                  <a:srgbClr val="111111"/>
                </a:solidFill>
                <a:latin typeface="Consolas"/>
                <a:ea typeface="Consolas"/>
                <a:cs typeface="Consolas"/>
                <a:sym typeface="Consolas"/>
              </a:rPr>
              <a:t>  "severity": 3,</a:t>
            </a:r>
            <a:endParaRPr/>
          </a:p>
          <a:p>
            <a:pPr indent="0" lvl="0" marL="0" marR="0" rtl="0" algn="l">
              <a:spcBef>
                <a:spcPts val="200"/>
              </a:spcBef>
              <a:spcAft>
                <a:spcPts val="0"/>
              </a:spcAft>
              <a:buNone/>
            </a:pPr>
            <a:r>
              <a:rPr b="0" i="0" lang="en-US" sz="1300">
                <a:solidFill>
                  <a:srgbClr val="111111"/>
                </a:solidFill>
                <a:latin typeface="Consolas"/>
                <a:ea typeface="Consolas"/>
                <a:cs typeface="Consolas"/>
                <a:sym typeface="Consolas"/>
              </a:rPr>
              <a:t>  "problem": "Xóa ngay, không hỏi lại",</a:t>
            </a:r>
            <a:endParaRPr/>
          </a:p>
          <a:p>
            <a:pPr indent="0" lvl="0" marL="0" marR="0" rtl="0" algn="l">
              <a:spcBef>
                <a:spcPts val="200"/>
              </a:spcBef>
              <a:spcAft>
                <a:spcPts val="0"/>
              </a:spcAft>
              <a:buNone/>
            </a:pPr>
            <a:r>
              <a:rPr b="0" i="0" lang="en-US" sz="1300">
                <a:solidFill>
                  <a:srgbClr val="111111"/>
                </a:solidFill>
                <a:latin typeface="Consolas"/>
                <a:ea typeface="Consolas"/>
                <a:cs typeface="Consolas"/>
                <a:sym typeface="Consolas"/>
              </a:rPr>
              <a:t>  "fix": "Thêm dialog xác nhận"</a:t>
            </a:r>
            <a:endParaRPr/>
          </a:p>
          <a:p>
            <a:pPr indent="0" lvl="0" marL="0" marR="0" rtl="0" algn="l">
              <a:spcBef>
                <a:spcPts val="200"/>
              </a:spcBef>
              <a:spcAft>
                <a:spcPts val="0"/>
              </a:spcAft>
              <a:buNone/>
            </a:pPr>
            <a:r>
              <a:rPr b="0" i="0" lang="en-US" sz="1300">
                <a:solidFill>
                  <a:srgbClr val="111111"/>
                </a:solidFill>
                <a:latin typeface="Consolas"/>
                <a:ea typeface="Consolas"/>
                <a:cs typeface="Consolas"/>
                <a:sym typeface="Consolas"/>
              </a:rPr>
              <a: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44"/>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Demo 1 — Cài đặt Skill &amp; Smoke Test</a:t>
            </a:r>
            <a:endParaRPr/>
          </a:p>
        </p:txBody>
      </p:sp>
      <p:sp>
        <p:nvSpPr>
          <p:cNvPr id="892" name="Google Shape;892;p44"/>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08</a:t>
            </a:r>
            <a:endParaRPr/>
          </a:p>
        </p:txBody>
      </p:sp>
      <p:sp>
        <p:nvSpPr>
          <p:cNvPr id="893" name="Google Shape;893;p44"/>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44</a:t>
            </a:r>
            <a:endParaRPr/>
          </a:p>
        </p:txBody>
      </p:sp>
      <p:sp>
        <p:nvSpPr>
          <p:cNvPr id="894" name="Google Shape;894;p44"/>
          <p:cNvSpPr txBox="1"/>
          <p:nvPr/>
        </p:nvSpPr>
        <p:spPr>
          <a:xfrm>
            <a:off x="548640" y="1115568"/>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01</a:t>
            </a:r>
            <a:endParaRPr/>
          </a:p>
        </p:txBody>
      </p:sp>
      <p:sp>
        <p:nvSpPr>
          <p:cNvPr id="895" name="Google Shape;895;p44"/>
          <p:cNvSpPr txBox="1"/>
          <p:nvPr/>
        </p:nvSpPr>
        <p:spPr>
          <a:xfrm>
            <a:off x="1325880" y="1161288"/>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222222"/>
                </a:solidFill>
                <a:latin typeface="Consolas"/>
                <a:ea typeface="Consolas"/>
                <a:cs typeface="Consolas"/>
                <a:sym typeface="Consolas"/>
              </a:rPr>
              <a:t>npm install</a:t>
            </a:r>
            <a:r>
              <a:rPr b="0" i="0" lang="en-US" sz="1600">
                <a:solidFill>
                  <a:srgbClr val="222222"/>
                </a:solidFill>
                <a:latin typeface="Arial"/>
                <a:ea typeface="Arial"/>
                <a:cs typeface="Arial"/>
                <a:sym typeface="Arial"/>
              </a:rPr>
              <a:t> và </a:t>
            </a:r>
            <a:r>
              <a:rPr b="0" i="0" lang="en-US" sz="1500">
                <a:solidFill>
                  <a:srgbClr val="222222"/>
                </a:solidFill>
                <a:latin typeface="Consolas"/>
                <a:ea typeface="Consolas"/>
                <a:cs typeface="Consolas"/>
                <a:sym typeface="Consolas"/>
              </a:rPr>
              <a:t>npx playwright install chromium</a:t>
            </a:r>
            <a:r>
              <a:rPr b="0" i="0" lang="en-US" sz="1600">
                <a:solidFill>
                  <a:srgbClr val="222222"/>
                </a:solidFill>
                <a:latin typeface="Arial"/>
                <a:ea typeface="Arial"/>
                <a:cs typeface="Arial"/>
                <a:sym typeface="Arial"/>
              </a:rPr>
              <a:t> trong </a:t>
            </a:r>
            <a:r>
              <a:rPr b="0" i="0" lang="en-US" sz="1500">
                <a:solidFill>
                  <a:srgbClr val="222222"/>
                </a:solidFill>
                <a:latin typeface="Consolas"/>
                <a:ea typeface="Consolas"/>
                <a:cs typeface="Consolas"/>
                <a:sym typeface="Consolas"/>
              </a:rPr>
              <a:t>ai-reviewer/</a:t>
            </a:r>
            <a:endParaRPr/>
          </a:p>
        </p:txBody>
      </p:sp>
      <p:cxnSp>
        <p:nvCxnSpPr>
          <p:cNvPr id="896" name="Google Shape;896;p44"/>
          <p:cNvCxnSpPr/>
          <p:nvPr/>
        </p:nvCxnSpPr>
        <p:spPr>
          <a:xfrm>
            <a:off x="548640" y="1755648"/>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897" name="Google Shape;897;p44"/>
          <p:cNvSpPr txBox="1"/>
          <p:nvPr/>
        </p:nvSpPr>
        <p:spPr>
          <a:xfrm>
            <a:off x="548640" y="1828800"/>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02</a:t>
            </a:r>
            <a:endParaRPr/>
          </a:p>
        </p:txBody>
      </p:sp>
      <p:sp>
        <p:nvSpPr>
          <p:cNvPr id="898" name="Google Shape;898;p44"/>
          <p:cNvSpPr txBox="1"/>
          <p:nvPr/>
        </p:nvSpPr>
        <p:spPr>
          <a:xfrm>
            <a:off x="1325880" y="1874520"/>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Skill nằm sẵn trong </a:t>
            </a:r>
            <a:r>
              <a:rPr b="0" i="0" lang="en-US" sz="1500">
                <a:solidFill>
                  <a:srgbClr val="222222"/>
                </a:solidFill>
                <a:latin typeface="Consolas"/>
                <a:ea typeface="Consolas"/>
                <a:cs typeface="Consolas"/>
                <a:sym typeface="Consolas"/>
              </a:rPr>
              <a:t>.agents/</a:t>
            </a:r>
            <a:r>
              <a:rPr b="0" i="0" lang="en-US" sz="1600">
                <a:solidFill>
                  <a:srgbClr val="222222"/>
                </a:solidFill>
                <a:latin typeface="Arial"/>
                <a:ea typeface="Arial"/>
                <a:cs typeface="Arial"/>
                <a:sym typeface="Arial"/>
              </a:rPr>
              <a:t> / </a:t>
            </a:r>
            <a:r>
              <a:rPr b="0" i="0" lang="en-US" sz="1500">
                <a:solidFill>
                  <a:srgbClr val="222222"/>
                </a:solidFill>
                <a:latin typeface="Consolas"/>
                <a:ea typeface="Consolas"/>
                <a:cs typeface="Consolas"/>
                <a:sym typeface="Consolas"/>
              </a:rPr>
              <a:t>.claude/</a:t>
            </a:r>
            <a:r>
              <a:rPr b="0" i="0" lang="en-US" sz="1600">
                <a:solidFill>
                  <a:srgbClr val="222222"/>
                </a:solidFill>
                <a:latin typeface="Arial"/>
                <a:ea typeface="Arial"/>
                <a:cs typeface="Arial"/>
                <a:sym typeface="Arial"/>
              </a:rPr>
              <a:t> → agent tự nạp (auto-discovery)</a:t>
            </a:r>
            <a:endParaRPr/>
          </a:p>
        </p:txBody>
      </p:sp>
      <p:cxnSp>
        <p:nvCxnSpPr>
          <p:cNvPr id="899" name="Google Shape;899;p44"/>
          <p:cNvCxnSpPr/>
          <p:nvPr/>
        </p:nvCxnSpPr>
        <p:spPr>
          <a:xfrm>
            <a:off x="548640" y="2468880"/>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900" name="Google Shape;900;p44"/>
          <p:cNvSpPr txBox="1"/>
          <p:nvPr/>
        </p:nvSpPr>
        <p:spPr>
          <a:xfrm>
            <a:off x="548640" y="2542032"/>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03</a:t>
            </a:r>
            <a:endParaRPr/>
          </a:p>
        </p:txBody>
      </p:sp>
      <p:sp>
        <p:nvSpPr>
          <p:cNvPr id="901" name="Google Shape;901;p44"/>
          <p:cNvSpPr txBox="1"/>
          <p:nvPr/>
        </p:nvSpPr>
        <p:spPr>
          <a:xfrm>
            <a:off x="1325880" y="2587752"/>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Ra lệnh bằng ngôn ngữ tự nhiên: *chạy smoke test trang chủ desktop*</a:t>
            </a:r>
            <a:endParaRPr/>
          </a:p>
        </p:txBody>
      </p:sp>
      <p:cxnSp>
        <p:nvCxnSpPr>
          <p:cNvPr id="902" name="Google Shape;902;p44"/>
          <p:cNvCxnSpPr/>
          <p:nvPr/>
        </p:nvCxnSpPr>
        <p:spPr>
          <a:xfrm>
            <a:off x="548640" y="3182112"/>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903" name="Google Shape;903;p44"/>
          <p:cNvSpPr txBox="1"/>
          <p:nvPr/>
        </p:nvSpPr>
        <p:spPr>
          <a:xfrm>
            <a:off x="548640" y="3255264"/>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04</a:t>
            </a:r>
            <a:endParaRPr/>
          </a:p>
        </p:txBody>
      </p:sp>
      <p:sp>
        <p:nvSpPr>
          <p:cNvPr id="904" name="Google Shape;904;p44"/>
          <p:cNvSpPr txBox="1"/>
          <p:nvPr/>
        </p:nvSpPr>
        <p:spPr>
          <a:xfrm>
            <a:off x="1325880" y="3300984"/>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Agent chụp Trang chủ → subagent chấm → </a:t>
            </a:r>
            <a:r>
              <a:rPr b="0" i="0" lang="en-US" sz="1500">
                <a:solidFill>
                  <a:srgbClr val="222222"/>
                </a:solidFill>
                <a:latin typeface="Consolas"/>
                <a:ea typeface="Consolas"/>
                <a:cs typeface="Consolas"/>
                <a:sym typeface="Consolas"/>
              </a:rPr>
              <a:t>npm run validate</a:t>
            </a:r>
            <a:endParaRPr/>
          </a:p>
        </p:txBody>
      </p:sp>
      <p:cxnSp>
        <p:nvCxnSpPr>
          <p:cNvPr id="905" name="Google Shape;905;p44"/>
          <p:cNvCxnSpPr/>
          <p:nvPr/>
        </p:nvCxnSpPr>
        <p:spPr>
          <a:xfrm>
            <a:off x="548640" y="3895344"/>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906" name="Google Shape;906;p44"/>
          <p:cNvSpPr/>
          <p:nvPr/>
        </p:nvSpPr>
        <p:spPr>
          <a:xfrm>
            <a:off x="548640" y="4105656"/>
            <a:ext cx="11094415" cy="548640"/>
          </a:xfrm>
          <a:prstGeom prst="rect">
            <a:avLst/>
          </a:prstGeom>
          <a:solidFill>
            <a:srgbClr val="E8F4E9"/>
          </a:solidFill>
          <a:ln cap="flat" cmpd="sng" w="12700">
            <a:solidFill>
              <a:srgbClr val="2E7D3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7" name="Google Shape;907;p44"/>
          <p:cNvSpPr txBox="1"/>
          <p:nvPr/>
        </p:nvSpPr>
        <p:spPr>
          <a:xfrm>
            <a:off x="749808" y="4105656"/>
            <a:ext cx="10820095" cy="54864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rgbClr val="111111"/>
                </a:solidFill>
                <a:latin typeface="Arial"/>
                <a:ea typeface="Arial"/>
                <a:cs typeface="Arial"/>
                <a:sym typeface="Arial"/>
              </a:rPr>
              <a:t>✓  </a:t>
            </a:r>
            <a:r>
              <a:rPr b="1" i="0" lang="en-US" sz="1400">
                <a:solidFill>
                  <a:srgbClr val="111111"/>
                </a:solidFill>
                <a:latin typeface="Arial"/>
                <a:ea typeface="Arial"/>
                <a:cs typeface="Arial"/>
                <a:sym typeface="Arial"/>
              </a:rPr>
              <a:t>Checkpoint:</a:t>
            </a:r>
            <a:r>
              <a:rPr b="0" i="0" lang="en-US" sz="1400">
                <a:solidFill>
                  <a:srgbClr val="111111"/>
                </a:solidFill>
                <a:latin typeface="Arial"/>
                <a:ea typeface="Arial"/>
                <a:cs typeface="Arial"/>
                <a:sym typeface="Arial"/>
              </a:rPr>
              <a:t> </a:t>
            </a:r>
            <a:r>
              <a:rPr b="0" i="0" lang="en-US" sz="1300">
                <a:solidFill>
                  <a:srgbClr val="111111"/>
                </a:solidFill>
                <a:latin typeface="Consolas"/>
                <a:ea typeface="Consolas"/>
                <a:cs typeface="Consolas"/>
                <a:sym typeface="Consolas"/>
              </a:rPr>
              <a:t>VALID</a:t>
            </a:r>
            <a:r>
              <a:rPr b="0" i="0" lang="en-US" sz="1400">
                <a:solidFill>
                  <a:srgbClr val="111111"/>
                </a:solidFill>
                <a:latin typeface="Arial"/>
                <a:ea typeface="Arial"/>
                <a:cs typeface="Arial"/>
                <a:sym typeface="Arial"/>
              </a:rPr>
              <a:t> — JSON đúng </a:t>
            </a:r>
            <a:r>
              <a:rPr b="0" i="0" lang="en-US" sz="1300">
                <a:solidFill>
                  <a:srgbClr val="111111"/>
                </a:solidFill>
                <a:latin typeface="Consolas"/>
                <a:ea typeface="Consolas"/>
                <a:cs typeface="Consolas"/>
                <a:sym typeface="Consolas"/>
              </a:rPr>
              <a:t>schema.json</a:t>
            </a:r>
            <a:r>
              <a:rPr b="0" i="0" lang="en-US" sz="1400">
                <a:solidFill>
                  <a:srgbClr val="111111"/>
                </a:solidFill>
                <a:latin typeface="Arial"/>
                <a:ea typeface="Arial"/>
                <a:cs typeface="Arial"/>
                <a:sym typeface="Arial"/>
              </a:rPr>
              <a:t>. Không cần API key.</a:t>
            </a:r>
            <a:endParaRPr/>
          </a:p>
        </p:txBody>
      </p:sp>
      <p:sp>
        <p:nvSpPr>
          <p:cNvPr id="908" name="Google Shape;908;p44"/>
          <p:cNvSpPr/>
          <p:nvPr/>
        </p:nvSpPr>
        <p:spPr>
          <a:xfrm>
            <a:off x="548640" y="5760720"/>
            <a:ext cx="11094415" cy="457200"/>
          </a:xfrm>
          <a:prstGeom prst="rect">
            <a:avLst/>
          </a:prstGeom>
          <a:solidFill>
            <a:srgbClr val="FFFFFF"/>
          </a:solidFill>
          <a:ln cap="flat" cmpd="sng" w="15875">
            <a:solidFill>
              <a:srgbClr val="0B3A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9" name="Google Shape;909;p44"/>
          <p:cNvSpPr txBox="1"/>
          <p:nvPr/>
        </p:nvSpPr>
        <p:spPr>
          <a:xfrm>
            <a:off x="777240" y="5760720"/>
            <a:ext cx="10728655"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111111"/>
                </a:solidFill>
                <a:latin typeface="Arial"/>
                <a:ea typeface="Arial"/>
                <a:cs typeface="Arial"/>
                <a:sym typeface="Arial"/>
              </a:rPr>
              <a:t>▶  Clip AI-1 — Cài đặt &amp; smoke test · ~3 phút   </a:t>
            </a:r>
            <a:r>
              <a:rPr b="1" lang="en-US" sz="1300" u="sng">
                <a:solidFill>
                  <a:srgbClr val="0B3A6E"/>
                </a:solidFill>
                <a:latin typeface="Arial"/>
                <a:ea typeface="Arial"/>
                <a:cs typeface="Arial"/>
                <a:sym typeface="Arial"/>
                <a:hlinkClick r:id="rId3">
                  <a:extLst>
                    <a:ext uri="{A12FA001-AC4F-418D-AE19-62706E023703}">
                      <ahyp:hlinkClr val="tx"/>
                    </a:ext>
                  </a:extLst>
                </a:hlinkClick>
              </a:rPr>
              <a:t>youtu.be/d2Rigi9dbls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45"/>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Demo 2 — Trang Giỏ hàng</a:t>
            </a:r>
            <a:endParaRPr/>
          </a:p>
        </p:txBody>
      </p:sp>
      <p:sp>
        <p:nvSpPr>
          <p:cNvPr id="916" name="Google Shape;916;p45"/>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5F6368"/>
                </a:solidFill>
                <a:latin typeface="Arial"/>
                <a:ea typeface="Arial"/>
                <a:cs typeface="Arial"/>
                <a:sym typeface="Arial"/>
              </a:rPr>
              <a:t>Agent chạy skill với </a:t>
            </a:r>
            <a:r>
              <a:rPr b="0" i="0" lang="en-US" sz="1500">
                <a:solidFill>
                  <a:srgbClr val="5F6368"/>
                </a:solidFill>
                <a:latin typeface="Consolas"/>
                <a:ea typeface="Consolas"/>
                <a:cs typeface="Consolas"/>
                <a:sym typeface="Consolas"/>
              </a:rPr>
              <a:t>--only cart --viewport desktop</a:t>
            </a:r>
            <a:r>
              <a:rPr b="0" i="0" lang="en-US" sz="1600">
                <a:solidFill>
                  <a:srgbClr val="5F6368"/>
                </a:solidFill>
                <a:latin typeface="Arial"/>
                <a:ea typeface="Arial"/>
                <a:cs typeface="Arial"/>
                <a:sym typeface="Arial"/>
              </a:rPr>
              <a:t> → tự thêm sản phẩm, chụp Giỏ, subagent chấm.</a:t>
            </a:r>
            <a:endParaRPr/>
          </a:p>
        </p:txBody>
      </p:sp>
      <p:sp>
        <p:nvSpPr>
          <p:cNvPr id="917" name="Google Shape;917;p45"/>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08</a:t>
            </a:r>
            <a:endParaRPr/>
          </a:p>
        </p:txBody>
      </p:sp>
      <p:sp>
        <p:nvSpPr>
          <p:cNvPr id="918" name="Google Shape;918;p45"/>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45</a:t>
            </a:r>
            <a:endParaRPr/>
          </a:p>
        </p:txBody>
      </p:sp>
      <p:graphicFrame>
        <p:nvGraphicFramePr>
          <p:cNvPr id="919" name="Google Shape;919;p45"/>
          <p:cNvGraphicFramePr/>
          <p:nvPr/>
        </p:nvGraphicFramePr>
        <p:xfrm>
          <a:off x="548640" y="1874520"/>
          <a:ext cx="3000000" cy="3000000"/>
        </p:xfrm>
        <a:graphic>
          <a:graphicData uri="http://schemas.openxmlformats.org/drawingml/2006/table">
            <a:tbl>
              <a:tblPr>
                <a:noFill/>
                <a:tableStyleId>{A41EB096-C0D3-46DF-A04B-B11FC471E439}</a:tableStyleId>
              </a:tblPr>
              <a:tblGrid>
                <a:gridCol w="3328325"/>
                <a:gridCol w="1849075"/>
                <a:gridCol w="3050975"/>
                <a:gridCol w="2866050"/>
              </a:tblGrid>
              <a:tr h="47550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Lỗi trên Giỏ hàng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Heuristic · Sev</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Dự đoán trước khi chạy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Kết quả AI (3 runs)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00" u="none" cap="none" strike="noStrike">
                          <a:solidFill>
                            <a:srgbClr val="222222"/>
                          </a:solidFill>
                          <a:latin typeface="Arial"/>
                          <a:ea typeface="Arial"/>
                          <a:cs typeface="Arial"/>
                          <a:sym typeface="Arial"/>
                        </a:rPr>
                        <a:t>G03  Thiếu nút </a:t>
                      </a:r>
                      <a:r>
                        <a:rPr b="1" i="0" lang="en-US" sz="1200" u="none" cap="none" strike="noStrike">
                          <a:solidFill>
                            <a:srgbClr val="222222"/>
                          </a:solidFill>
                          <a:latin typeface="Consolas"/>
                          <a:ea typeface="Consolas"/>
                          <a:cs typeface="Consolas"/>
                          <a:sym typeface="Consolas"/>
                        </a:rPr>
                        <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H3 ·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Thấy được trên ảnh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00" u="none" cap="none" strike="noStrike">
                          <a:solidFill>
                            <a:srgbClr val="2E7D32"/>
                          </a:solidFill>
                          <a:latin typeface="Arial"/>
                          <a:ea typeface="Arial"/>
                          <a:cs typeface="Arial"/>
                          <a:sym typeface="Arial"/>
                        </a:rPr>
                        <a:t>Thấy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00" u="none" cap="none" strike="noStrike">
                          <a:solidFill>
                            <a:srgbClr val="222222"/>
                          </a:solidFill>
                          <a:latin typeface="Arial"/>
                          <a:ea typeface="Arial"/>
                          <a:cs typeface="Arial"/>
                          <a:sym typeface="Arial"/>
                        </a:rPr>
                        <a:t>G02  Xóa không xác nhận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H3 · 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Khó: thiếu dialog chỉ lộ ra khi bấm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00" u="none" cap="none" strike="noStrike">
                          <a:solidFill>
                            <a:srgbClr val="C62828"/>
                          </a:solidFill>
                          <a:latin typeface="Arial"/>
                          <a:ea typeface="Arial"/>
                          <a:cs typeface="Arial"/>
                          <a:sym typeface="Arial"/>
                        </a:rPr>
                        <a:t>Bỏ sót — chỉ chê nút Xóa (2/3 lần)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00" u="none" cap="none" strike="noStrike">
                          <a:solidFill>
                            <a:srgbClr val="222222"/>
                          </a:solidFill>
                          <a:latin typeface="Arial"/>
                          <a:ea typeface="Arial"/>
                          <a:cs typeface="Arial"/>
                          <a:sym typeface="Arial"/>
                        </a:rPr>
                        <a:t>G01  "Tổng tạm tính"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H4 ·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Có thể</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00" u="none" cap="none" strike="noStrike">
                          <a:solidFill>
                            <a:srgbClr val="C62828"/>
                          </a:solidFill>
                          <a:latin typeface="Arial"/>
                          <a:ea typeface="Arial"/>
                          <a:cs typeface="Arial"/>
                          <a:sym typeface="Arial"/>
                        </a:rPr>
                        <a:t>Bỏ sót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00" u="none" cap="none" strike="noStrike">
                          <a:solidFill>
                            <a:srgbClr val="222222"/>
                          </a:solidFill>
                          <a:latin typeface="Arial"/>
                          <a:ea typeface="Arial"/>
                          <a:cs typeface="Arial"/>
                          <a:sym typeface="Arial"/>
                        </a:rPr>
                        <a:t>G04  Nút xanh lá</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H4 ·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Khó: không biết đặc tả</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00" u="none" cap="none" strike="noStrike">
                          <a:solidFill>
                            <a:srgbClr val="C62828"/>
                          </a:solidFill>
                          <a:latin typeface="Arial"/>
                          <a:ea typeface="Arial"/>
                          <a:cs typeface="Arial"/>
                          <a:sym typeface="Arial"/>
                        </a:rPr>
                        <a:t>Bỏ sót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00" u="none" cap="none" strike="noStrike">
                          <a:solidFill>
                            <a:srgbClr val="222222"/>
                          </a:solidFill>
                          <a:latin typeface="Arial"/>
                          <a:ea typeface="Arial"/>
                          <a:cs typeface="Arial"/>
                          <a:sym typeface="Arial"/>
                        </a:rPr>
                        <a:t>G05  Không có </a:t>
                      </a:r>
                      <a:r>
                        <a:rPr b="1" i="0" lang="en-US" sz="1200" u="none" cap="none" strike="noStrike">
                          <a:solidFill>
                            <a:srgbClr val="222222"/>
                          </a:solidFill>
                          <a:latin typeface="Consolas"/>
                          <a:ea typeface="Consolas"/>
                          <a:cs typeface="Consolas"/>
                          <a:sym typeface="Consolas"/>
                        </a:rPr>
                        <a:t>&lt;h1&gt;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FR-21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Không: không thấy trên ảnh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00" u="none" cap="none" strike="noStrike">
                          <a:solidFill>
                            <a:srgbClr val="C62828"/>
                          </a:solidFill>
                          <a:latin typeface="Arial"/>
                          <a:ea typeface="Arial"/>
                          <a:cs typeface="Arial"/>
                          <a:sym typeface="Arial"/>
                        </a:rPr>
                        <a:t>Bỏ sót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920" name="Google Shape;920;p45"/>
          <p:cNvSpPr/>
          <p:nvPr/>
        </p:nvSpPr>
        <p:spPr>
          <a:xfrm>
            <a:off x="548640" y="5760720"/>
            <a:ext cx="11094415" cy="457200"/>
          </a:xfrm>
          <a:prstGeom prst="rect">
            <a:avLst/>
          </a:prstGeom>
          <a:solidFill>
            <a:srgbClr val="FFFFFF"/>
          </a:solidFill>
          <a:ln cap="flat" cmpd="sng" w="15875">
            <a:solidFill>
              <a:srgbClr val="0B3A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1" name="Google Shape;921;p45"/>
          <p:cNvSpPr txBox="1"/>
          <p:nvPr/>
        </p:nvSpPr>
        <p:spPr>
          <a:xfrm>
            <a:off x="777240" y="5760720"/>
            <a:ext cx="10728655"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111111"/>
                </a:solidFill>
                <a:latin typeface="Arial"/>
                <a:ea typeface="Arial"/>
                <a:cs typeface="Arial"/>
                <a:sym typeface="Arial"/>
              </a:rPr>
              <a:t>▶  Clip AI-2 — Giỏ hàng &amp; chất vấn AI · ~4 phút   </a:t>
            </a:r>
            <a:r>
              <a:rPr b="1" lang="en-US" sz="1300" u="sng">
                <a:solidFill>
                  <a:srgbClr val="0B3A6E"/>
                </a:solidFill>
                <a:latin typeface="Arial"/>
                <a:ea typeface="Arial"/>
                <a:cs typeface="Arial"/>
                <a:sym typeface="Arial"/>
                <a:hlinkClick r:id="rId3">
                  <a:extLst>
                    <a:ext uri="{A12FA001-AC4F-418D-AE19-62706E023703}">
                      <ahyp:hlinkClr val="tx"/>
                    </a:ext>
                  </a:extLst>
                </a:hlinkClick>
              </a:rPr>
              <a:t>youtu.be/wXIQ4o7bVi8</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46"/>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Demo 3 — Toàn luồng, người vs AI, đổi website</a:t>
            </a:r>
            <a:endParaRPr/>
          </a:p>
        </p:txBody>
      </p:sp>
      <p:sp>
        <p:nvSpPr>
          <p:cNvPr id="928" name="Google Shape;928;p46"/>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08</a:t>
            </a:r>
            <a:endParaRPr/>
          </a:p>
        </p:txBody>
      </p:sp>
      <p:sp>
        <p:nvSpPr>
          <p:cNvPr id="929" name="Google Shape;929;p46"/>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46</a:t>
            </a:r>
            <a:endParaRPr/>
          </a:p>
        </p:txBody>
      </p:sp>
      <p:sp>
        <p:nvSpPr>
          <p:cNvPr id="930" name="Google Shape;930;p46"/>
          <p:cNvSpPr txBox="1"/>
          <p:nvPr/>
        </p:nvSpPr>
        <p:spPr>
          <a:xfrm>
            <a:off x="548640" y="1115568"/>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01</a:t>
            </a:r>
            <a:endParaRPr/>
          </a:p>
        </p:txBody>
      </p:sp>
      <p:sp>
        <p:nvSpPr>
          <p:cNvPr id="931" name="Google Shape;931;p46"/>
          <p:cNvSpPr txBox="1"/>
          <p:nvPr/>
        </p:nvSpPr>
        <p:spPr>
          <a:xfrm>
            <a:off x="1325880" y="1161288"/>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222222"/>
                </a:solidFill>
                <a:latin typeface="Arial"/>
                <a:ea typeface="Arial"/>
                <a:cs typeface="Arial"/>
                <a:sym typeface="Arial"/>
              </a:rPr>
              <a:t>Data-driven:</a:t>
            </a:r>
            <a:r>
              <a:rPr b="0" i="0" lang="en-US" sz="1600">
                <a:solidFill>
                  <a:srgbClr val="222222"/>
                </a:solidFill>
                <a:latin typeface="Arial"/>
                <a:ea typeface="Arial"/>
                <a:cs typeface="Arial"/>
                <a:sym typeface="Arial"/>
              </a:rPr>
              <a:t> 5 trang × 2 viewport từ </a:t>
            </a:r>
            <a:r>
              <a:rPr b="0" i="0" lang="en-US" sz="1500">
                <a:solidFill>
                  <a:srgbClr val="222222"/>
                </a:solidFill>
                <a:latin typeface="Consolas"/>
                <a:ea typeface="Consolas"/>
                <a:cs typeface="Consolas"/>
                <a:sym typeface="Consolas"/>
              </a:rPr>
              <a:t>config.json</a:t>
            </a:r>
            <a:r>
              <a:rPr b="0" i="0" lang="en-US" sz="1600">
                <a:solidFill>
                  <a:srgbClr val="222222"/>
                </a:solidFill>
                <a:latin typeface="Arial"/>
                <a:ea typeface="Arial"/>
                <a:cs typeface="Arial"/>
                <a:sym typeface="Arial"/>
              </a:rPr>
              <a:t>; chạy 3 lần, mỗi lần một subagent mới</a:t>
            </a:r>
            <a:endParaRPr/>
          </a:p>
        </p:txBody>
      </p:sp>
      <p:cxnSp>
        <p:nvCxnSpPr>
          <p:cNvPr id="932" name="Google Shape;932;p46"/>
          <p:cNvCxnSpPr/>
          <p:nvPr/>
        </p:nvCxnSpPr>
        <p:spPr>
          <a:xfrm>
            <a:off x="548640" y="1755648"/>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933" name="Google Shape;933;p46"/>
          <p:cNvSpPr txBox="1"/>
          <p:nvPr/>
        </p:nvSpPr>
        <p:spPr>
          <a:xfrm>
            <a:off x="548640" y="1828800"/>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02</a:t>
            </a:r>
            <a:endParaRPr/>
          </a:p>
        </p:txBody>
      </p:sp>
      <p:sp>
        <p:nvSpPr>
          <p:cNvPr id="934" name="Google Shape;934;p46"/>
          <p:cNvSpPr txBox="1"/>
          <p:nvPr/>
        </p:nvSpPr>
        <p:spPr>
          <a:xfrm>
            <a:off x="1325880" y="1874520"/>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222222"/>
                </a:solidFill>
                <a:latin typeface="Arial"/>
                <a:ea typeface="Arial"/>
                <a:cs typeface="Arial"/>
                <a:sym typeface="Arial"/>
              </a:rPr>
              <a:t>Record &amp; Playback:</a:t>
            </a:r>
            <a:r>
              <a:rPr b="0" i="0" lang="en-US" sz="1600">
                <a:solidFill>
                  <a:srgbClr val="222222"/>
                </a:solidFill>
                <a:latin typeface="Arial"/>
                <a:ea typeface="Arial"/>
                <a:cs typeface="Arial"/>
                <a:sym typeface="Arial"/>
              </a:rPr>
              <a:t> đăng nhập, thêm giỏ, vào Checkout ghi bằng </a:t>
            </a:r>
            <a:r>
              <a:rPr b="0" i="0" lang="en-US" sz="1500">
                <a:solidFill>
                  <a:srgbClr val="222222"/>
                </a:solidFill>
                <a:latin typeface="Consolas"/>
                <a:ea typeface="Consolas"/>
                <a:cs typeface="Consolas"/>
                <a:sym typeface="Consolas"/>
              </a:rPr>
              <a:t>playwright codegen</a:t>
            </a:r>
            <a:r>
              <a:rPr b="0" i="0" lang="en-US" sz="1600">
                <a:solidFill>
                  <a:srgbClr val="222222"/>
                </a:solidFill>
                <a:latin typeface="Arial"/>
                <a:ea typeface="Arial"/>
                <a:cs typeface="Arial"/>
                <a:sym typeface="Arial"/>
              </a:rPr>
              <a:t> (</a:t>
            </a:r>
            <a:r>
              <a:rPr b="0" i="0" lang="en-US" sz="1500">
                <a:solidFill>
                  <a:srgbClr val="222222"/>
                </a:solidFill>
                <a:latin typeface="Consolas"/>
                <a:ea typeface="Consolas"/>
                <a:cs typeface="Consolas"/>
                <a:sym typeface="Consolas"/>
              </a:rPr>
              <a:t>setups.js</a:t>
            </a:r>
            <a:r>
              <a:rPr b="0" i="0" lang="en-US" sz="1600">
                <a:solidFill>
                  <a:srgbClr val="222222"/>
                </a:solidFill>
                <a:latin typeface="Arial"/>
                <a:ea typeface="Arial"/>
                <a:cs typeface="Arial"/>
                <a:sym typeface="Arial"/>
              </a:rPr>
              <a:t>)</a:t>
            </a:r>
            <a:endParaRPr/>
          </a:p>
        </p:txBody>
      </p:sp>
      <p:cxnSp>
        <p:nvCxnSpPr>
          <p:cNvPr id="935" name="Google Shape;935;p46"/>
          <p:cNvCxnSpPr/>
          <p:nvPr/>
        </p:nvCxnSpPr>
        <p:spPr>
          <a:xfrm>
            <a:off x="548640" y="2468880"/>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936" name="Google Shape;936;p46"/>
          <p:cNvSpPr txBox="1"/>
          <p:nvPr/>
        </p:nvSpPr>
        <p:spPr>
          <a:xfrm>
            <a:off x="548640" y="2542032"/>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03</a:t>
            </a:r>
            <a:endParaRPr/>
          </a:p>
        </p:txBody>
      </p:sp>
      <p:sp>
        <p:nvSpPr>
          <p:cNvPr id="937" name="Google Shape;937;p46"/>
          <p:cNvSpPr txBox="1"/>
          <p:nvPr/>
        </p:nvSpPr>
        <p:spPr>
          <a:xfrm>
            <a:off x="1325880" y="2587752"/>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222222"/>
                </a:solidFill>
                <a:latin typeface="Arial"/>
                <a:ea typeface="Arial"/>
                <a:cs typeface="Arial"/>
                <a:sym typeface="Arial"/>
              </a:rPr>
              <a:t>Checkpoint:</a:t>
            </a:r>
            <a:r>
              <a:rPr b="0" i="0" lang="en-US" sz="1600">
                <a:solidFill>
                  <a:srgbClr val="222222"/>
                </a:solidFill>
                <a:latin typeface="Arial"/>
                <a:ea typeface="Arial"/>
                <a:cs typeface="Arial"/>
                <a:sym typeface="Arial"/>
              </a:rPr>
              <a:t> kiểm schema; subagent gán nhãn so 11 lỗi ground truth; </a:t>
            </a:r>
            <a:r>
              <a:rPr b="1" i="0" lang="en-US" sz="1600">
                <a:solidFill>
                  <a:srgbClr val="222222"/>
                </a:solidFill>
                <a:latin typeface="Arial"/>
                <a:ea typeface="Arial"/>
                <a:cs typeface="Arial"/>
                <a:sym typeface="Arial"/>
              </a:rPr>
              <a:t>người duyệt `labels.csv`</a:t>
            </a:r>
            <a:endParaRPr/>
          </a:p>
        </p:txBody>
      </p:sp>
      <p:cxnSp>
        <p:nvCxnSpPr>
          <p:cNvPr id="938" name="Google Shape;938;p46"/>
          <p:cNvCxnSpPr/>
          <p:nvPr/>
        </p:nvCxnSpPr>
        <p:spPr>
          <a:xfrm>
            <a:off x="548640" y="3182112"/>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939" name="Google Shape;939;p46"/>
          <p:cNvSpPr txBox="1"/>
          <p:nvPr/>
        </p:nvSpPr>
        <p:spPr>
          <a:xfrm>
            <a:off x="548640" y="3255264"/>
            <a:ext cx="64008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0B3A6E"/>
                </a:solidFill>
                <a:latin typeface="Consolas"/>
                <a:ea typeface="Consolas"/>
                <a:cs typeface="Consolas"/>
                <a:sym typeface="Consolas"/>
              </a:rPr>
              <a:t>04</a:t>
            </a:r>
            <a:endParaRPr/>
          </a:p>
        </p:txBody>
      </p:sp>
      <p:sp>
        <p:nvSpPr>
          <p:cNvPr id="940" name="Google Shape;940;p46"/>
          <p:cNvSpPr txBox="1"/>
          <p:nvPr/>
        </p:nvSpPr>
        <p:spPr>
          <a:xfrm>
            <a:off x="1325880" y="3300984"/>
            <a:ext cx="1027145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222222"/>
                </a:solidFill>
                <a:latin typeface="Arial"/>
                <a:ea typeface="Arial"/>
                <a:cs typeface="Arial"/>
                <a:sym typeface="Arial"/>
              </a:rPr>
              <a:t>Tái sử dụng:</a:t>
            </a:r>
            <a:r>
              <a:rPr b="0" i="0" lang="en-US" sz="1600">
                <a:solidFill>
                  <a:srgbClr val="222222"/>
                </a:solidFill>
                <a:latin typeface="Arial"/>
                <a:ea typeface="Arial"/>
                <a:cs typeface="Arial"/>
                <a:sym typeface="Arial"/>
              </a:rPr>
              <a:t> </a:t>
            </a:r>
            <a:r>
              <a:rPr b="0" i="0" lang="en-US" sz="1500">
                <a:solidFill>
                  <a:srgbClr val="222222"/>
                </a:solidFill>
                <a:latin typeface="Consolas"/>
                <a:ea typeface="Consolas"/>
                <a:cs typeface="Consolas"/>
                <a:sym typeface="Consolas"/>
              </a:rPr>
              <a:t>config.todomvc.json</a:t>
            </a:r>
            <a:r>
              <a:rPr b="0" i="0" lang="en-US" sz="1600">
                <a:solidFill>
                  <a:srgbClr val="222222"/>
                </a:solidFill>
                <a:latin typeface="Arial"/>
                <a:ea typeface="Arial"/>
                <a:cs typeface="Arial"/>
                <a:sym typeface="Arial"/>
              </a:rPr>
              <a:t> chạy trên TodoMVC, không sửa code</a:t>
            </a:r>
            <a:endParaRPr/>
          </a:p>
        </p:txBody>
      </p:sp>
      <p:cxnSp>
        <p:nvCxnSpPr>
          <p:cNvPr id="941" name="Google Shape;941;p46"/>
          <p:cNvCxnSpPr/>
          <p:nvPr/>
        </p:nvCxnSpPr>
        <p:spPr>
          <a:xfrm>
            <a:off x="548640" y="3895344"/>
            <a:ext cx="11094415" cy="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942" name="Google Shape;942;p46"/>
          <p:cNvSpPr/>
          <p:nvPr/>
        </p:nvSpPr>
        <p:spPr>
          <a:xfrm>
            <a:off x="548640" y="5760720"/>
            <a:ext cx="11094415" cy="457200"/>
          </a:xfrm>
          <a:prstGeom prst="rect">
            <a:avLst/>
          </a:prstGeom>
          <a:solidFill>
            <a:srgbClr val="FFFFFF"/>
          </a:solidFill>
          <a:ln cap="flat" cmpd="sng" w="15875">
            <a:solidFill>
              <a:srgbClr val="0B3A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3" name="Google Shape;943;p46"/>
          <p:cNvSpPr txBox="1"/>
          <p:nvPr/>
        </p:nvSpPr>
        <p:spPr>
          <a:xfrm>
            <a:off x="777240" y="5760720"/>
            <a:ext cx="10728655"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00">
                <a:solidFill>
                  <a:srgbClr val="111111"/>
                </a:solidFill>
                <a:latin typeface="Arial"/>
                <a:ea typeface="Arial"/>
                <a:cs typeface="Arial"/>
                <a:sym typeface="Arial"/>
              </a:rPr>
              <a:t>▶  Clip AI-3 — Toàn luồng 3 runs &amp; TodoMVC · ~6 phút   </a:t>
            </a:r>
            <a:r>
              <a:rPr b="1" lang="en-US" sz="1300" u="sng">
                <a:solidFill>
                  <a:srgbClr val="0B3A6E"/>
                </a:solidFill>
                <a:latin typeface="Arial"/>
                <a:ea typeface="Arial"/>
                <a:cs typeface="Arial"/>
                <a:sym typeface="Arial"/>
                <a:hlinkClick r:id="rId3">
                  <a:extLst>
                    <a:ext uri="{A12FA001-AC4F-418D-AE19-62706E023703}">
                      <ahyp:hlinkClr val="tx"/>
                    </a:ext>
                  </a:extLst>
                </a:hlinkClick>
              </a:rPr>
              <a:t>youtu.be/8I4n31fuWNc</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47"/>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Tóm tắt 3 video demo AI Heuristic Reviewer</a:t>
            </a:r>
            <a:endParaRPr/>
          </a:p>
        </p:txBody>
      </p:sp>
      <p:sp>
        <p:nvSpPr>
          <p:cNvPr id="950" name="Google Shape;950;p47"/>
          <p:cNvSpPr txBox="1"/>
          <p:nvPr/>
        </p:nvSpPr>
        <p:spPr>
          <a:xfrm>
            <a:off x="548640" y="1024128"/>
            <a:ext cx="100584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5F6368"/>
                </a:solidFill>
                <a:latin typeface="Arial"/>
                <a:ea typeface="Arial"/>
                <a:cs typeface="Arial"/>
                <a:sym typeface="Arial"/>
              </a:rPr>
              <a:t>Tổng ~13 phút, thuyết minh tiếng Việt. Người thực hiện: Quân.</a:t>
            </a:r>
            <a:endParaRPr/>
          </a:p>
        </p:txBody>
      </p:sp>
      <p:sp>
        <p:nvSpPr>
          <p:cNvPr id="951" name="Google Shape;951;p47"/>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08</a:t>
            </a:r>
            <a:endParaRPr/>
          </a:p>
        </p:txBody>
      </p:sp>
      <p:sp>
        <p:nvSpPr>
          <p:cNvPr id="952" name="Google Shape;952;p47"/>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47</a:t>
            </a:r>
            <a:endParaRPr/>
          </a:p>
        </p:txBody>
      </p:sp>
      <p:sp>
        <p:nvSpPr>
          <p:cNvPr id="953" name="Google Shape;953;p47"/>
          <p:cNvSpPr/>
          <p:nvPr/>
        </p:nvSpPr>
        <p:spPr>
          <a:xfrm>
            <a:off x="548640" y="1828800"/>
            <a:ext cx="345429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54" name="Google Shape;954;p47"/>
          <p:cNvSpPr txBox="1"/>
          <p:nvPr/>
        </p:nvSpPr>
        <p:spPr>
          <a:xfrm>
            <a:off x="548640" y="19933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50">
                <a:solidFill>
                  <a:srgbClr val="0B3A6E"/>
                </a:solidFill>
                <a:latin typeface="Consolas"/>
                <a:ea typeface="Consolas"/>
                <a:cs typeface="Consolas"/>
                <a:sym typeface="Consolas"/>
              </a:rPr>
              <a:t>AI-1  ·  ~3 phút</a:t>
            </a:r>
            <a:endParaRPr/>
          </a:p>
        </p:txBody>
      </p:sp>
      <p:sp>
        <p:nvSpPr>
          <p:cNvPr id="955" name="Google Shape;955;p47"/>
          <p:cNvSpPr txBox="1"/>
          <p:nvPr/>
        </p:nvSpPr>
        <p:spPr>
          <a:xfrm>
            <a:off x="548640" y="2286000"/>
            <a:ext cx="3454298"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Nạp skill &amp; smoke test</a:t>
            </a:r>
            <a:endParaRPr/>
          </a:p>
        </p:txBody>
      </p:sp>
      <p:sp>
        <p:nvSpPr>
          <p:cNvPr id="956" name="Google Shape;956;p47"/>
          <p:cNvSpPr txBox="1"/>
          <p:nvPr/>
        </p:nvSpPr>
        <p:spPr>
          <a:xfrm>
            <a:off x="548640" y="29077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0B3A6E"/>
                </a:solidFill>
                <a:latin typeface="Arial"/>
                <a:ea typeface="Arial"/>
                <a:cs typeface="Arial"/>
                <a:sym typeface="Arial"/>
              </a:rPr>
              <a:t>▶ </a:t>
            </a:r>
            <a:r>
              <a:rPr b="1" lang="en-US" sz="1200" u="sng">
                <a:solidFill>
                  <a:srgbClr val="0B3A6E"/>
                </a:solidFill>
                <a:latin typeface="Arial"/>
                <a:ea typeface="Arial"/>
                <a:cs typeface="Arial"/>
                <a:sym typeface="Arial"/>
                <a:hlinkClick r:id="rId3">
                  <a:extLst>
                    <a:ext uri="{A12FA001-AC4F-418D-AE19-62706E023703}">
                      <ahyp:hlinkClr val="tx"/>
                    </a:ext>
                  </a:extLst>
                </a:hlinkClick>
              </a:rPr>
              <a:t>youtu.be/d2Rigi9dbls</a:t>
            </a:r>
            <a:endParaRPr/>
          </a:p>
        </p:txBody>
      </p:sp>
      <p:sp>
        <p:nvSpPr>
          <p:cNvPr id="957" name="Google Shape;957;p47"/>
          <p:cNvSpPr txBox="1"/>
          <p:nvPr/>
        </p:nvSpPr>
        <p:spPr>
          <a:xfrm>
            <a:off x="548640" y="3291840"/>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0:00</a:t>
            </a:r>
            <a:endParaRPr/>
          </a:p>
        </p:txBody>
      </p:sp>
      <p:sp>
        <p:nvSpPr>
          <p:cNvPr id="958" name="Google Shape;958;p47"/>
          <p:cNvSpPr txBox="1"/>
          <p:nvPr/>
        </p:nvSpPr>
        <p:spPr>
          <a:xfrm>
            <a:off x="1115568" y="3291840"/>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Giới thiệu skill, cơ chế auto-discovery</a:t>
            </a:r>
            <a:endParaRPr/>
          </a:p>
        </p:txBody>
      </p:sp>
      <p:sp>
        <p:nvSpPr>
          <p:cNvPr id="959" name="Google Shape;959;p47"/>
          <p:cNvSpPr txBox="1"/>
          <p:nvPr/>
        </p:nvSpPr>
        <p:spPr>
          <a:xfrm>
            <a:off x="548640" y="3803904"/>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0:40</a:t>
            </a:r>
            <a:endParaRPr/>
          </a:p>
        </p:txBody>
      </p:sp>
      <p:sp>
        <p:nvSpPr>
          <p:cNvPr id="960" name="Google Shape;960;p47"/>
          <p:cNvSpPr txBox="1"/>
          <p:nvPr/>
        </p:nvSpPr>
        <p:spPr>
          <a:xfrm>
            <a:off x="1115568" y="3803904"/>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Lệnh tự nhiên → Playwright chụp Trang chủ 1440×900</a:t>
            </a:r>
            <a:endParaRPr/>
          </a:p>
        </p:txBody>
      </p:sp>
      <p:sp>
        <p:nvSpPr>
          <p:cNvPr id="961" name="Google Shape;961;p47"/>
          <p:cNvSpPr txBox="1"/>
          <p:nvPr/>
        </p:nvSpPr>
        <p:spPr>
          <a:xfrm>
            <a:off x="548640" y="4315968"/>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1:25</a:t>
            </a:r>
            <a:endParaRPr/>
          </a:p>
        </p:txBody>
      </p:sp>
      <p:sp>
        <p:nvSpPr>
          <p:cNvPr id="962" name="Google Shape;962;p47"/>
          <p:cNvSpPr txBox="1"/>
          <p:nvPr/>
        </p:nvSpPr>
        <p:spPr>
          <a:xfrm>
            <a:off x="1115568" y="4315968"/>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Subagent chấm ảnh cô lập, chống nhiễm ngữ cảnh</a:t>
            </a:r>
            <a:endParaRPr/>
          </a:p>
        </p:txBody>
      </p:sp>
      <p:sp>
        <p:nvSpPr>
          <p:cNvPr id="963" name="Google Shape;963;p47"/>
          <p:cNvSpPr txBox="1"/>
          <p:nvPr/>
        </p:nvSpPr>
        <p:spPr>
          <a:xfrm>
            <a:off x="548640" y="4828032"/>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2:10</a:t>
            </a:r>
            <a:endParaRPr/>
          </a:p>
        </p:txBody>
      </p:sp>
      <p:sp>
        <p:nvSpPr>
          <p:cNvPr id="964" name="Google Shape;964;p47"/>
          <p:cNvSpPr txBox="1"/>
          <p:nvPr/>
        </p:nvSpPr>
        <p:spPr>
          <a:xfrm>
            <a:off x="1115568" y="4828032"/>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Kiểm </a:t>
            </a:r>
            <a:r>
              <a:rPr b="0" i="0" lang="en-US" sz="1050">
                <a:solidFill>
                  <a:srgbClr val="222222"/>
                </a:solidFill>
                <a:latin typeface="Consolas"/>
                <a:ea typeface="Consolas"/>
                <a:cs typeface="Consolas"/>
                <a:sym typeface="Consolas"/>
              </a:rPr>
              <a:t>schema.json</a:t>
            </a:r>
            <a:r>
              <a:rPr b="0" i="0" lang="en-US" sz="1150">
                <a:solidFill>
                  <a:srgbClr val="222222"/>
                </a:solidFill>
                <a:latin typeface="Arial"/>
                <a:ea typeface="Arial"/>
                <a:cs typeface="Arial"/>
                <a:sym typeface="Arial"/>
              </a:rPr>
              <a:t> → </a:t>
            </a:r>
            <a:r>
              <a:rPr b="0" i="0" lang="en-US" sz="1050">
                <a:solidFill>
                  <a:srgbClr val="222222"/>
                </a:solidFill>
                <a:latin typeface="Consolas"/>
                <a:ea typeface="Consolas"/>
                <a:cs typeface="Consolas"/>
                <a:sym typeface="Consolas"/>
              </a:rPr>
              <a:t>VALID</a:t>
            </a:r>
            <a:endParaRPr/>
          </a:p>
        </p:txBody>
      </p:sp>
      <p:sp>
        <p:nvSpPr>
          <p:cNvPr id="965" name="Google Shape;965;p47"/>
          <p:cNvSpPr txBox="1"/>
          <p:nvPr/>
        </p:nvSpPr>
        <p:spPr>
          <a:xfrm>
            <a:off x="548640" y="5340096"/>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2:50</a:t>
            </a:r>
            <a:endParaRPr/>
          </a:p>
        </p:txBody>
      </p:sp>
      <p:sp>
        <p:nvSpPr>
          <p:cNvPr id="966" name="Google Shape;966;p47"/>
          <p:cNvSpPr txBox="1"/>
          <p:nvPr/>
        </p:nvSpPr>
        <p:spPr>
          <a:xfrm>
            <a:off x="1115568" y="5340096"/>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Đọc </a:t>
            </a:r>
            <a:r>
              <a:rPr b="0" i="0" lang="en-US" sz="1050">
                <a:solidFill>
                  <a:srgbClr val="222222"/>
                </a:solidFill>
                <a:latin typeface="Consolas"/>
                <a:ea typeface="Consolas"/>
                <a:cs typeface="Consolas"/>
                <a:sym typeface="Consolas"/>
              </a:rPr>
              <a:t>report.md</a:t>
            </a:r>
            <a:endParaRPr/>
          </a:p>
        </p:txBody>
      </p:sp>
      <p:sp>
        <p:nvSpPr>
          <p:cNvPr id="967" name="Google Shape;967;p47"/>
          <p:cNvSpPr/>
          <p:nvPr/>
        </p:nvSpPr>
        <p:spPr>
          <a:xfrm>
            <a:off x="548640" y="5660136"/>
            <a:ext cx="507492"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Setup</a:t>
            </a:r>
            <a:endParaRPr/>
          </a:p>
        </p:txBody>
      </p:sp>
      <p:sp>
        <p:nvSpPr>
          <p:cNvPr id="968" name="Google Shape;968;p47"/>
          <p:cNvSpPr/>
          <p:nvPr/>
        </p:nvSpPr>
        <p:spPr>
          <a:xfrm>
            <a:off x="1129284" y="5660136"/>
            <a:ext cx="896112"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Checkpoint</a:t>
            </a:r>
            <a:endParaRPr/>
          </a:p>
        </p:txBody>
      </p:sp>
      <p:cxnSp>
        <p:nvCxnSpPr>
          <p:cNvPr id="969" name="Google Shape;969;p47"/>
          <p:cNvCxnSpPr/>
          <p:nvPr/>
        </p:nvCxnSpPr>
        <p:spPr>
          <a:xfrm>
            <a:off x="4185818" y="1828800"/>
            <a:ext cx="0" cy="416052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970" name="Google Shape;970;p47"/>
          <p:cNvSpPr/>
          <p:nvPr/>
        </p:nvSpPr>
        <p:spPr>
          <a:xfrm>
            <a:off x="4368698" y="1828800"/>
            <a:ext cx="345429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71" name="Google Shape;971;p47"/>
          <p:cNvSpPr txBox="1"/>
          <p:nvPr/>
        </p:nvSpPr>
        <p:spPr>
          <a:xfrm>
            <a:off x="4368698" y="19933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50">
                <a:solidFill>
                  <a:srgbClr val="0B3A6E"/>
                </a:solidFill>
                <a:latin typeface="Consolas"/>
                <a:ea typeface="Consolas"/>
                <a:cs typeface="Consolas"/>
                <a:sym typeface="Consolas"/>
              </a:rPr>
              <a:t>AI-2  ·  ~4 phút</a:t>
            </a:r>
            <a:endParaRPr/>
          </a:p>
        </p:txBody>
      </p:sp>
      <p:sp>
        <p:nvSpPr>
          <p:cNvPr id="972" name="Google Shape;972;p47"/>
          <p:cNvSpPr txBox="1"/>
          <p:nvPr/>
        </p:nvSpPr>
        <p:spPr>
          <a:xfrm>
            <a:off x="4368698" y="2286000"/>
            <a:ext cx="3454298"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Giỏ hàng &amp; chất vấn AI</a:t>
            </a:r>
            <a:endParaRPr/>
          </a:p>
        </p:txBody>
      </p:sp>
      <p:sp>
        <p:nvSpPr>
          <p:cNvPr id="973" name="Google Shape;973;p47"/>
          <p:cNvSpPr txBox="1"/>
          <p:nvPr/>
        </p:nvSpPr>
        <p:spPr>
          <a:xfrm>
            <a:off x="4368698" y="29077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0B3A6E"/>
                </a:solidFill>
                <a:latin typeface="Arial"/>
                <a:ea typeface="Arial"/>
                <a:cs typeface="Arial"/>
                <a:sym typeface="Arial"/>
              </a:rPr>
              <a:t>▶ </a:t>
            </a:r>
            <a:r>
              <a:rPr b="1" lang="en-US" sz="1200" u="sng">
                <a:solidFill>
                  <a:srgbClr val="0B3A6E"/>
                </a:solidFill>
                <a:latin typeface="Arial"/>
                <a:ea typeface="Arial"/>
                <a:cs typeface="Arial"/>
                <a:sym typeface="Arial"/>
                <a:hlinkClick r:id="rId4">
                  <a:extLst>
                    <a:ext uri="{A12FA001-AC4F-418D-AE19-62706E023703}">
                      <ahyp:hlinkClr val="tx"/>
                    </a:ext>
                  </a:extLst>
                </a:hlinkClick>
              </a:rPr>
              <a:t>youtu.be/wXIQ4o7bVi8</a:t>
            </a:r>
            <a:endParaRPr/>
          </a:p>
        </p:txBody>
      </p:sp>
      <p:sp>
        <p:nvSpPr>
          <p:cNvPr id="974" name="Google Shape;974;p47"/>
          <p:cNvSpPr txBox="1"/>
          <p:nvPr/>
        </p:nvSpPr>
        <p:spPr>
          <a:xfrm>
            <a:off x="4368698" y="3291840"/>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0:00</a:t>
            </a:r>
            <a:endParaRPr/>
          </a:p>
        </p:txBody>
      </p:sp>
      <p:sp>
        <p:nvSpPr>
          <p:cNvPr id="975" name="Google Shape;975;p47"/>
          <p:cNvSpPr txBox="1"/>
          <p:nvPr/>
        </p:nvSpPr>
        <p:spPr>
          <a:xfrm>
            <a:off x="4935626" y="3291840"/>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a:solidFill>
                  <a:srgbClr val="222222"/>
                </a:solidFill>
                <a:latin typeface="Consolas"/>
                <a:ea typeface="Consolas"/>
                <a:cs typeface="Consolas"/>
                <a:sym typeface="Consolas"/>
              </a:rPr>
              <a:t>setups.js</a:t>
            </a:r>
            <a:r>
              <a:rPr b="0" i="0" lang="en-US" sz="1150">
                <a:solidFill>
                  <a:srgbClr val="222222"/>
                </a:solidFill>
                <a:latin typeface="Arial"/>
                <a:ea typeface="Arial"/>
                <a:cs typeface="Arial"/>
                <a:sym typeface="Arial"/>
              </a:rPr>
              <a:t> dựng giỏ hàng, vượt bẫy G10</a:t>
            </a:r>
            <a:endParaRPr/>
          </a:p>
        </p:txBody>
      </p:sp>
      <p:sp>
        <p:nvSpPr>
          <p:cNvPr id="976" name="Google Shape;976;p47"/>
          <p:cNvSpPr txBox="1"/>
          <p:nvPr/>
        </p:nvSpPr>
        <p:spPr>
          <a:xfrm>
            <a:off x="4368698" y="3803904"/>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0:45</a:t>
            </a:r>
            <a:endParaRPr/>
          </a:p>
        </p:txBody>
      </p:sp>
      <p:sp>
        <p:nvSpPr>
          <p:cNvPr id="977" name="Google Shape;977;p47"/>
          <p:cNvSpPr txBox="1"/>
          <p:nvPr/>
        </p:nvSpPr>
        <p:spPr>
          <a:xfrm>
            <a:off x="4935626" y="3803904"/>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Lệnh rà soát </a:t>
            </a:r>
            <a:r>
              <a:rPr b="0" i="0" lang="en-US" sz="1050">
                <a:solidFill>
                  <a:srgbClr val="222222"/>
                </a:solidFill>
                <a:latin typeface="Consolas"/>
                <a:ea typeface="Consolas"/>
                <a:cs typeface="Consolas"/>
                <a:sym typeface="Consolas"/>
              </a:rPr>
              <a:t>/cart</a:t>
            </a:r>
            <a:r>
              <a:rPr b="0" i="0" lang="en-US" sz="1150">
                <a:solidFill>
                  <a:srgbClr val="222222"/>
                </a:solidFill>
                <a:latin typeface="Arial"/>
                <a:ea typeface="Arial"/>
                <a:cs typeface="Arial"/>
                <a:sym typeface="Arial"/>
              </a:rPr>
              <a:t> trên desktop</a:t>
            </a:r>
            <a:endParaRPr/>
          </a:p>
        </p:txBody>
      </p:sp>
      <p:sp>
        <p:nvSpPr>
          <p:cNvPr id="978" name="Google Shape;978;p47"/>
          <p:cNvSpPr txBox="1"/>
          <p:nvPr/>
        </p:nvSpPr>
        <p:spPr>
          <a:xfrm>
            <a:off x="4368698" y="4315968"/>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1:30</a:t>
            </a:r>
            <a:endParaRPr/>
          </a:p>
        </p:txBody>
      </p:sp>
      <p:sp>
        <p:nvSpPr>
          <p:cNvPr id="979" name="Google Shape;979;p47"/>
          <p:cNvSpPr txBox="1"/>
          <p:nvPr/>
        </p:nvSpPr>
        <p:spPr>
          <a:xfrm>
            <a:off x="4935626" y="4315968"/>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AI thấy thiếu nút +/-; chê nút Xóa nhưng không nói thiếu dialog</a:t>
            </a:r>
            <a:endParaRPr/>
          </a:p>
        </p:txBody>
      </p:sp>
      <p:sp>
        <p:nvSpPr>
          <p:cNvPr id="980" name="Google Shape;980;p47"/>
          <p:cNvSpPr txBox="1"/>
          <p:nvPr/>
        </p:nvSpPr>
        <p:spPr>
          <a:xfrm>
            <a:off x="4368698" y="4828032"/>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2:20</a:t>
            </a:r>
            <a:endParaRPr/>
          </a:p>
        </p:txBody>
      </p:sp>
      <p:sp>
        <p:nvSpPr>
          <p:cNvPr id="981" name="Google Shape;981;p47"/>
          <p:cNvSpPr txBox="1"/>
          <p:nvPr/>
        </p:nvSpPr>
        <p:spPr>
          <a:xfrm>
            <a:off x="4935626" y="4828032"/>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Hỏi vì sao bỏ sót G04 (đặc tả), G05 (</a:t>
            </a:r>
            <a:r>
              <a:rPr b="0" i="0" lang="en-US" sz="1050">
                <a:solidFill>
                  <a:srgbClr val="222222"/>
                </a:solidFill>
                <a:latin typeface="Consolas"/>
                <a:ea typeface="Consolas"/>
                <a:cs typeface="Consolas"/>
                <a:sym typeface="Consolas"/>
              </a:rPr>
              <a:t>&lt;h1&gt;</a:t>
            </a:r>
            <a:r>
              <a:rPr b="0" i="0" lang="en-US" sz="1150">
                <a:solidFill>
                  <a:srgbClr val="222222"/>
                </a:solidFill>
                <a:latin typeface="Arial"/>
                <a:ea typeface="Arial"/>
                <a:cs typeface="Arial"/>
                <a:sym typeface="Arial"/>
              </a:rPr>
              <a:t>)</a:t>
            </a:r>
            <a:endParaRPr/>
          </a:p>
        </p:txBody>
      </p:sp>
      <p:sp>
        <p:nvSpPr>
          <p:cNvPr id="982" name="Google Shape;982;p47"/>
          <p:cNvSpPr txBox="1"/>
          <p:nvPr/>
        </p:nvSpPr>
        <p:spPr>
          <a:xfrm>
            <a:off x="4368698" y="5340096"/>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3:30</a:t>
            </a:r>
            <a:endParaRPr/>
          </a:p>
        </p:txBody>
      </p:sp>
      <p:sp>
        <p:nvSpPr>
          <p:cNvPr id="983" name="Google Shape;983;p47"/>
          <p:cNvSpPr txBox="1"/>
          <p:nvPr/>
        </p:nvSpPr>
        <p:spPr>
          <a:xfrm>
            <a:off x="4935626" y="5340096"/>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G10 lỗi nhiều bước, ảnh tĩnh không thấy</a:t>
            </a:r>
            <a:endParaRPr/>
          </a:p>
        </p:txBody>
      </p:sp>
      <p:sp>
        <p:nvSpPr>
          <p:cNvPr id="984" name="Google Shape;984;p47"/>
          <p:cNvSpPr/>
          <p:nvPr/>
        </p:nvSpPr>
        <p:spPr>
          <a:xfrm>
            <a:off x="4368698" y="5660136"/>
            <a:ext cx="1362456"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Khái niệm cơ bản</a:t>
            </a:r>
            <a:endParaRPr/>
          </a:p>
        </p:txBody>
      </p:sp>
      <p:sp>
        <p:nvSpPr>
          <p:cNvPr id="985" name="Google Shape;985;p47"/>
          <p:cNvSpPr/>
          <p:nvPr/>
        </p:nvSpPr>
        <p:spPr>
          <a:xfrm>
            <a:off x="5804306" y="5660136"/>
            <a:ext cx="1595628" cy="274320"/>
          </a:xfrm>
          <a:prstGeom prst="roundRect">
            <a:avLst>
              <a:gd fmla="val 16667" name="adj"/>
            </a:avLst>
          </a:prstGeom>
          <a:solidFill>
            <a:srgbClr val="FBEAE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C62828"/>
                </a:solidFill>
                <a:latin typeface="Arial"/>
                <a:ea typeface="Arial"/>
                <a:cs typeface="Arial"/>
                <a:sym typeface="Arial"/>
              </a:rPr>
              <a:t>Ca không xử lý được</a:t>
            </a:r>
            <a:endParaRPr/>
          </a:p>
        </p:txBody>
      </p:sp>
      <p:cxnSp>
        <p:nvCxnSpPr>
          <p:cNvPr id="986" name="Google Shape;986;p47"/>
          <p:cNvCxnSpPr/>
          <p:nvPr/>
        </p:nvCxnSpPr>
        <p:spPr>
          <a:xfrm>
            <a:off x="8005877" y="1828800"/>
            <a:ext cx="0" cy="416052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987" name="Google Shape;987;p47"/>
          <p:cNvSpPr/>
          <p:nvPr/>
        </p:nvSpPr>
        <p:spPr>
          <a:xfrm>
            <a:off x="8188757" y="1828800"/>
            <a:ext cx="3454298" cy="6400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8" name="Google Shape;988;p47"/>
          <p:cNvSpPr txBox="1"/>
          <p:nvPr/>
        </p:nvSpPr>
        <p:spPr>
          <a:xfrm>
            <a:off x="8188757" y="19933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50">
                <a:solidFill>
                  <a:srgbClr val="0B3A6E"/>
                </a:solidFill>
                <a:latin typeface="Consolas"/>
                <a:ea typeface="Consolas"/>
                <a:cs typeface="Consolas"/>
                <a:sym typeface="Consolas"/>
              </a:rPr>
              <a:t>AI-3  ·  ~6 phút</a:t>
            </a:r>
            <a:endParaRPr/>
          </a:p>
        </p:txBody>
      </p:sp>
      <p:sp>
        <p:nvSpPr>
          <p:cNvPr id="989" name="Google Shape;989;p47"/>
          <p:cNvSpPr txBox="1"/>
          <p:nvPr/>
        </p:nvSpPr>
        <p:spPr>
          <a:xfrm>
            <a:off x="8188757" y="2286000"/>
            <a:ext cx="3454298"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11111"/>
                </a:solidFill>
                <a:latin typeface="Arial"/>
                <a:ea typeface="Arial"/>
                <a:cs typeface="Arial"/>
                <a:sym typeface="Arial"/>
              </a:rPr>
              <a:t>3 runs, so CHI 2024, TodoMVC</a:t>
            </a:r>
            <a:endParaRPr/>
          </a:p>
        </p:txBody>
      </p:sp>
      <p:sp>
        <p:nvSpPr>
          <p:cNvPr id="990" name="Google Shape;990;p47"/>
          <p:cNvSpPr txBox="1"/>
          <p:nvPr/>
        </p:nvSpPr>
        <p:spPr>
          <a:xfrm>
            <a:off x="8188757" y="2907792"/>
            <a:ext cx="345429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0B3A6E"/>
                </a:solidFill>
                <a:latin typeface="Arial"/>
                <a:ea typeface="Arial"/>
                <a:cs typeface="Arial"/>
                <a:sym typeface="Arial"/>
              </a:rPr>
              <a:t>▶ </a:t>
            </a:r>
            <a:r>
              <a:rPr b="1" lang="en-US" sz="1200" u="sng">
                <a:solidFill>
                  <a:srgbClr val="0B3A6E"/>
                </a:solidFill>
                <a:latin typeface="Arial"/>
                <a:ea typeface="Arial"/>
                <a:cs typeface="Arial"/>
                <a:sym typeface="Arial"/>
                <a:hlinkClick r:id="rId5">
                  <a:extLst>
                    <a:ext uri="{A12FA001-AC4F-418D-AE19-62706E023703}">
                      <ahyp:hlinkClr val="tx"/>
                    </a:ext>
                  </a:extLst>
                </a:hlinkClick>
              </a:rPr>
              <a:t>youtu.be/8I4n31fuWNc</a:t>
            </a:r>
            <a:endParaRPr/>
          </a:p>
        </p:txBody>
      </p:sp>
      <p:sp>
        <p:nvSpPr>
          <p:cNvPr id="991" name="Google Shape;991;p47"/>
          <p:cNvSpPr txBox="1"/>
          <p:nvPr/>
        </p:nvSpPr>
        <p:spPr>
          <a:xfrm>
            <a:off x="8188757" y="3291840"/>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0:00</a:t>
            </a:r>
            <a:endParaRPr/>
          </a:p>
        </p:txBody>
      </p:sp>
      <p:sp>
        <p:nvSpPr>
          <p:cNvPr id="992" name="Google Shape;992;p47"/>
          <p:cNvSpPr txBox="1"/>
          <p:nvPr/>
        </p:nvSpPr>
        <p:spPr>
          <a:xfrm>
            <a:off x="8755685" y="3291840"/>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5 trang × 2 viewport × 3 runs</a:t>
            </a:r>
            <a:endParaRPr/>
          </a:p>
        </p:txBody>
      </p:sp>
      <p:sp>
        <p:nvSpPr>
          <p:cNvPr id="993" name="Google Shape;993;p47"/>
          <p:cNvSpPr txBox="1"/>
          <p:nvPr/>
        </p:nvSpPr>
        <p:spPr>
          <a:xfrm>
            <a:off x="8188757" y="3803904"/>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1:00</a:t>
            </a:r>
            <a:endParaRPr/>
          </a:p>
        </p:txBody>
      </p:sp>
      <p:sp>
        <p:nvSpPr>
          <p:cNvPr id="994" name="Google Shape;994;p47"/>
          <p:cNvSpPr txBox="1"/>
          <p:nvPr/>
        </p:nvSpPr>
        <p:spPr>
          <a:xfrm>
            <a:off x="8755685" y="3803904"/>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Subagent </a:t>
            </a:r>
            <a:r>
              <a:rPr b="0" i="0" lang="en-US" sz="1050">
                <a:solidFill>
                  <a:srgbClr val="222222"/>
                </a:solidFill>
                <a:latin typeface="Consolas"/>
                <a:ea typeface="Consolas"/>
                <a:cs typeface="Consolas"/>
                <a:sym typeface="Consolas"/>
              </a:rPr>
              <a:t>finding-labeler</a:t>
            </a:r>
            <a:r>
              <a:rPr b="0" i="0" lang="en-US" sz="1150">
                <a:solidFill>
                  <a:srgbClr val="222222"/>
                </a:solidFill>
                <a:latin typeface="Arial"/>
                <a:ea typeface="Arial"/>
                <a:cs typeface="Arial"/>
                <a:sym typeface="Arial"/>
              </a:rPr>
              <a:t> so ground truth</a:t>
            </a:r>
            <a:endParaRPr/>
          </a:p>
        </p:txBody>
      </p:sp>
      <p:sp>
        <p:nvSpPr>
          <p:cNvPr id="995" name="Google Shape;995;p47"/>
          <p:cNvSpPr txBox="1"/>
          <p:nvPr/>
        </p:nvSpPr>
        <p:spPr>
          <a:xfrm>
            <a:off x="8188757" y="4315968"/>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1:50</a:t>
            </a:r>
            <a:endParaRPr/>
          </a:p>
        </p:txBody>
      </p:sp>
      <p:sp>
        <p:nvSpPr>
          <p:cNvPr id="996" name="Google Shape;996;p47"/>
          <p:cNvSpPr txBox="1"/>
          <p:nvPr/>
        </p:nvSpPr>
        <p:spPr>
          <a:xfrm>
            <a:off x="8755685" y="4315968"/>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Bảng người vs AI, đặt cạnh CHI 2024</a:t>
            </a:r>
            <a:endParaRPr/>
          </a:p>
        </p:txBody>
      </p:sp>
      <p:sp>
        <p:nvSpPr>
          <p:cNvPr id="997" name="Google Shape;997;p47"/>
          <p:cNvSpPr txBox="1"/>
          <p:nvPr/>
        </p:nvSpPr>
        <p:spPr>
          <a:xfrm>
            <a:off x="8188757" y="4828032"/>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3:20</a:t>
            </a:r>
            <a:endParaRPr/>
          </a:p>
        </p:txBody>
      </p:sp>
      <p:sp>
        <p:nvSpPr>
          <p:cNvPr id="998" name="Google Shape;998;p47"/>
          <p:cNvSpPr txBox="1"/>
          <p:nvPr/>
        </p:nvSpPr>
        <p:spPr>
          <a:xfrm>
            <a:off x="8755685" y="4828032"/>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a:solidFill>
                  <a:srgbClr val="222222"/>
                </a:solidFill>
                <a:latin typeface="Consolas"/>
                <a:ea typeface="Consolas"/>
                <a:cs typeface="Consolas"/>
                <a:sym typeface="Consolas"/>
              </a:rPr>
              <a:t>labels.csv</a:t>
            </a:r>
            <a:r>
              <a:rPr b="0" i="0" lang="en-US" sz="1150">
                <a:solidFill>
                  <a:srgbClr val="222222"/>
                </a:solidFill>
                <a:latin typeface="Arial"/>
                <a:ea typeface="Arial"/>
                <a:cs typeface="Arial"/>
                <a:sym typeface="Arial"/>
              </a:rPr>
              <a:t>: người duyệt nhãn</a:t>
            </a:r>
            <a:endParaRPr/>
          </a:p>
        </p:txBody>
      </p:sp>
      <p:sp>
        <p:nvSpPr>
          <p:cNvPr id="999" name="Google Shape;999;p47"/>
          <p:cNvSpPr txBox="1"/>
          <p:nvPr/>
        </p:nvSpPr>
        <p:spPr>
          <a:xfrm>
            <a:off x="8188757" y="5340096"/>
            <a:ext cx="548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0B3A6E"/>
                </a:solidFill>
                <a:latin typeface="Consolas"/>
                <a:ea typeface="Consolas"/>
                <a:cs typeface="Consolas"/>
                <a:sym typeface="Consolas"/>
              </a:rPr>
              <a:t>4:10</a:t>
            </a:r>
            <a:endParaRPr/>
          </a:p>
        </p:txBody>
      </p:sp>
      <p:sp>
        <p:nvSpPr>
          <p:cNvPr id="1000" name="Google Shape;1000;p47"/>
          <p:cNvSpPr txBox="1"/>
          <p:nvPr/>
        </p:nvSpPr>
        <p:spPr>
          <a:xfrm>
            <a:off x="8755685" y="5340096"/>
            <a:ext cx="288737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222222"/>
                </a:solidFill>
                <a:latin typeface="Arial"/>
                <a:ea typeface="Arial"/>
                <a:cs typeface="Arial"/>
                <a:sym typeface="Arial"/>
              </a:rPr>
              <a:t>Đổi </a:t>
            </a:r>
            <a:r>
              <a:rPr b="0" i="0" lang="en-US" sz="1050">
                <a:solidFill>
                  <a:srgbClr val="222222"/>
                </a:solidFill>
                <a:latin typeface="Consolas"/>
                <a:ea typeface="Consolas"/>
                <a:cs typeface="Consolas"/>
                <a:sym typeface="Consolas"/>
              </a:rPr>
              <a:t>config.todomvc.json</a:t>
            </a:r>
            <a:r>
              <a:rPr b="0" i="0" lang="en-US" sz="1150">
                <a:solidFill>
                  <a:srgbClr val="222222"/>
                </a:solidFill>
                <a:latin typeface="Arial"/>
                <a:ea typeface="Arial"/>
                <a:cs typeface="Arial"/>
                <a:sym typeface="Arial"/>
              </a:rPr>
              <a:t>, chạy TodoMVC</a:t>
            </a:r>
            <a:endParaRPr/>
          </a:p>
        </p:txBody>
      </p:sp>
      <p:sp>
        <p:nvSpPr>
          <p:cNvPr id="1001" name="Google Shape;1001;p47"/>
          <p:cNvSpPr/>
          <p:nvPr/>
        </p:nvSpPr>
        <p:spPr>
          <a:xfrm>
            <a:off x="8188757" y="5660136"/>
            <a:ext cx="740664"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Phức tạp</a:t>
            </a:r>
            <a:endParaRPr/>
          </a:p>
        </p:txBody>
      </p:sp>
      <p:sp>
        <p:nvSpPr>
          <p:cNvPr id="1002" name="Google Shape;1002;p47"/>
          <p:cNvSpPr/>
          <p:nvPr/>
        </p:nvSpPr>
        <p:spPr>
          <a:xfrm>
            <a:off x="9002573" y="5660136"/>
            <a:ext cx="973836"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Data-driven</a:t>
            </a:r>
            <a:endParaRPr/>
          </a:p>
        </p:txBody>
      </p:sp>
      <p:sp>
        <p:nvSpPr>
          <p:cNvPr id="1003" name="Google Shape;1003;p47"/>
          <p:cNvSpPr/>
          <p:nvPr/>
        </p:nvSpPr>
        <p:spPr>
          <a:xfrm>
            <a:off x="10049561" y="5660136"/>
            <a:ext cx="973836" cy="274320"/>
          </a:xfrm>
          <a:prstGeom prst="roundRect">
            <a:avLst>
              <a:gd fmla="val 16667" name="adj"/>
            </a:avLst>
          </a:prstGeom>
          <a:solidFill>
            <a:srgbClr val="E7EEF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000">
                <a:solidFill>
                  <a:srgbClr val="0B3A6E"/>
                </a:solidFill>
                <a:latin typeface="Arial"/>
                <a:ea typeface="Arial"/>
                <a:cs typeface="Arial"/>
                <a:sym typeface="Arial"/>
              </a:rPr>
              <a:t>Tái sử dụng</a:t>
            </a:r>
            <a:endParaRPr/>
          </a:p>
        </p:txBody>
      </p:sp>
      <p:sp>
        <p:nvSpPr>
          <p:cNvPr id="1004" name="Google Shape;1004;p47"/>
          <p:cNvSpPr txBox="1"/>
          <p:nvPr/>
        </p:nvSpPr>
        <p:spPr>
          <a:xfrm>
            <a:off x="548640" y="6053328"/>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5F6368"/>
                </a:solidFill>
                <a:latin typeface="Arial"/>
                <a:ea typeface="Arial"/>
                <a:cs typeface="Arial"/>
                <a:sym typeface="Arial"/>
              </a:rPr>
              <a:t>Mốc thời gian theo kịch bản quay </a:t>
            </a:r>
            <a:r>
              <a:rPr b="0" i="0" lang="en-US" sz="1000">
                <a:solidFill>
                  <a:srgbClr val="5F6368"/>
                </a:solidFill>
                <a:latin typeface="Consolas"/>
                <a:ea typeface="Consolas"/>
                <a:cs typeface="Consolas"/>
                <a:sym typeface="Consolas"/>
              </a:rPr>
              <a:t>videos/clip-scripts-ai-reviewer.md</a:t>
            </a:r>
            <a:r>
              <a:rPr b="0" i="0" lang="en-US" sz="1100">
                <a:solidFill>
                  <a:srgbClr val="5F6368"/>
                </a:solidFill>
                <a:latin typeface="Arial"/>
                <a:ea typeface="Arial"/>
                <a:cs typeface="Arial"/>
                <a:sym typeface="Arial"/>
              </a:rPr>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48"/>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Kết quả người vs AI</a:t>
            </a:r>
            <a:endParaRPr/>
          </a:p>
        </p:txBody>
      </p:sp>
      <p:sp>
        <p:nvSpPr>
          <p:cNvPr id="1011" name="Google Shape;1011;p48"/>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08</a:t>
            </a:r>
            <a:endParaRPr/>
          </a:p>
        </p:txBody>
      </p:sp>
      <p:sp>
        <p:nvSpPr>
          <p:cNvPr id="1012" name="Google Shape;1012;p48"/>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48</a:t>
            </a:r>
            <a:endParaRPr/>
          </a:p>
        </p:txBody>
      </p:sp>
      <p:graphicFrame>
        <p:nvGraphicFramePr>
          <p:cNvPr id="1013" name="Google Shape;1013;p48"/>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3328325"/>
                <a:gridCol w="4252850"/>
                <a:gridCol w="3513225"/>
              </a:tblGrid>
              <a:tr h="47550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Chỉ số</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EShop · 3 lần chạy (105 phát hiện)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Bài CHI 2024 (GPT-4)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Precision (nhãn nháp)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0,76</a:t>
                      </a:r>
                      <a:r>
                        <a:rPr b="0" i="0" lang="en-US" sz="1350" u="none" cap="none" strike="noStrike">
                          <a:solidFill>
                            <a:srgbClr val="222222"/>
                          </a:solidFill>
                          <a:latin typeface="Arial"/>
                          <a:ea typeface="Arial"/>
                          <a:cs typeface="Arial"/>
                          <a:sym typeface="Arial"/>
                        </a:rPr>
                        <a:t> (0,73 · 0,78 · 0,78)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AI 0,60 · người 0,83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Recall trên 11 lỗi GT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0,45</a:t>
                      </a:r>
                      <a:r>
                        <a:rPr b="0" i="0" lang="en-US" sz="1350" u="none" cap="none" strike="noStrike">
                          <a:solidFill>
                            <a:srgbClr val="222222"/>
                          </a:solidFill>
                          <a:latin typeface="Arial"/>
                          <a:ea typeface="Arial"/>
                          <a:cs typeface="Arial"/>
                          <a:sym typeface="Arial"/>
                        </a:rPr>
                        <a:t> (5/11: G03, G06, G08, G09, G11)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AI 0,38 · một chuyên gia 0,34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Chỉ người / cả hai / chỉ AI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29% / 24% / 48%</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62% / 29% / 9%</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Lệch severity trung bình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0,67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Ổn định qua 3 lần chạy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13/15 lỗi đúng lặp lại (86,7%)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Nhãn đã được người duyệt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0 / 105 — số liệu tạm, nhãn do subagent gán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1014" name="Google Shape;1014;p48"/>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15" name="Google Shape;1015;p48"/>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16" name="Google Shape;1016;p48"/>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rgbClr val="111111"/>
                </a:solidFill>
                <a:latin typeface="Arial"/>
                <a:ea typeface="Arial"/>
                <a:cs typeface="Arial"/>
                <a:sym typeface="Arial"/>
              </a:rPr>
              <a:t>AI tìm thêm 10 lỗi mới ngoài ground truth (vd. </a:t>
            </a:r>
            <a:r>
              <a:rPr b="1" i="0" lang="en-US" sz="1400">
                <a:solidFill>
                  <a:srgbClr val="111111"/>
                </a:solidFill>
                <a:latin typeface="Arial"/>
                <a:ea typeface="Arial"/>
                <a:cs typeface="Arial"/>
                <a:sym typeface="Arial"/>
              </a:rPr>
              <a:t>N01</a:t>
            </a:r>
            <a:r>
              <a:rPr b="0" i="0" lang="en-US" sz="1400">
                <a:solidFill>
                  <a:srgbClr val="111111"/>
                </a:solidFill>
                <a:latin typeface="Arial"/>
                <a:ea typeface="Arial"/>
                <a:cs typeface="Arial"/>
                <a:sym typeface="Arial"/>
              </a:rPr>
              <a:t> bảng giỏ hàng vỡ trên mobile 375px) — nhưng bỏ sót cả 3 lần G01, G02, G04, G05, G07, G10.</a:t>
            </a:r>
            <a:endParaRPr/>
          </a:p>
        </p:txBody>
      </p:sp>
      <p:sp>
        <p:nvSpPr>
          <p:cNvPr id="9100" name="CHI note"/>
          <p:cNvSpPr txBox="1"/>
          <p:nvPr/>
        </p:nvSpPr>
        <p:spPr>
          <a:xfrm>
            <a:off x="548640" y="489204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5F6368"/>
                </a:solidFill>
                <a:latin typeface="Arial"/>
                <a:ea typeface="Arial"/>
                <a:cs typeface="Arial"/>
                <a:sym typeface="Arial"/>
              </a:rPr>
              <a:t>Chỉ để tham khảo: GT của CHI 2024 là lỗi chuyên gia tìm bằng heuristic; GT của nhóm có cả lỗi đặc tả và lỗi cần thao tác (G02, G04, G05, G10) mà ảnh tĩnh không thể hiện. Tính riêng 7 lỗi nhìn thấy trên ảnh: recall 5/7 ≈ 0,71.</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49"/>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Giới hạn của AI — ca không xử lý được</a:t>
            </a:r>
            <a:endParaRPr/>
          </a:p>
        </p:txBody>
      </p:sp>
      <p:sp>
        <p:nvSpPr>
          <p:cNvPr id="1023" name="Google Shape;1023;p49"/>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08</a:t>
            </a:r>
            <a:endParaRPr/>
          </a:p>
        </p:txBody>
      </p:sp>
      <p:sp>
        <p:nvSpPr>
          <p:cNvPr id="1024" name="Google Shape;1024;p49"/>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49</a:t>
            </a:r>
            <a:endParaRPr/>
          </a:p>
        </p:txBody>
      </p:sp>
      <p:graphicFrame>
        <p:nvGraphicFramePr>
          <p:cNvPr id="1025" name="Google Shape;1025;p49"/>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3513225"/>
                <a:gridCol w="3883050"/>
                <a:gridCol w="3698150"/>
              </a:tblGrid>
              <a:tr h="512075">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Điểm yếu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Lỗi EShop minh họa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Bằng chứng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Không thấy cấu trúc HTML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G05 thiếu </a:t>
                      </a:r>
                      <a:r>
                        <a:rPr b="0" i="0" lang="en-US" sz="1250" u="none" cap="none" strike="noStrike">
                          <a:solidFill>
                            <a:srgbClr val="222222"/>
                          </a:solidFill>
                          <a:latin typeface="Consolas"/>
                          <a:ea typeface="Consolas"/>
                          <a:cs typeface="Consolas"/>
                          <a:sym typeface="Consolas"/>
                        </a:rPr>
                        <a:t>&lt;h1&gt;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Bỏ sót cả 3 lần · AI-2 2:20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Không biết đặc tả riêng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G04 xanh lá thay vì xanh dương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Bỏ sót cả 3 lần · AI-2 2:20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Không thấy lỗi cần nhiều bước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G10 bấm 2 lần; G02 thiếu dialog xóa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Bỏ sót cả 3 lần · AI-2 3:30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Báo nhầm, kết quả đổi giữa các lần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25 báo nhầm / 105; lệch severity 0,67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50" u="none" cap="none" strike="noStrike">
                          <a:solidFill>
                            <a:srgbClr val="222222"/>
                          </a:solidFill>
                          <a:latin typeface="Consolas"/>
                          <a:ea typeface="Consolas"/>
                          <a:cs typeface="Consolas"/>
                          <a:sym typeface="Consolas"/>
                        </a:rPr>
                        <a:t>comparison-summary.md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12075">
                <a:tc>
                  <a:txBody>
                    <a:bodyPr/>
                    <a:lstStyle/>
                    <a:p>
                      <a:pPr indent="0" lvl="0" marL="0" marR="0" rtl="0" algn="l">
                        <a:spcBef>
                          <a:spcPts val="0"/>
                        </a:spcBef>
                        <a:spcAft>
                          <a:spcPts val="0"/>
                        </a:spcAft>
                        <a:buNone/>
                      </a:pPr>
                      <a:r>
                        <a:rPr b="1" i="0" lang="en-US" sz="1350" u="none" cap="none" strike="noStrike">
                          <a:solidFill>
                            <a:srgbClr val="222222"/>
                          </a:solidFill>
                          <a:latin typeface="Arial"/>
                          <a:ea typeface="Arial"/>
                          <a:cs typeface="Arial"/>
                          <a:sym typeface="Arial"/>
                        </a:rPr>
                        <a:t>AI gán nhãn cho AI có thể sai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Nhãn nháp của </a:t>
                      </a:r>
                      <a:r>
                        <a:rPr b="0" i="0" lang="en-US" sz="1250" u="none" cap="none" strike="noStrike">
                          <a:solidFill>
                            <a:srgbClr val="222222"/>
                          </a:solidFill>
                          <a:latin typeface="Consolas"/>
                          <a:ea typeface="Consolas"/>
                          <a:cs typeface="Consolas"/>
                          <a:sym typeface="Consolas"/>
                        </a:rPr>
                        <a:t>finding-labeler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22222"/>
                          </a:solidFill>
                          <a:latin typeface="Arial"/>
                          <a:ea typeface="Arial"/>
                          <a:cs typeface="Arial"/>
                          <a:sym typeface="Arial"/>
                        </a:rPr>
                        <a:t>Người duyệt </a:t>
                      </a:r>
                      <a:r>
                        <a:rPr b="0" i="0" lang="en-US" sz="1250" u="none" cap="none" strike="noStrike">
                          <a:solidFill>
                            <a:srgbClr val="222222"/>
                          </a:solidFill>
                          <a:latin typeface="Consolas"/>
                          <a:ea typeface="Consolas"/>
                          <a:cs typeface="Consolas"/>
                          <a:sym typeface="Consolas"/>
                        </a:rPr>
                        <a:t>labels.csv</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1026" name="Google Shape;1026;p49"/>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7" name="Google Shape;1027;p49"/>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8" name="Google Shape;1028;p49"/>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rgbClr val="111111"/>
                </a:solidFill>
                <a:latin typeface="Arial"/>
                <a:ea typeface="Arial"/>
                <a:cs typeface="Arial"/>
                <a:sym typeface="Arial"/>
              </a:rPr>
              <a:t>AI là </a:t>
            </a:r>
            <a:r>
              <a:rPr b="1" i="0" lang="en-US" sz="1400">
                <a:solidFill>
                  <a:srgbClr val="111111"/>
                </a:solidFill>
                <a:latin typeface="Arial"/>
                <a:ea typeface="Arial"/>
                <a:cs typeface="Arial"/>
                <a:sym typeface="Arial"/>
              </a:rPr>
              <a:t>trợ lý tăng tốc</a:t>
            </a:r>
            <a:r>
              <a:rPr b="0" i="0" lang="en-US" sz="1400">
                <a:solidFill>
                  <a:srgbClr val="111111"/>
                </a:solidFill>
                <a:latin typeface="Arial"/>
                <a:ea typeface="Arial"/>
                <a:cs typeface="Arial"/>
                <a:sym typeface="Arial"/>
              </a:rPr>
              <a:t>; Playwright giữ đặc tả, người dùng thật đo trải nghiệm, con người duyệt cuối.</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cxnSp>
        <p:nvCxnSpPr>
          <p:cNvPr id="1034" name="Google Shape;1034;p50"/>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1035" name="Google Shape;1035;p50"/>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1036" name="Google Shape;1036;p50"/>
          <p:cNvSpPr txBox="1"/>
          <p:nvPr/>
        </p:nvSpPr>
        <p:spPr>
          <a:xfrm>
            <a:off x="548640" y="640080"/>
            <a:ext cx="36576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600">
                <a:solidFill>
                  <a:srgbClr val="C8CBD0"/>
                </a:solidFill>
                <a:latin typeface="Arial"/>
                <a:ea typeface="Arial"/>
                <a:cs typeface="Arial"/>
                <a:sym typeface="Arial"/>
              </a:rPr>
              <a:t>09</a:t>
            </a:r>
            <a:endParaRPr/>
          </a:p>
        </p:txBody>
      </p:sp>
      <p:sp>
        <p:nvSpPr>
          <p:cNvPr id="1037" name="Google Shape;1037;p50"/>
          <p:cNvSpPr txBox="1"/>
          <p:nvPr/>
        </p:nvSpPr>
        <p:spPr>
          <a:xfrm>
            <a:off x="548640" y="2148840"/>
            <a:ext cx="1078992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a:solidFill>
                  <a:srgbClr val="111111"/>
                </a:solidFill>
                <a:latin typeface="Arial"/>
                <a:ea typeface="Arial"/>
                <a:cs typeface="Arial"/>
                <a:sym typeface="Arial"/>
              </a:rPr>
              <a:t>Bài tập áp dụng</a:t>
            </a:r>
            <a:endParaRPr/>
          </a:p>
        </p:txBody>
      </p:sp>
      <p:cxnSp>
        <p:nvCxnSpPr>
          <p:cNvPr id="1038" name="Google Shape;1038;p50"/>
          <p:cNvCxnSpPr/>
          <p:nvPr/>
        </p:nvCxnSpPr>
        <p:spPr>
          <a:xfrm>
            <a:off x="548640" y="306324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1039" name="Google Shape;1039;p50"/>
          <p:cNvSpPr txBox="1"/>
          <p:nvPr/>
        </p:nvSpPr>
        <p:spPr>
          <a:xfrm>
            <a:off x="548640" y="333756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01</a:t>
            </a:r>
            <a:endParaRPr/>
          </a:p>
        </p:txBody>
      </p:sp>
      <p:sp>
        <p:nvSpPr>
          <p:cNvPr id="1040" name="Google Shape;1040;p50"/>
          <p:cNvSpPr txBox="1"/>
          <p:nvPr/>
        </p:nvSpPr>
        <p:spPr>
          <a:xfrm>
            <a:off x="1188720" y="333756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Trên lớp: Heuristic Showdown thu nhỏ (90 giây)</a:t>
            </a:r>
            <a:endParaRPr/>
          </a:p>
        </p:txBody>
      </p:sp>
      <p:sp>
        <p:nvSpPr>
          <p:cNvPr id="1041" name="Google Shape;1041;p50"/>
          <p:cNvSpPr txBox="1"/>
          <p:nvPr/>
        </p:nvSpPr>
        <p:spPr>
          <a:xfrm>
            <a:off x="548640" y="384048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02</a:t>
            </a:r>
            <a:endParaRPr/>
          </a:p>
        </p:txBody>
      </p:sp>
      <p:sp>
        <p:nvSpPr>
          <p:cNvPr id="1042" name="Google Shape;1042;p50"/>
          <p:cNvSpPr txBox="1"/>
          <p:nvPr/>
        </p:nvSpPr>
        <p:spPr>
          <a:xfrm>
            <a:off x="1188720" y="384048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Về nhà: 3 bài có gợi ý, đáp án nộp riêng</a:t>
            </a:r>
            <a:endParaRPr/>
          </a:p>
        </p:txBody>
      </p:sp>
      <p:sp>
        <p:nvSpPr>
          <p:cNvPr id="1043" name="Google Shape;1043;p50"/>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50</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51"/>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Heuristic Showdown: bạn hay AI?</a:t>
            </a:r>
            <a:endParaRPr/>
          </a:p>
        </p:txBody>
      </p:sp>
      <p:sp>
        <p:nvSpPr>
          <p:cNvPr id="1050" name="Google Shape;1050;p51"/>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09</a:t>
            </a:r>
            <a:endParaRPr/>
          </a:p>
        </p:txBody>
      </p:sp>
      <p:sp>
        <p:nvSpPr>
          <p:cNvPr id="1051" name="Google Shape;1051;p51"/>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51</a:t>
            </a:r>
            <a:endParaRPr/>
          </a:p>
        </p:txBody>
      </p:sp>
      <p:sp>
        <p:nvSpPr>
          <p:cNvPr id="1052" name="Google Shape;1052;p51"/>
          <p:cNvSpPr/>
          <p:nvPr/>
        </p:nvSpPr>
        <p:spPr>
          <a:xfrm>
            <a:off x="497687" y="1179576"/>
            <a:ext cx="11196320" cy="3127248"/>
          </a:xfrm>
          <a:prstGeom prst="rect">
            <a:avLst/>
          </a:prstGeom>
          <a:solidFill>
            <a:srgbClr val="FFFFFF"/>
          </a:solidFill>
          <a:ln cap="flat" cmpd="sng" w="12700">
            <a:solidFill>
              <a:srgbClr val="C8CB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20261015-cart-tong-tam-tinh-va-nut-xanh-la.png" id="1053" name="Google Shape;1053;p51"/>
          <p:cNvPicPr preferRelativeResize="0"/>
          <p:nvPr/>
        </p:nvPicPr>
        <p:blipFill rotWithShape="1">
          <a:blip r:embed="rId3">
            <a:alphaModFix/>
          </a:blip>
          <a:srcRect b="0" l="0" r="0" t="0"/>
          <a:stretch/>
        </p:blipFill>
        <p:spPr>
          <a:xfrm>
            <a:off x="552551" y="1234440"/>
            <a:ext cx="11086592" cy="3017520"/>
          </a:xfrm>
          <a:prstGeom prst="rect">
            <a:avLst/>
          </a:prstGeom>
          <a:noFill/>
          <a:ln>
            <a:noFill/>
          </a:ln>
        </p:spPr>
      </p:pic>
      <p:sp>
        <p:nvSpPr>
          <p:cNvPr id="1054" name="Google Shape;1054;p51"/>
          <p:cNvSpPr txBox="1"/>
          <p:nvPr/>
        </p:nvSpPr>
        <p:spPr>
          <a:xfrm>
            <a:off x="548640" y="4572000"/>
            <a:ext cx="5272888"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111111"/>
                </a:solidFill>
                <a:latin typeface="Arial"/>
                <a:ea typeface="Arial"/>
                <a:cs typeface="Arial"/>
                <a:sym typeface="Arial"/>
              </a:rPr>
              <a:t>60 giây cho cả lớp</a:t>
            </a:r>
            <a:endParaRPr/>
          </a:p>
        </p:txBody>
      </p:sp>
      <p:sp>
        <p:nvSpPr>
          <p:cNvPr id="1055" name="Google Shape;1055;p51"/>
          <p:cNvSpPr txBox="1"/>
          <p:nvPr/>
        </p:nvSpPr>
        <p:spPr>
          <a:xfrm>
            <a:off x="548640" y="5029200"/>
            <a:ext cx="5272888" cy="1097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Tìm </a:t>
            </a:r>
            <a:r>
              <a:rPr b="1" i="0" lang="en-US" sz="1600">
                <a:solidFill>
                  <a:srgbClr val="222222"/>
                </a:solidFill>
                <a:latin typeface="Arial"/>
                <a:ea typeface="Arial"/>
                <a:cs typeface="Arial"/>
                <a:sym typeface="Arial"/>
              </a:rPr>
              <a:t>càng nhiều vi phạm heuristic (H1–H10)</a:t>
            </a:r>
            <a:r>
              <a:rPr b="0" i="0" lang="en-US" sz="1600">
                <a:solidFill>
                  <a:srgbClr val="222222"/>
                </a:solidFill>
                <a:latin typeface="Arial"/>
                <a:ea typeface="Arial"/>
                <a:cs typeface="Arial"/>
                <a:sym typeface="Arial"/>
              </a:rPr>
              <a:t> trên trang Giỏ hàng này càng tốt.</a:t>
            </a:r>
            <a:endParaRPr/>
          </a:p>
        </p:txBody>
      </p:sp>
      <p:cxnSp>
        <p:nvCxnSpPr>
          <p:cNvPr id="1056" name="Google Shape;1056;p51"/>
          <p:cNvCxnSpPr/>
          <p:nvPr/>
        </p:nvCxnSpPr>
        <p:spPr>
          <a:xfrm>
            <a:off x="6095848" y="4572000"/>
            <a:ext cx="0" cy="155448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1057" name="Google Shape;1057;p51"/>
          <p:cNvSpPr txBox="1"/>
          <p:nvPr/>
        </p:nvSpPr>
        <p:spPr>
          <a:xfrm>
            <a:off x="6370168" y="4572000"/>
            <a:ext cx="5272888"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111111"/>
                </a:solidFill>
                <a:latin typeface="Arial"/>
                <a:ea typeface="Arial"/>
                <a:cs typeface="Arial"/>
                <a:sym typeface="Arial"/>
              </a:rPr>
              <a:t>30 giây tiếp: so với AI</a:t>
            </a:r>
            <a:endParaRPr/>
          </a:p>
        </p:txBody>
      </p:sp>
      <p:sp>
        <p:nvSpPr>
          <p:cNvPr id="1058" name="Google Shape;1058;p51"/>
          <p:cNvSpPr txBox="1"/>
          <p:nvPr/>
        </p:nvSpPr>
        <p:spPr>
          <a:xfrm>
            <a:off x="6370168" y="5029200"/>
            <a:ext cx="5272888" cy="1097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222222"/>
                </a:solidFill>
                <a:latin typeface="Arial"/>
                <a:ea typeface="Arial"/>
                <a:cs typeface="Arial"/>
                <a:sym typeface="Arial"/>
              </a:rPr>
              <a:t>Nhóm chiếu kết quả AI </a:t>
            </a:r>
            <a:r>
              <a:rPr b="1" i="0" lang="en-US" sz="1600">
                <a:solidFill>
                  <a:srgbClr val="222222"/>
                </a:solidFill>
                <a:latin typeface="Arial"/>
                <a:ea typeface="Arial"/>
                <a:cs typeface="Arial"/>
                <a:sym typeface="Arial"/>
              </a:rPr>
              <a:t>đã chạy sẵn trên cùng ảnh</a:t>
            </a:r>
            <a:r>
              <a:rPr b="0" i="0" lang="en-US" sz="1600">
                <a:solidFill>
                  <a:srgbClr val="222222"/>
                </a:solidFill>
                <a:latin typeface="Arial"/>
                <a:ea typeface="Arial"/>
                <a:cs typeface="Arial"/>
                <a:sym typeface="Arial"/>
              </a:rPr>
              <a:t> → ai thấy nhiều lỗi đúng hơn?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52"/>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Bài tập về nhà</a:t>
            </a:r>
            <a:endParaRPr/>
          </a:p>
        </p:txBody>
      </p:sp>
      <p:sp>
        <p:nvSpPr>
          <p:cNvPr id="1065" name="Google Shape;1065;p52"/>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09</a:t>
            </a:r>
            <a:endParaRPr/>
          </a:p>
        </p:txBody>
      </p:sp>
      <p:sp>
        <p:nvSpPr>
          <p:cNvPr id="1066" name="Google Shape;1066;p52"/>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52</a:t>
            </a:r>
            <a:endParaRPr/>
          </a:p>
        </p:txBody>
      </p:sp>
      <p:graphicFrame>
        <p:nvGraphicFramePr>
          <p:cNvPr id="1067" name="Google Shape;1067;p52"/>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739625"/>
                <a:gridCol w="5547200"/>
                <a:gridCol w="4807575"/>
              </a:tblGrid>
              <a:tr h="54865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Bài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Nội dung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File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Viết test Playwright kiểm 1 lỗi GUI trên EShop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Consolas"/>
                          <a:ea typeface="Consolas"/>
                          <a:cs typeface="Consolas"/>
                          <a:sym typeface="Consolas"/>
                        </a:rPr>
                        <a:t>exercises/bai-1-playwright.md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Heuristic Showdown đầy đủ: luồng Checkout, so với AI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Consolas"/>
                          <a:ea typeface="Consolas"/>
                          <a:cs typeface="Consolas"/>
                          <a:sym typeface="Consolas"/>
                        </a:rPr>
                        <a:t>exercises/bai-2-heuristic-showdown.md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Tính điểm SUS từ bảng trả lời mẫu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Consolas"/>
                          <a:ea typeface="Consolas"/>
                          <a:cs typeface="Consolas"/>
                          <a:sym typeface="Consolas"/>
                        </a:rPr>
                        <a:t>exercises/bai-3-maze-sus.md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548650">
                <a:tc>
                  <a:txBody>
                    <a:bodyPr/>
                    <a:lstStyle/>
                    <a:p>
                      <a:pPr indent="0" lvl="0" marL="0" marR="0" rtl="0" algn="l">
                        <a:spcBef>
                          <a:spcPts val="0"/>
                        </a:spcBef>
                        <a:spcAft>
                          <a:spcPts val="0"/>
                        </a:spcAft>
                        <a:buNone/>
                      </a:pPr>
                      <a:r>
                        <a:rPr b="1" i="0" lang="en-US" sz="1400" u="none" cap="none" strike="noStrike">
                          <a:solidFill>
                            <a:srgbClr val="222222"/>
                          </a:solidFill>
                          <a:latin typeface="Arial"/>
                          <a:ea typeface="Arial"/>
                          <a:cs typeface="Arial"/>
                          <a:sym typeface="Arial"/>
                        </a:rPr>
                        <a: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00" u="none" cap="none" strike="noStrike">
                          <a:solidFill>
                            <a:srgbClr val="222222"/>
                          </a:solidFill>
                          <a:latin typeface="Arial"/>
                          <a:ea typeface="Arial"/>
                          <a:cs typeface="Arial"/>
                          <a:sym typeface="Arial"/>
                        </a:rPr>
                        <a:t>Checklist rút gọn để tự chấm EShop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Consolas"/>
                          <a:ea typeface="Consolas"/>
                          <a:cs typeface="Consolas"/>
                          <a:sym typeface="Consolas"/>
                        </a:rPr>
                        <a:t>exercises/checklist-rut-gon.md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cxnSp>
        <p:nvCxnSpPr>
          <p:cNvPr id="1073" name="Google Shape;1073;p53"/>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1074" name="Google Shape;1074;p53"/>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1075" name="Google Shape;1075;p53"/>
          <p:cNvSpPr txBox="1"/>
          <p:nvPr/>
        </p:nvSpPr>
        <p:spPr>
          <a:xfrm>
            <a:off x="548640" y="640080"/>
            <a:ext cx="3657600"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600">
                <a:solidFill>
                  <a:srgbClr val="C8CBD0"/>
                </a:solidFill>
                <a:latin typeface="Arial"/>
                <a:ea typeface="Arial"/>
                <a:cs typeface="Arial"/>
                <a:sym typeface="Arial"/>
              </a:rPr>
              <a:t>10</a:t>
            </a:r>
            <a:endParaRPr/>
          </a:p>
        </p:txBody>
      </p:sp>
      <p:sp>
        <p:nvSpPr>
          <p:cNvPr id="1076" name="Google Shape;1076;p53"/>
          <p:cNvSpPr txBox="1"/>
          <p:nvPr/>
        </p:nvSpPr>
        <p:spPr>
          <a:xfrm>
            <a:off x="548640" y="2148840"/>
            <a:ext cx="1078992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000">
                <a:solidFill>
                  <a:srgbClr val="111111"/>
                </a:solidFill>
                <a:latin typeface="Arial"/>
                <a:ea typeface="Arial"/>
                <a:cs typeface="Arial"/>
                <a:sym typeface="Arial"/>
              </a:rPr>
              <a:t>Tổng kết</a:t>
            </a:r>
            <a:endParaRPr/>
          </a:p>
        </p:txBody>
      </p:sp>
      <p:cxnSp>
        <p:nvCxnSpPr>
          <p:cNvPr id="1077" name="Google Shape;1077;p53"/>
          <p:cNvCxnSpPr/>
          <p:nvPr/>
        </p:nvCxnSpPr>
        <p:spPr>
          <a:xfrm>
            <a:off x="548640" y="306324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1078" name="Google Shape;1078;p53"/>
          <p:cNvSpPr txBox="1"/>
          <p:nvPr/>
        </p:nvSpPr>
        <p:spPr>
          <a:xfrm>
            <a:off x="548640" y="333756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01</a:t>
            </a:r>
            <a:endParaRPr/>
          </a:p>
        </p:txBody>
      </p:sp>
      <p:sp>
        <p:nvSpPr>
          <p:cNvPr id="1079" name="Google Shape;1079;p53"/>
          <p:cNvSpPr txBox="1"/>
          <p:nvPr/>
        </p:nvSpPr>
        <p:spPr>
          <a:xfrm>
            <a:off x="1188720" y="333756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4 cách kiểm thử trên cùng một luồng</a:t>
            </a:r>
            <a:endParaRPr/>
          </a:p>
        </p:txBody>
      </p:sp>
      <p:sp>
        <p:nvSpPr>
          <p:cNvPr id="1080" name="Google Shape;1080;p53"/>
          <p:cNvSpPr txBox="1"/>
          <p:nvPr/>
        </p:nvSpPr>
        <p:spPr>
          <a:xfrm>
            <a:off x="548640" y="3840480"/>
            <a:ext cx="54864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0B3A6E"/>
                </a:solidFill>
                <a:latin typeface="Consolas"/>
                <a:ea typeface="Consolas"/>
                <a:cs typeface="Consolas"/>
                <a:sym typeface="Consolas"/>
              </a:rPr>
              <a:t>02</a:t>
            </a:r>
            <a:endParaRPr/>
          </a:p>
        </p:txBody>
      </p:sp>
      <p:sp>
        <p:nvSpPr>
          <p:cNvPr id="1081" name="Google Shape;1081;p53"/>
          <p:cNvSpPr txBox="1"/>
          <p:nvPr/>
        </p:nvSpPr>
        <p:spPr>
          <a:xfrm>
            <a:off x="1188720" y="3840480"/>
            <a:ext cx="96012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Bài học của nhóm</a:t>
            </a:r>
            <a:endParaRPr/>
          </a:p>
        </p:txBody>
      </p:sp>
      <p:sp>
        <p:nvSpPr>
          <p:cNvPr id="1082" name="Google Shape;1082;p53"/>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53</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54"/>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4 cách, cùng một luồng mua hàng</a:t>
            </a:r>
            <a:endParaRPr/>
          </a:p>
        </p:txBody>
      </p:sp>
      <p:sp>
        <p:nvSpPr>
          <p:cNvPr id="1089" name="Google Shape;1089;p54"/>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10</a:t>
            </a:r>
            <a:endParaRPr/>
          </a:p>
        </p:txBody>
      </p:sp>
      <p:sp>
        <p:nvSpPr>
          <p:cNvPr id="1090" name="Google Shape;1090;p54"/>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54</a:t>
            </a:r>
            <a:endParaRPr/>
          </a:p>
        </p:txBody>
      </p:sp>
      <p:graphicFrame>
        <p:nvGraphicFramePr>
          <p:cNvPr id="1091" name="Google Shape;1091;p54"/>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2326250"/>
                <a:gridCol w="1789425"/>
                <a:gridCol w="2326250"/>
                <a:gridCol w="2326250"/>
                <a:gridCol w="2326250"/>
              </a:tblGrid>
              <a:tr h="621800">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Cách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Trả lời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Mạnh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Yếu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11111"/>
                          </a:solidFill>
                          <a:latin typeface="Arial"/>
                          <a:ea typeface="Arial"/>
                          <a:cs typeface="Arial"/>
                          <a:sym typeface="Arial"/>
                        </a:rPr>
                        <a:t>Con số của nhóm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621800">
                <a:tc>
                  <a:txBody>
                    <a:bodyPr/>
                    <a:lstStyle/>
                    <a:p>
                      <a:pPr indent="0" lvl="0" marL="0" marR="0" rtl="0" algn="l">
                        <a:spcBef>
                          <a:spcPts val="0"/>
                        </a:spcBef>
                        <a:spcAft>
                          <a:spcPts val="0"/>
                        </a:spcAft>
                        <a:buNone/>
                      </a:pPr>
                      <a:r>
                        <a:rPr b="1" i="0" lang="en-US" sz="1300" u="none" cap="none" strike="noStrike">
                          <a:solidFill>
                            <a:srgbClr val="222222"/>
                          </a:solidFill>
                          <a:latin typeface="Arial"/>
                          <a:ea typeface="Arial"/>
                          <a:cs typeface="Arial"/>
                          <a:sym typeface="Arial"/>
                        </a:rPr>
                        <a:t>Checklist thủ công (nền)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Đúng đặc tả?</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Đủ ý, ai cũng làm được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Chậm, làm lại mỗi lần sửa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26/50 câu Fail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621800">
                <a:tc>
                  <a:txBody>
                    <a:bodyPr/>
                    <a:lstStyle/>
                    <a:p>
                      <a:pPr indent="0" lvl="0" marL="0" marR="0" rtl="0" algn="l">
                        <a:spcBef>
                          <a:spcPts val="0"/>
                        </a:spcBef>
                        <a:spcAft>
                          <a:spcPts val="0"/>
                        </a:spcAft>
                        <a:buNone/>
                      </a:pPr>
                      <a:r>
                        <a:rPr b="1" i="0" lang="en-US" sz="1300" u="none" cap="none" strike="noStrike">
                          <a:solidFill>
                            <a:srgbClr val="222222"/>
                          </a:solidFill>
                          <a:latin typeface="Arial"/>
                          <a:ea typeface="Arial"/>
                          <a:cs typeface="Arial"/>
                          <a:sym typeface="Arial"/>
                        </a:rPr>
                        <a:t>Playwright + axe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Đúng đặc tả?</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Chạy lặp, nhiều viewport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Không biết "dễ dùng"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5 trang × 3 viewport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621800">
                <a:tc>
                  <a:txBody>
                    <a:bodyPr/>
                    <a:lstStyle/>
                    <a:p>
                      <a:pPr indent="0" lvl="0" marL="0" marR="0" rtl="0" algn="l">
                        <a:spcBef>
                          <a:spcPts val="0"/>
                        </a:spcBef>
                        <a:spcAft>
                          <a:spcPts val="0"/>
                        </a:spcAft>
                        <a:buNone/>
                      </a:pPr>
                      <a:r>
                        <a:rPr b="1" i="0" lang="en-US" sz="1300" u="none" cap="none" strike="noStrike">
                          <a:solidFill>
                            <a:srgbClr val="222222"/>
                          </a:solidFill>
                          <a:latin typeface="Arial"/>
                          <a:ea typeface="Arial"/>
                          <a:cs typeface="Arial"/>
                          <a:sym typeface="Arial"/>
                        </a:rPr>
                        <a:t>UXtweak + Clarity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Dùng được không?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Hành vi người dùng thật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Ít người, khó hỏi vì sao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~5 người (đang thu thập)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621800">
                <a:tc>
                  <a:txBody>
                    <a:bodyPr/>
                    <a:lstStyle/>
                    <a:p>
                      <a:pPr indent="0" lvl="0" marL="0" marR="0" rtl="0" algn="l">
                        <a:spcBef>
                          <a:spcPts val="0"/>
                        </a:spcBef>
                        <a:spcAft>
                          <a:spcPts val="0"/>
                        </a:spcAft>
                        <a:buNone/>
                      </a:pPr>
                      <a:r>
                        <a:rPr b="1" i="0" lang="en-US" sz="1300" u="none" cap="none" strike="noStrike">
                          <a:solidFill>
                            <a:srgbClr val="222222"/>
                          </a:solidFill>
                          <a:latin typeface="Arial"/>
                          <a:ea typeface="Arial"/>
                          <a:cs typeface="Arial"/>
                          <a:sym typeface="Arial"/>
                        </a:rPr>
                        <a:t>AI Heuristic Reviewer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Cả hai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Nhanh, tái dùng web khác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Bỏ sót, báo nhầm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00" u="none" cap="none" strike="noStrike">
                          <a:solidFill>
                            <a:srgbClr val="222222"/>
                          </a:solidFill>
                          <a:latin typeface="Arial"/>
                          <a:ea typeface="Arial"/>
                          <a:cs typeface="Arial"/>
                          <a:sym typeface="Arial"/>
                        </a:rPr>
                        <a:t>Precision 0,76 · Recall 0,45 (tạm)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8CBD0">
                          <a:alpha val="0"/>
                        </a:srgbClr>
                      </a:solidFill>
                      <a:prstDash val="solid"/>
                      <a:round/>
                      <a:headEnd len="sm" w="sm" type="none"/>
                      <a:tailEnd len="sm" w="sm" type="none"/>
                    </a:lnT>
                    <a:lnB cap="flat" cmpd="sng" w="25400">
                      <a:solidFill>
                        <a:srgbClr val="111111"/>
                      </a:solidFill>
                      <a:prstDash val="solid"/>
                      <a:round/>
                      <a:headEnd len="sm" w="sm" type="none"/>
                      <a:tailEnd len="sm" w="sm" type="none"/>
                    </a:lnB>
                  </a:tcPr>
                </a:tc>
              </a:tr>
            </a:tbl>
          </a:graphicData>
        </a:graphic>
      </p:graphicFrame>
      <p:sp>
        <p:nvSpPr>
          <p:cNvPr id="1092" name="Google Shape;1092;p54"/>
          <p:cNvSpPr/>
          <p:nvPr/>
        </p:nvSpPr>
        <p:spPr>
          <a:xfrm>
            <a:off x="548640" y="5687568"/>
            <a:ext cx="11094415" cy="566928"/>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93" name="Google Shape;1093;p54"/>
          <p:cNvSpPr/>
          <p:nvPr/>
        </p:nvSpPr>
        <p:spPr>
          <a:xfrm>
            <a:off x="548640" y="5687568"/>
            <a:ext cx="64008" cy="566928"/>
          </a:xfrm>
          <a:prstGeom prst="rect">
            <a:avLst/>
          </a:prstGeom>
          <a:solidFill>
            <a:srgbClr val="0B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94" name="Google Shape;1094;p54"/>
          <p:cNvSpPr txBox="1"/>
          <p:nvPr/>
        </p:nvSpPr>
        <p:spPr>
          <a:xfrm>
            <a:off x="804672" y="5687568"/>
            <a:ext cx="10728655" cy="56692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00">
                <a:solidFill>
                  <a:srgbClr val="111111"/>
                </a:solidFill>
                <a:latin typeface="Arial"/>
                <a:ea typeface="Arial"/>
                <a:cs typeface="Arial"/>
                <a:sym typeface="Arial"/>
              </a:rPr>
              <a:t>Người đặt tiêu chí, máy chạy lặp, AI tăng tốc, người duyệt cuối.</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cxnSp>
        <p:nvCxnSpPr>
          <p:cNvPr id="1100" name="Google Shape;1100;p55"/>
          <p:cNvCxnSpPr/>
          <p:nvPr/>
        </p:nvCxnSpPr>
        <p:spPr>
          <a:xfrm>
            <a:off x="320040"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cxnSp>
        <p:nvCxnSpPr>
          <p:cNvPr id="1101" name="Google Shape;1101;p55"/>
          <p:cNvCxnSpPr/>
          <p:nvPr/>
        </p:nvCxnSpPr>
        <p:spPr>
          <a:xfrm>
            <a:off x="11868912" y="0"/>
            <a:ext cx="0" cy="6858000"/>
          </a:xfrm>
          <a:prstGeom prst="straightConnector1">
            <a:avLst/>
          </a:prstGeom>
          <a:noFill/>
          <a:ln cap="flat" cmpd="sng" w="9525">
            <a:solidFill>
              <a:srgbClr val="E6E8EB"/>
            </a:solidFill>
            <a:prstDash val="solid"/>
            <a:round/>
            <a:headEnd len="sm" w="sm" type="none"/>
            <a:tailEnd len="sm" w="sm" type="none"/>
          </a:ln>
          <a:effectLst>
            <a:outerShdw blurRad="40000" rotWithShape="0" dir="5400000" dist="20000">
              <a:srgbClr val="000000">
                <a:alpha val="38039"/>
              </a:srgbClr>
            </a:outerShdw>
          </a:effectLst>
        </p:spPr>
      </p:cxnSp>
      <p:sp>
        <p:nvSpPr>
          <p:cNvPr id="1102" name="Google Shape;1102;p55"/>
          <p:cNvSpPr txBox="1"/>
          <p:nvPr/>
        </p:nvSpPr>
        <p:spPr>
          <a:xfrm>
            <a:off x="548640" y="822960"/>
            <a:ext cx="11094415" cy="1097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800">
                <a:solidFill>
                  <a:srgbClr val="111111"/>
                </a:solidFill>
                <a:latin typeface="Arial"/>
                <a:ea typeface="Arial"/>
                <a:cs typeface="Arial"/>
                <a:sym typeface="Arial"/>
              </a:rPr>
              <a:t>Cảm ơn thầy và các bạn</a:t>
            </a:r>
            <a:endParaRPr/>
          </a:p>
        </p:txBody>
      </p:sp>
      <p:cxnSp>
        <p:nvCxnSpPr>
          <p:cNvPr id="1103" name="Google Shape;1103;p55"/>
          <p:cNvCxnSpPr/>
          <p:nvPr/>
        </p:nvCxnSpPr>
        <p:spPr>
          <a:xfrm>
            <a:off x="548640" y="1965960"/>
            <a:ext cx="11094415" cy="0"/>
          </a:xfrm>
          <a:prstGeom prst="straightConnector1">
            <a:avLst/>
          </a:prstGeom>
          <a:noFill/>
          <a:ln cap="flat" cmpd="sng" w="15875">
            <a:solidFill>
              <a:srgbClr val="111111"/>
            </a:solidFill>
            <a:prstDash val="solid"/>
            <a:round/>
            <a:headEnd len="sm" w="sm" type="none"/>
            <a:tailEnd len="sm" w="sm" type="none"/>
          </a:ln>
          <a:effectLst>
            <a:outerShdw blurRad="40000" rotWithShape="0" dir="5400000" dist="20000">
              <a:srgbClr val="000000">
                <a:alpha val="38039"/>
              </a:srgbClr>
            </a:outerShdw>
          </a:effectLst>
        </p:spPr>
      </p:cxnSp>
      <p:sp>
        <p:nvSpPr>
          <p:cNvPr id="1104" name="Google Shape;1104;p55"/>
          <p:cNvSpPr txBox="1"/>
          <p:nvPr/>
        </p:nvSpPr>
        <p:spPr>
          <a:xfrm>
            <a:off x="548640" y="2148840"/>
            <a:ext cx="1109441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600">
                <a:solidFill>
                  <a:srgbClr val="5F6368"/>
                </a:solidFill>
                <a:latin typeface="Arial"/>
                <a:ea typeface="Arial"/>
                <a:cs typeface="Arial"/>
                <a:sym typeface="Arial"/>
              </a:rPr>
              <a:t>Câu hỏi &amp; thảo luận</a:t>
            </a:r>
            <a:endParaRPr/>
          </a:p>
        </p:txBody>
      </p:sp>
      <p:sp>
        <p:nvSpPr>
          <p:cNvPr id="1105" name="Google Shape;1105;p55"/>
          <p:cNvSpPr txBox="1"/>
          <p:nvPr/>
        </p:nvSpPr>
        <p:spPr>
          <a:xfrm>
            <a:off x="548640" y="3291840"/>
            <a:ext cx="5272888"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111111"/>
                </a:solidFill>
                <a:latin typeface="Arial"/>
                <a:ea typeface="Arial"/>
                <a:cs typeface="Arial"/>
                <a:sym typeface="Arial"/>
              </a:rPr>
              <a:t>Repo · slide · bài tập</a:t>
            </a:r>
            <a:endParaRPr/>
          </a:p>
        </p:txBody>
      </p:sp>
      <p:sp>
        <p:nvSpPr>
          <p:cNvPr id="1106" name="Google Shape;1106;p55"/>
          <p:cNvSpPr txBox="1"/>
          <p:nvPr/>
        </p:nvSpPr>
        <p:spPr>
          <a:xfrm>
            <a:off x="548640" y="3840480"/>
            <a:ext cx="5272888"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222222"/>
                </a:solidFill>
                <a:latin typeface="Consolas"/>
                <a:ea typeface="Consolas"/>
                <a:cs typeface="Consolas"/>
                <a:sym typeface="Consolas"/>
              </a:rPr>
              <a:t>github.com/kqanGit/seminar_gui_usability_testing</a:t>
            </a:r>
            <a:endParaRPr/>
          </a:p>
          <a:p>
            <a:pPr indent="0" lvl="0" marL="0" marR="0" rtl="0" algn="l">
              <a:spcBef>
                <a:spcPts val="1000"/>
              </a:spcBef>
              <a:spcAft>
                <a:spcPts val="0"/>
              </a:spcAft>
              <a:buNone/>
            </a:pPr>
            <a:r>
              <a:rPr b="0" i="0" lang="en-US" sz="1500">
                <a:solidFill>
                  <a:srgbClr val="222222"/>
                </a:solidFill>
                <a:latin typeface="Arial"/>
                <a:ea typeface="Arial"/>
                <a:cs typeface="Arial"/>
                <a:sym typeface="Arial"/>
              </a:rPr>
              <a:t>SUT EShop, checklist 50 câu, Playwright tests, Agent Skill</a:t>
            </a:r>
            <a:endParaRPr/>
          </a:p>
        </p:txBody>
      </p:sp>
      <p:cxnSp>
        <p:nvCxnSpPr>
          <p:cNvPr id="1107" name="Google Shape;1107;p55"/>
          <p:cNvCxnSpPr/>
          <p:nvPr/>
        </p:nvCxnSpPr>
        <p:spPr>
          <a:xfrm>
            <a:off x="6095848" y="3291840"/>
            <a:ext cx="0" cy="2011680"/>
          </a:xfrm>
          <a:prstGeom prst="straightConnector1">
            <a:avLst/>
          </a:prstGeom>
          <a:noFill/>
          <a:ln cap="flat" cmpd="sng" w="12700">
            <a:solidFill>
              <a:srgbClr val="C8CBD0"/>
            </a:solidFill>
            <a:prstDash val="solid"/>
            <a:round/>
            <a:headEnd len="sm" w="sm" type="none"/>
            <a:tailEnd len="sm" w="sm" type="none"/>
          </a:ln>
          <a:effectLst>
            <a:outerShdw blurRad="40000" rotWithShape="0" dir="5400000" dist="20000">
              <a:srgbClr val="000000">
                <a:alpha val="38039"/>
              </a:srgbClr>
            </a:outerShdw>
          </a:effectLst>
        </p:spPr>
      </p:cxnSp>
      <p:sp>
        <p:nvSpPr>
          <p:cNvPr id="1108" name="Google Shape;1108;p55"/>
          <p:cNvSpPr txBox="1"/>
          <p:nvPr/>
        </p:nvSpPr>
        <p:spPr>
          <a:xfrm>
            <a:off x="6370168" y="3291840"/>
            <a:ext cx="5272888"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111111"/>
                </a:solidFill>
                <a:latin typeface="Arial"/>
                <a:ea typeface="Arial"/>
                <a:cs typeface="Arial"/>
                <a:sym typeface="Arial"/>
              </a:rPr>
              <a:t>9 video demo</a:t>
            </a:r>
            <a:endParaRPr/>
          </a:p>
        </p:txBody>
      </p:sp>
      <p:sp>
        <p:nvSpPr>
          <p:cNvPr id="1109" name="Google Shape;1109;p55"/>
          <p:cNvSpPr txBox="1"/>
          <p:nvPr/>
        </p:nvSpPr>
        <p:spPr>
          <a:xfrm>
            <a:off x="6370168" y="3840480"/>
            <a:ext cx="5272888" cy="1463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a:solidFill>
                  <a:srgbClr val="222222"/>
                </a:solidFill>
                <a:latin typeface="Arial"/>
                <a:ea typeface="Arial"/>
                <a:cs typeface="Arial"/>
                <a:sym typeface="Arial"/>
              </a:rPr>
              <a:t>Danh sách link: </a:t>
            </a:r>
            <a:r>
              <a:rPr b="0" i="0" lang="en-US" sz="1400">
                <a:solidFill>
                  <a:srgbClr val="222222"/>
                </a:solidFill>
                <a:latin typeface="Consolas"/>
                <a:ea typeface="Consolas"/>
                <a:cs typeface="Consolas"/>
                <a:sym typeface="Consolas"/>
              </a:rPr>
              <a:t>videos/README.md</a:t>
            </a:r>
            <a:endParaRPr/>
          </a:p>
          <a:p>
            <a:pPr indent="0" lvl="0" marL="0" marR="0" rtl="0" algn="l">
              <a:spcBef>
                <a:spcPts val="1000"/>
              </a:spcBef>
              <a:spcAft>
                <a:spcPts val="0"/>
              </a:spcAft>
              <a:buNone/>
            </a:pPr>
            <a:r>
              <a:rPr b="0" i="0" lang="en-US" sz="1500">
                <a:solidFill>
                  <a:srgbClr val="222222"/>
                </a:solidFill>
                <a:latin typeface="Arial"/>
                <a:ea typeface="Arial"/>
                <a:cs typeface="Arial"/>
                <a:sym typeface="Arial"/>
              </a:rPr>
              <a:t>Phân công &amp; minh chứng: </a:t>
            </a:r>
            <a:r>
              <a:rPr b="0" i="0" lang="en-US" sz="1400">
                <a:solidFill>
                  <a:srgbClr val="222222"/>
                </a:solidFill>
                <a:latin typeface="Consolas"/>
                <a:ea typeface="Consolas"/>
                <a:cs typeface="Consolas"/>
                <a:sym typeface="Consolas"/>
              </a:rPr>
              <a:t>docs/meetings/</a:t>
            </a:r>
            <a:r>
              <a:rPr b="0" i="0" lang="en-US" sz="1500">
                <a:solidFill>
                  <a:srgbClr val="222222"/>
                </a:solidFill>
                <a:latin typeface="Arial"/>
                <a:ea typeface="Arial"/>
                <a:cs typeface="Arial"/>
                <a:sym typeface="Arial"/>
              </a:rPr>
              <a:t>, </a:t>
            </a:r>
            <a:r>
              <a:rPr b="0" i="0" lang="en-US" sz="1400">
                <a:solidFill>
                  <a:srgbClr val="222222"/>
                </a:solidFill>
                <a:latin typeface="Consolas"/>
                <a:ea typeface="Consolas"/>
                <a:cs typeface="Consolas"/>
                <a:sym typeface="Consolas"/>
              </a:rPr>
              <a:t>AI_DISCLOSURE.md</a:t>
            </a:r>
            <a:endParaRPr/>
          </a:p>
        </p:txBody>
      </p:sp>
      <p:sp>
        <p:nvSpPr>
          <p:cNvPr id="1110" name="Google Shape;1110;p55"/>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Phần 10</a:t>
            </a:r>
            <a:endParaRPr/>
          </a:p>
        </p:txBody>
      </p:sp>
      <p:sp>
        <p:nvSpPr>
          <p:cNvPr id="1111" name="Google Shape;1111;p55"/>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55</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49"/>
          <p:cNvSpPr txBox="1"/>
          <p:nvPr/>
        </p:nvSpPr>
        <p:spPr>
          <a:xfrm>
            <a:off x="548640" y="384048"/>
            <a:ext cx="11094415"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11111"/>
                </a:solidFill>
                <a:latin typeface="Arial"/>
                <a:ea typeface="Arial"/>
                <a:cs typeface="Arial"/>
                <a:sym typeface="Arial"/>
              </a:rPr>
              <a:t>Phụ lục · Ground truth: 11 lỗi G01–G11</a:t>
            </a:r>
            <a:endParaRPr/>
          </a:p>
        </p:txBody>
      </p:sp>
      <p:sp>
        <p:nvSpPr>
          <p:cNvPr id="1023" name="Google Shape;1023;p49"/>
          <p:cNvSpPr txBox="1"/>
          <p:nvPr/>
        </p:nvSpPr>
        <p:spPr>
          <a:xfrm>
            <a:off x="548640" y="6446520"/>
            <a:ext cx="73152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50">
                <a:solidFill>
                  <a:srgbClr val="9A9EA3"/>
                </a:solidFill>
                <a:latin typeface="Arial"/>
                <a:ea typeface="Arial"/>
                <a:cs typeface="Arial"/>
                <a:sym typeface="Arial"/>
              </a:rPr>
              <a:t>Nhóm 09 · T1 GUI &amp; Usability Testing   ·   Phụ lục</a:t>
            </a:r>
            <a:endParaRPr/>
          </a:p>
        </p:txBody>
      </p:sp>
      <p:sp>
        <p:nvSpPr>
          <p:cNvPr id="1024" name="Google Shape;1024;p49"/>
          <p:cNvSpPr txBox="1"/>
          <p:nvPr/>
        </p:nvSpPr>
        <p:spPr>
          <a:xfrm>
            <a:off x="10515600" y="6446520"/>
            <a:ext cx="112471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50">
                <a:solidFill>
                  <a:srgbClr val="9A9EA3"/>
                </a:solidFill>
                <a:latin typeface="Consolas"/>
                <a:ea typeface="Consolas"/>
                <a:cs typeface="Consolas"/>
                <a:sym typeface="Consolas"/>
              </a:rPr>
              <a:t>56</a:t>
            </a:r>
            <a:endParaRPr/>
          </a:p>
        </p:txBody>
      </p:sp>
      <p:graphicFrame>
        <p:nvGraphicFramePr>
          <p:cNvPr id="1025" name="Google Shape;1025;p49"/>
          <p:cNvGraphicFramePr/>
          <p:nvPr/>
        </p:nvGraphicFramePr>
        <p:xfrm>
          <a:off x="548640" y="1115568"/>
          <a:ext cx="3000000" cy="3000000"/>
        </p:xfrm>
        <a:graphic>
          <a:graphicData uri="http://schemas.openxmlformats.org/drawingml/2006/table">
            <a:tbl>
              <a:tblPr>
                <a:noFill/>
                <a:tableStyleId>{A41EB096-C0D3-46DF-A04B-B11FC471E439}</a:tableStyleId>
              </a:tblPr>
              <a:tblGrid>
                <a:gridCol w="2600000"/>
                <a:gridCol w="5394425"/>
                <a:gridCol w="3100000"/>
              </a:tblGrid>
              <a:tr h="395000">
                <a:tc>
                  <a:txBody>
                    <a:bodyPr/>
                    <a:lstStyle/>
                    <a:p>
                      <a:pPr indent="0" lvl="0" marL="0" marR="0" rtl="0" algn="l">
                        <a:spcBef>
                          <a:spcPts val="0"/>
                        </a:spcBef>
                        <a:spcAft>
                          <a:spcPts val="0"/>
                        </a:spcAft>
                        <a:buNone/>
                      </a:pPr>
                      <a:r>
                        <a:rPr b="1" i="0" lang="en-US" sz="1200" u="none" cap="none" strike="noStrike">
                          <a:solidFill>
                            <a:srgbClr val="111111"/>
                          </a:solidFill>
                          <a:latin typeface="Arial"/>
                          <a:ea typeface="Arial"/>
                          <a:cs typeface="Arial"/>
                          <a:sym typeface="Arial"/>
                        </a:rPr>
                        <a:t>ID · Trang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111111"/>
                          </a:solidFill>
                          <a:latin typeface="Arial"/>
                          <a:ea typeface="Arial"/>
                          <a:cs typeface="Arial"/>
                          <a:sym typeface="Arial"/>
                        </a:rPr>
                        <a:t>Lỗi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111111"/>
                          </a:solidFill>
                          <a:latin typeface="Arial"/>
                          <a:ea typeface="Arial"/>
                          <a:cs typeface="Arial"/>
                          <a:sym typeface="Arial"/>
                        </a:rPr>
                        <a:t>Đặc tả · Heuristic · Severity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11111"/>
                      </a:solidFill>
                      <a:prstDash val="solid"/>
                      <a:round/>
                      <a:headEnd len="sm" w="sm" type="none"/>
                      <a:tailEnd len="sm" w="sm" type="none"/>
                    </a:lnT>
                    <a:lnB cap="flat" cmpd="sng" w="15875">
                      <a:solidFill>
                        <a:srgbClr val="111111">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G01 · Giỏ hàng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Nhãn "Tổng tạm tính" thay vì "Tổng cộng"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FR-07 · H4 · Sev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G02 · Giỏ hàng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Bấm "Xóa" xóa ngay, không có dialog xác nhận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FR-07, FR-24 · H3, H5 · Sev 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G03 · Giỏ hàng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Không có nút +/- số lượng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FR-07 · H3 · Sev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G04 · Giỏ hàng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Nút "Tiến hành thanh toán" xanh lá (đặc tả: xanh dương)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FR-21 · H4 · Sev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G05 · Giỏ / Checkout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Tiêu đề dùng &lt;h2&gt;, không có &lt;h1&gt;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FR-21 · Sev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G06 · Checkout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Ô "Tổng tiền thanh toán" sửa được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FR-08 · H5 · Sev 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G07 · Header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Nút "Thoát" thay vì "Đăng xuất"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FR-23 · H4 · Sev 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G08 · Header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Link Giỏ hàng không có badge số lượng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FR-23 · H1 · Sev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G09 · Header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Không highlight trang hiện tại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FR-23 · H1 · Sev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G10 · Chi tiết SP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"Thêm vào giỏ" phải bấm 2 lần mới ăn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H1 · Sev 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r h="395000">
                <a:tc>
                  <a:txBody>
                    <a:bodyPr/>
                    <a:lstStyle/>
                    <a:p>
                      <a:pPr indent="0" lvl="0" marL="0" marR="0" rtl="0" algn="l">
                        <a:spcBef>
                          <a:spcPts val="0"/>
                        </a:spcBef>
                        <a:spcAft>
                          <a:spcPts val="0"/>
                        </a:spcAft>
                        <a:buNone/>
                      </a:pPr>
                      <a:r>
                        <a:rPr b="1" i="0" lang="en-US" sz="1200" u="none" cap="none" strike="noStrike">
                          <a:solidFill>
                            <a:srgbClr val="222222"/>
                          </a:solidFill>
                          <a:latin typeface="Arial"/>
                          <a:ea typeface="Arial"/>
                          <a:cs typeface="Arial"/>
                          <a:sym typeface="Arial"/>
                        </a:rPr>
                        <a:t>G11 · Login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Tiêu đề "Đăng Ký", nút "Sign In", mật khẩu type="text"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22222"/>
                          </a:solidFill>
                          <a:latin typeface="Arial"/>
                          <a:ea typeface="Arial"/>
                          <a:cs typeface="Arial"/>
                          <a:sym typeface="Arial"/>
                        </a:rPr>
                        <a:t>FR-21, FR-22 · H4 · Sev 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11111">
                          <a:alpha val="0"/>
                        </a:srgbClr>
                      </a:solidFill>
                      <a:prstDash val="solid"/>
                      <a:round/>
                      <a:headEnd len="sm" w="sm" type="none"/>
                      <a:tailEnd len="sm" w="sm" type="none"/>
                    </a:lnT>
                    <a:lnB cap="flat" cmpd="sng" w="9525">
                      <a:solidFill>
                        <a:srgbClr val="C8CBD0">
                          <a:alpha val="0"/>
                        </a:srgbClr>
                      </a:solidFill>
                      <a:prstDash val="solid"/>
                      <a:round/>
                      <a:headEnd len="sm" w="sm" type="none"/>
                      <a:tailEnd len="sm" w="sm" type="none"/>
                    </a:lnB>
                  </a:tcPr>
                </a:tc>
              </a:tr>
            </a:tbl>
          </a:graphicData>
        </a:graphic>
      </p:graphicFrame>
      <p:sp>
        <p:nvSpPr>
          <p:cNvPr id="9200" name="GT source"/>
          <p:cNvSpPr txBox="1"/>
          <p:nvPr/>
        </p:nvSpPr>
        <p:spPr>
          <a:xfrm>
            <a:off x="548640" y="59893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5F6368"/>
                </a:solidFill>
                <a:latin typeface="Arial"/>
                <a:ea typeface="Arial"/>
                <a:cs typeface="Arial"/>
                <a:sym typeface="Arial"/>
              </a:rPr>
              <a:t>Nguồn: ground-truth/bugs.md — mỗi lỗi có ảnh minh chứng trong evidence/gui-bugs/. AI Reviewer tìm được G03, G06, G08, G09, G11.</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